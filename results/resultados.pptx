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3" r:id="rId2"/>
    <p:sldId id="264" r:id="rId3"/>
    <p:sldId id="265" r:id="rId4"/>
    <p:sldId id="261" r:id="rId5"/>
    <p:sldId id="266" r:id="rId6"/>
    <p:sldId id="268" r:id="rId7"/>
    <p:sldId id="269" r:id="rId8"/>
    <p:sldId id="267" r:id="rId9"/>
    <p:sldId id="270" r:id="rId10"/>
    <p:sldId id="271" r:id="rId11"/>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EDC7B12D-F0E1-4A90-B9F4-EAA794CB0F22}">
          <p14:sldIdLst>
            <p14:sldId id="263"/>
            <p14:sldId id="264"/>
            <p14:sldId id="265"/>
            <p14:sldId id="261"/>
          </p14:sldIdLst>
        </p14:section>
        <p14:section name="Pre Experimento" id="{7723FFAA-4194-40AC-A73A-1FEB09F0785B}">
          <p14:sldIdLst>
            <p14:sldId id="266"/>
          </p14:sldIdLst>
        </p14:section>
        <p14:section name="Experimento 1" id="{86431E73-6C43-497A-9D06-EC57C6D30C5B}">
          <p14:sldIdLst>
            <p14:sldId id="268"/>
            <p14:sldId id="269"/>
            <p14:sldId id="267"/>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63" d="100"/>
          <a:sy n="63" d="100"/>
        </p:scale>
        <p:origin x="804" y="2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603914-7DCA-2ACB-75EE-FAB49AEAF53C}"/>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D9267055-0390-C5DF-B89B-A73E9129D98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6CF2E59-9AA1-8E49-4BA8-F95A4B53243E}"/>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5" name="Marcador de pie de página 4">
            <a:extLst>
              <a:ext uri="{FF2B5EF4-FFF2-40B4-BE49-F238E27FC236}">
                <a16:creationId xmlns:a16="http://schemas.microsoft.com/office/drawing/2014/main" id="{7D4EE27B-A67C-AF2F-62AE-2DB6614E975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667E72-5762-0C70-9F0E-DC95F5F93367}"/>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9187864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4A3290-16FA-B287-9A67-3995EDF1771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C5E6454-60F6-3991-769B-204ABB0D6F84}"/>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66A6E46-AF88-B3BB-003E-FD844AFB0A65}"/>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5" name="Marcador de pie de página 4">
            <a:extLst>
              <a:ext uri="{FF2B5EF4-FFF2-40B4-BE49-F238E27FC236}">
                <a16:creationId xmlns:a16="http://schemas.microsoft.com/office/drawing/2014/main" id="{2745396D-004B-D5A3-EE95-5BE71C2100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EE2F943-1D67-44DA-9C6B-FD161D274DEC}"/>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10478786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E85C2F-1E5D-F76A-7CEA-90490873EB3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F0CCA9C-5D49-BD97-6679-4F3200B66FF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3084359C-23A9-DC2F-AD6C-BB8DABBA5B26}"/>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5" name="Marcador de pie de página 4">
            <a:extLst>
              <a:ext uri="{FF2B5EF4-FFF2-40B4-BE49-F238E27FC236}">
                <a16:creationId xmlns:a16="http://schemas.microsoft.com/office/drawing/2014/main" id="{C3A42745-20E0-3C1C-73B2-14F46C761E57}"/>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8C9D3F57-19ED-5D59-25AF-D467D3C52E78}"/>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36687250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42E850E-2344-BD85-E7F5-70554983B4F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DFBD3F5-074E-ED1F-3D5C-0BA5AAD1A7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EACAEED4-D758-3774-7504-3CA47C94EBF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590EC348-045D-48AA-D7B5-7F3ED38767D3}"/>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6" name="Marcador de pie de página 5">
            <a:extLst>
              <a:ext uri="{FF2B5EF4-FFF2-40B4-BE49-F238E27FC236}">
                <a16:creationId xmlns:a16="http://schemas.microsoft.com/office/drawing/2014/main" id="{129F09B4-D25F-6DD4-A8C9-D61116B7879A}"/>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EC166483-DDD9-9761-4DF5-02CC56E53598}"/>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24563869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A142F-377A-E505-5BC1-93E9B3AA1D7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FD2784AD-9CEE-9EF1-A365-7FE912067DE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85B94D2-096B-2D58-1C3A-2FD5A932792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DCD2971E-5D69-2DE1-770A-B589E1026FB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E5B3C33-233D-4117-93B2-DF4E1CEDF59D}"/>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47B6D566-85AF-4D7B-C2D9-A80DDA991812}"/>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8" name="Marcador de pie de página 7">
            <a:extLst>
              <a:ext uri="{FF2B5EF4-FFF2-40B4-BE49-F238E27FC236}">
                <a16:creationId xmlns:a16="http://schemas.microsoft.com/office/drawing/2014/main" id="{07F2AED5-BC3A-5CB4-CD8D-9BB4367F3343}"/>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BDB5FB42-23BC-8B16-6153-EB90371A909A}"/>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3122840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4CF73B-32DC-F981-556C-DE8A7668B66C}"/>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44877C5C-7764-AE0E-8053-439605D080DB}"/>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4" name="Marcador de pie de página 3">
            <a:extLst>
              <a:ext uri="{FF2B5EF4-FFF2-40B4-BE49-F238E27FC236}">
                <a16:creationId xmlns:a16="http://schemas.microsoft.com/office/drawing/2014/main" id="{9FBFEBA0-5B35-1B4D-7147-E720AEAADBA8}"/>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2354EC44-A090-3826-8754-37E670BF0BD6}"/>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3164030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13389EE-9034-FA6D-7218-1781F5D422F6}"/>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3" name="Marcador de pie de página 2">
            <a:extLst>
              <a:ext uri="{FF2B5EF4-FFF2-40B4-BE49-F238E27FC236}">
                <a16:creationId xmlns:a16="http://schemas.microsoft.com/office/drawing/2014/main" id="{735F80EB-DD9F-940E-D35E-7B5B33C0F201}"/>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DC5DB67E-01A8-4813-8BBE-64128DDC5D4B}"/>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3587399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42A356C-2B66-3B19-789A-73A8B92AEF9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E11E6590-2EAB-084D-B1DB-E8B56FFDFF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B458C1-1445-A2A9-990D-8F15C7B75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EA44AFF-050B-B1A3-3BF0-B8839EA14636}"/>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6" name="Marcador de pie de página 5">
            <a:extLst>
              <a:ext uri="{FF2B5EF4-FFF2-40B4-BE49-F238E27FC236}">
                <a16:creationId xmlns:a16="http://schemas.microsoft.com/office/drawing/2014/main" id="{75676354-0774-4305-330E-BB8E2325F469}"/>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D2C29AFB-F4CF-76AE-C823-99D7E04930D2}"/>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584854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FB3AA2-27FB-80E8-08DA-BB11805B499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8EC8501A-B5F9-AF52-7943-ACBC37ED6F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E66F6ABF-69FA-80CC-B6E8-353FE8D848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3D3A658-88AB-6CC1-8220-8AF43588BD7A}"/>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6" name="Marcador de pie de página 5">
            <a:extLst>
              <a:ext uri="{FF2B5EF4-FFF2-40B4-BE49-F238E27FC236}">
                <a16:creationId xmlns:a16="http://schemas.microsoft.com/office/drawing/2014/main" id="{4B35ED0F-08DC-2BB8-5D87-CAFE33122FF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6DD82AAF-74E3-88BC-8529-C403F8BCB806}"/>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134328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E47B7B-0523-26F2-9C91-9F8D5E22FF18}"/>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D75F78E3-65C6-3276-666E-ACCA6FFDCE0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F13E18-BA9C-434A-340A-E3E19A2148F1}"/>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5" name="Marcador de pie de página 4">
            <a:extLst>
              <a:ext uri="{FF2B5EF4-FFF2-40B4-BE49-F238E27FC236}">
                <a16:creationId xmlns:a16="http://schemas.microsoft.com/office/drawing/2014/main" id="{A2D8458A-998B-C218-8DE4-AC5944C3FB0A}"/>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953A41B-EC68-48D4-3351-68116F9F3DA0}"/>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1108897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3A4E121-0F7D-E5C0-3F59-931ED97B6FC6}"/>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EFACCC9C-A9A9-E7E8-E065-659DD8D5A2DA}"/>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81B25F7B-C491-7920-1E18-B6F59B343770}"/>
              </a:ext>
            </a:extLst>
          </p:cNvPr>
          <p:cNvSpPr>
            <a:spLocks noGrp="1"/>
          </p:cNvSpPr>
          <p:nvPr>
            <p:ph type="dt" sz="half" idx="10"/>
          </p:nvPr>
        </p:nvSpPr>
        <p:spPr/>
        <p:txBody>
          <a:bodyPr/>
          <a:lstStyle/>
          <a:p>
            <a:fld id="{558D9A94-F6FE-485F-8F6D-2AA046FB1A3B}" type="datetimeFigureOut">
              <a:rPr lang="es-CO" smtClean="0"/>
              <a:t>7/09/2026</a:t>
            </a:fld>
            <a:endParaRPr lang="es-CO"/>
          </a:p>
        </p:txBody>
      </p:sp>
      <p:sp>
        <p:nvSpPr>
          <p:cNvPr id="5" name="Marcador de pie de página 4">
            <a:extLst>
              <a:ext uri="{FF2B5EF4-FFF2-40B4-BE49-F238E27FC236}">
                <a16:creationId xmlns:a16="http://schemas.microsoft.com/office/drawing/2014/main" id="{8AEBE02E-51D9-7CAF-86CA-95E71EA4163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2C84023-3C16-F74C-FFDE-91605F9494E7}"/>
              </a:ext>
            </a:extLst>
          </p:cNvPr>
          <p:cNvSpPr>
            <a:spLocks noGrp="1"/>
          </p:cNvSpPr>
          <p:nvPr>
            <p:ph type="sldNum" sz="quarter" idx="12"/>
          </p:nvPr>
        </p:nvSpPr>
        <p:spPr/>
        <p:txBody>
          <a:bodyPr/>
          <a:lstStyle/>
          <a:p>
            <a:fld id="{EE1BE1F5-2F29-4A07-8880-666E7B478DFE}" type="slidenum">
              <a:rPr lang="es-CO" smtClean="0"/>
              <a:t>‹Nº›</a:t>
            </a:fld>
            <a:endParaRPr lang="es-CO"/>
          </a:p>
        </p:txBody>
      </p:sp>
    </p:spTree>
    <p:extLst>
      <p:ext uri="{BB962C8B-B14F-4D97-AF65-F5344CB8AC3E}">
        <p14:creationId xmlns:p14="http://schemas.microsoft.com/office/powerpoint/2010/main" val="1352477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576795F-E279-B903-5445-F519581A0D3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2A7405FB-AC43-CAF7-93A4-853EF64D31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6D134954-D285-1E7C-DE8D-50C32271BF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58D9A94-F6FE-485F-8F6D-2AA046FB1A3B}" type="datetimeFigureOut">
              <a:rPr lang="es-CO" smtClean="0"/>
              <a:t>7/09/2026</a:t>
            </a:fld>
            <a:endParaRPr lang="es-CO"/>
          </a:p>
        </p:txBody>
      </p:sp>
      <p:sp>
        <p:nvSpPr>
          <p:cNvPr id="5" name="Marcador de pie de página 4">
            <a:extLst>
              <a:ext uri="{FF2B5EF4-FFF2-40B4-BE49-F238E27FC236}">
                <a16:creationId xmlns:a16="http://schemas.microsoft.com/office/drawing/2014/main" id="{52A4965A-AAA1-1E9A-9944-A5BD44D8BB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8A048799-2413-B363-9752-EB2FE0CAC1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E1BE1F5-2F29-4A07-8880-666E7B478DFE}" type="slidenum">
              <a:rPr lang="es-CO" smtClean="0"/>
              <a:t>‹Nº›</a:t>
            </a:fld>
            <a:endParaRPr lang="es-CO"/>
          </a:p>
        </p:txBody>
      </p:sp>
    </p:spTree>
    <p:extLst>
      <p:ext uri="{BB962C8B-B14F-4D97-AF65-F5344CB8AC3E}">
        <p14:creationId xmlns:p14="http://schemas.microsoft.com/office/powerpoint/2010/main" val="3290893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localhost:8089/" TargetMode="External"/><Relationship Id="rId2" Type="http://schemas.openxmlformats.org/officeDocument/2006/relationships/hyperlink" Target="http://localhost:15672/"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tmp"/><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tm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2.xml"/><Relationship Id="rId6" Type="http://schemas.openxmlformats.org/officeDocument/2006/relationships/image" Target="../media/image9.tmp"/><Relationship Id="rId5" Type="http://schemas.openxmlformats.org/officeDocument/2006/relationships/image" Target="../media/image8.tmp"/><Relationship Id="rId4" Type="http://schemas.openxmlformats.org/officeDocument/2006/relationships/image" Target="../media/image7.tmp"/></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6.tmp"/><Relationship Id="rId3" Type="http://schemas.openxmlformats.org/officeDocument/2006/relationships/image" Target="../media/image11.tmp"/><Relationship Id="rId7" Type="http://schemas.openxmlformats.org/officeDocument/2006/relationships/image" Target="../media/image15.tmp"/><Relationship Id="rId2" Type="http://schemas.openxmlformats.org/officeDocument/2006/relationships/image" Target="../media/image10.tmp"/><Relationship Id="rId1" Type="http://schemas.openxmlformats.org/officeDocument/2006/relationships/slideLayout" Target="../slideLayouts/slideLayout2.xml"/><Relationship Id="rId6" Type="http://schemas.openxmlformats.org/officeDocument/2006/relationships/image" Target="../media/image14.tmp"/><Relationship Id="rId5" Type="http://schemas.openxmlformats.org/officeDocument/2006/relationships/image" Target="../media/image13.tmp"/><Relationship Id="rId4" Type="http://schemas.openxmlformats.org/officeDocument/2006/relationships/image" Target="../media/image12.tm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A5646475-3B7A-D32E-8693-0BFC85F3177B}"/>
              </a:ext>
            </a:extLst>
          </p:cNvPr>
          <p:cNvSpPr txBox="1"/>
          <p:nvPr/>
        </p:nvSpPr>
        <p:spPr>
          <a:xfrm>
            <a:off x="354791" y="251438"/>
            <a:ext cx="11561905" cy="1477328"/>
          </a:xfrm>
          <a:prstGeom prst="rect">
            <a:avLst/>
          </a:prstGeom>
          <a:noFill/>
        </p:spPr>
        <p:txBody>
          <a:bodyPr wrap="square">
            <a:spAutoFit/>
          </a:bodyPr>
          <a:lstStyle/>
          <a:p>
            <a:pPr algn="just"/>
            <a:r>
              <a:rPr lang="es-ES" dirty="0"/>
              <a:t>Una única arquitectura de </a:t>
            </a:r>
            <a:r>
              <a:rPr lang="es-ES" dirty="0" err="1"/>
              <a:t>Matching</a:t>
            </a:r>
            <a:r>
              <a:rPr lang="es-ES" dirty="0"/>
              <a:t> </a:t>
            </a:r>
            <a:r>
              <a:rPr lang="es-ES" dirty="0" err="1"/>
              <a:t>Engine</a:t>
            </a:r>
            <a:r>
              <a:rPr lang="es-ES" dirty="0"/>
              <a:t> implementa dos tácticas arquitectónicas complementarias: Amortiguación Asíncrona mediante un </a:t>
            </a:r>
            <a:r>
              <a:rPr lang="es-ES" dirty="0" err="1"/>
              <a:t>broker</a:t>
            </a:r>
            <a:r>
              <a:rPr lang="es-ES" dirty="0"/>
              <a:t> de mensajería para absorber picos de entrada, y procesamiento en memoria para mantener la velocidad del </a:t>
            </a:r>
            <a:r>
              <a:rPr lang="es-ES" dirty="0" err="1"/>
              <a:t>matching</a:t>
            </a:r>
            <a:r>
              <a:rPr lang="es-ES" dirty="0"/>
              <a:t>; adicionalmente, incorpora un canal transaccional de alta prioridad, verificación de idempotencia en memoria y distribución mediante </a:t>
            </a:r>
            <a:r>
              <a:rPr lang="es-ES" dirty="0" err="1"/>
              <a:t>WebSocket</a:t>
            </a:r>
            <a:r>
              <a:rPr lang="es-ES" dirty="0"/>
              <a:t> para garantizar la entrega oportuna de las confirmaciones.</a:t>
            </a:r>
            <a:endParaRPr lang="es-CO" dirty="0"/>
          </a:p>
        </p:txBody>
      </p:sp>
      <p:graphicFrame>
        <p:nvGraphicFramePr>
          <p:cNvPr id="10" name="Tabla 9">
            <a:extLst>
              <a:ext uri="{FF2B5EF4-FFF2-40B4-BE49-F238E27FC236}">
                <a16:creationId xmlns:a16="http://schemas.microsoft.com/office/drawing/2014/main" id="{2E3E2F24-495E-3BB4-4349-8880A2EDDCA3}"/>
              </a:ext>
            </a:extLst>
          </p:cNvPr>
          <p:cNvGraphicFramePr>
            <a:graphicFrameLocks noGrp="1"/>
          </p:cNvGraphicFramePr>
          <p:nvPr>
            <p:extLst>
              <p:ext uri="{D42A27DB-BD31-4B8C-83A1-F6EECF244321}">
                <p14:modId xmlns:p14="http://schemas.microsoft.com/office/powerpoint/2010/main" val="1787935473"/>
              </p:ext>
            </p:extLst>
          </p:nvPr>
        </p:nvGraphicFramePr>
        <p:xfrm>
          <a:off x="877943" y="1958612"/>
          <a:ext cx="10515600" cy="4297680"/>
        </p:xfrm>
        <a:graphic>
          <a:graphicData uri="http://schemas.openxmlformats.org/drawingml/2006/table">
            <a:tbl>
              <a:tblPr/>
              <a:tblGrid>
                <a:gridCol w="3505200">
                  <a:extLst>
                    <a:ext uri="{9D8B030D-6E8A-4147-A177-3AD203B41FA5}">
                      <a16:colId xmlns:a16="http://schemas.microsoft.com/office/drawing/2014/main" val="540483834"/>
                    </a:ext>
                  </a:extLst>
                </a:gridCol>
                <a:gridCol w="3505200">
                  <a:extLst>
                    <a:ext uri="{9D8B030D-6E8A-4147-A177-3AD203B41FA5}">
                      <a16:colId xmlns:a16="http://schemas.microsoft.com/office/drawing/2014/main" val="701587551"/>
                    </a:ext>
                  </a:extLst>
                </a:gridCol>
                <a:gridCol w="3505200">
                  <a:extLst>
                    <a:ext uri="{9D8B030D-6E8A-4147-A177-3AD203B41FA5}">
                      <a16:colId xmlns:a16="http://schemas.microsoft.com/office/drawing/2014/main" val="2714908740"/>
                    </a:ext>
                  </a:extLst>
                </a:gridCol>
              </a:tblGrid>
              <a:tr h="0">
                <a:tc>
                  <a:txBody>
                    <a:bodyPr/>
                    <a:lstStyle/>
                    <a:p>
                      <a:endParaRPr lang="es-CO"/>
                    </a:p>
                  </a:txBody>
                  <a:tcPr anchor="ctr">
                    <a:lnL>
                      <a:noFill/>
                    </a:lnL>
                    <a:lnR>
                      <a:noFill/>
                    </a:lnR>
                    <a:lnT>
                      <a:noFill/>
                    </a:lnT>
                    <a:lnB>
                      <a:noFill/>
                    </a:lnB>
                    <a:noFill/>
                  </a:tcPr>
                </a:tc>
                <a:tc>
                  <a:txBody>
                    <a:bodyPr/>
                    <a:lstStyle/>
                    <a:p>
                      <a:r>
                        <a:rPr lang="es-CO"/>
                        <a:t>Experimento 1</a:t>
                      </a:r>
                    </a:p>
                  </a:txBody>
                  <a:tcPr anchor="ctr">
                    <a:lnL>
                      <a:noFill/>
                    </a:lnL>
                    <a:lnR>
                      <a:noFill/>
                    </a:lnR>
                    <a:lnT>
                      <a:noFill/>
                    </a:lnT>
                    <a:lnB>
                      <a:noFill/>
                    </a:lnB>
                    <a:noFill/>
                  </a:tcPr>
                </a:tc>
                <a:tc>
                  <a:txBody>
                    <a:bodyPr/>
                    <a:lstStyle/>
                    <a:p>
                      <a:r>
                        <a:rPr lang="es-CO"/>
                        <a:t>Experimento 2</a:t>
                      </a:r>
                    </a:p>
                  </a:txBody>
                  <a:tcPr anchor="ctr">
                    <a:lnL>
                      <a:noFill/>
                    </a:lnL>
                    <a:lnR>
                      <a:noFill/>
                    </a:lnR>
                    <a:lnT>
                      <a:noFill/>
                    </a:lnT>
                    <a:lnB>
                      <a:noFill/>
                    </a:lnB>
                    <a:noFill/>
                  </a:tcPr>
                </a:tc>
                <a:extLst>
                  <a:ext uri="{0D108BD9-81ED-4DB2-BD59-A6C34878D82A}">
                    <a16:rowId xmlns:a16="http://schemas.microsoft.com/office/drawing/2014/main" val="3354126565"/>
                  </a:ext>
                </a:extLst>
              </a:tr>
              <a:tr h="0">
                <a:tc>
                  <a:txBody>
                    <a:bodyPr/>
                    <a:lstStyle/>
                    <a:p>
                      <a:r>
                        <a:rPr lang="es-CO" b="1"/>
                        <a:t>Problema</a:t>
                      </a:r>
                      <a:endParaRPr lang="es-CO"/>
                    </a:p>
                  </a:txBody>
                  <a:tcPr anchor="ctr">
                    <a:lnL>
                      <a:noFill/>
                    </a:lnL>
                    <a:lnR>
                      <a:noFill/>
                    </a:lnR>
                    <a:lnT>
                      <a:noFill/>
                    </a:lnT>
                    <a:lnB>
                      <a:noFill/>
                    </a:lnB>
                    <a:noFill/>
                  </a:tcPr>
                </a:tc>
                <a:tc>
                  <a:txBody>
                    <a:bodyPr/>
                    <a:lstStyle/>
                    <a:p>
                      <a:r>
                        <a:rPr lang="es-CO"/>
                        <a:t>Pico extremo de órdenes</a:t>
                      </a:r>
                    </a:p>
                  </a:txBody>
                  <a:tcPr anchor="ctr">
                    <a:lnL>
                      <a:noFill/>
                    </a:lnL>
                    <a:lnR>
                      <a:noFill/>
                    </a:lnR>
                    <a:lnT>
                      <a:noFill/>
                    </a:lnT>
                    <a:lnB>
                      <a:noFill/>
                    </a:lnB>
                    <a:noFill/>
                  </a:tcPr>
                </a:tc>
                <a:tc>
                  <a:txBody>
                    <a:bodyPr/>
                    <a:lstStyle/>
                    <a:p>
                      <a:r>
                        <a:rPr lang="es-CO"/>
                        <a:t>Entrega de confirmaciones</a:t>
                      </a:r>
                    </a:p>
                  </a:txBody>
                  <a:tcPr anchor="ctr">
                    <a:lnL>
                      <a:noFill/>
                    </a:lnL>
                    <a:lnR>
                      <a:noFill/>
                    </a:lnR>
                    <a:lnT>
                      <a:noFill/>
                    </a:lnT>
                    <a:lnB>
                      <a:noFill/>
                    </a:lnB>
                    <a:noFill/>
                  </a:tcPr>
                </a:tc>
                <a:extLst>
                  <a:ext uri="{0D108BD9-81ED-4DB2-BD59-A6C34878D82A}">
                    <a16:rowId xmlns:a16="http://schemas.microsoft.com/office/drawing/2014/main" val="869338381"/>
                  </a:ext>
                </a:extLst>
              </a:tr>
              <a:tr h="0">
                <a:tc>
                  <a:txBody>
                    <a:bodyPr/>
                    <a:lstStyle/>
                    <a:p>
                      <a:r>
                        <a:rPr lang="es-CO" b="1" dirty="0"/>
                        <a:t>Táctica principal</a:t>
                      </a:r>
                      <a:endParaRPr lang="es-CO" dirty="0"/>
                    </a:p>
                  </a:txBody>
                  <a:tcPr anchor="ctr">
                    <a:lnL>
                      <a:noFill/>
                    </a:lnL>
                    <a:lnR>
                      <a:noFill/>
                    </a:lnR>
                    <a:lnT>
                      <a:noFill/>
                    </a:lnT>
                    <a:lnB>
                      <a:noFill/>
                    </a:lnB>
                    <a:noFill/>
                  </a:tcPr>
                </a:tc>
                <a:tc>
                  <a:txBody>
                    <a:bodyPr/>
                    <a:lstStyle/>
                    <a:p>
                      <a:r>
                        <a:rPr lang="es-CO"/>
                        <a:t>Amortiguación asíncrona</a:t>
                      </a:r>
                    </a:p>
                  </a:txBody>
                  <a:tcPr anchor="ctr">
                    <a:lnL>
                      <a:noFill/>
                    </a:lnL>
                    <a:lnR>
                      <a:noFill/>
                    </a:lnR>
                    <a:lnT>
                      <a:noFill/>
                    </a:lnT>
                    <a:lnB>
                      <a:noFill/>
                    </a:lnB>
                    <a:noFill/>
                  </a:tcPr>
                </a:tc>
                <a:tc>
                  <a:txBody>
                    <a:bodyPr/>
                    <a:lstStyle/>
                    <a:p>
                      <a:r>
                        <a:rPr lang="es-CO"/>
                        <a:t>Canal transaccional prioritario + idempotencia</a:t>
                      </a:r>
                    </a:p>
                  </a:txBody>
                  <a:tcPr anchor="ctr">
                    <a:lnL>
                      <a:noFill/>
                    </a:lnL>
                    <a:lnR>
                      <a:noFill/>
                    </a:lnR>
                    <a:lnT>
                      <a:noFill/>
                    </a:lnT>
                    <a:lnB>
                      <a:noFill/>
                    </a:lnB>
                    <a:noFill/>
                  </a:tcPr>
                </a:tc>
                <a:extLst>
                  <a:ext uri="{0D108BD9-81ED-4DB2-BD59-A6C34878D82A}">
                    <a16:rowId xmlns:a16="http://schemas.microsoft.com/office/drawing/2014/main" val="2004935996"/>
                  </a:ext>
                </a:extLst>
              </a:tr>
              <a:tr h="0">
                <a:tc>
                  <a:txBody>
                    <a:bodyPr/>
                    <a:lstStyle/>
                    <a:p>
                      <a:r>
                        <a:rPr lang="es-CO" b="1"/>
                        <a:t>Mecanismo</a:t>
                      </a:r>
                      <a:endParaRPr lang="es-CO"/>
                    </a:p>
                  </a:txBody>
                  <a:tcPr anchor="ctr">
                    <a:lnL>
                      <a:noFill/>
                    </a:lnL>
                    <a:lnR>
                      <a:noFill/>
                    </a:lnR>
                    <a:lnT>
                      <a:noFill/>
                    </a:lnT>
                    <a:lnB>
                      <a:noFill/>
                    </a:lnB>
                    <a:noFill/>
                  </a:tcPr>
                </a:tc>
                <a:tc>
                  <a:txBody>
                    <a:bodyPr/>
                    <a:lstStyle/>
                    <a:p>
                      <a:r>
                        <a:rPr lang="es-CO" dirty="0" err="1"/>
                        <a:t>Message</a:t>
                      </a:r>
                      <a:r>
                        <a:rPr lang="es-CO" dirty="0"/>
                        <a:t> </a:t>
                      </a:r>
                      <a:r>
                        <a:rPr lang="es-CO" dirty="0" err="1"/>
                        <a:t>Queue</a:t>
                      </a:r>
                      <a:r>
                        <a:rPr lang="es-CO" dirty="0"/>
                        <a:t> / </a:t>
                      </a:r>
                      <a:r>
                        <a:rPr lang="es-CO" dirty="0" err="1"/>
                        <a:t>broker</a:t>
                      </a:r>
                      <a:endParaRPr lang="es-CO" dirty="0"/>
                    </a:p>
                  </a:txBody>
                  <a:tcPr anchor="ctr">
                    <a:lnL>
                      <a:noFill/>
                    </a:lnL>
                    <a:lnR>
                      <a:noFill/>
                    </a:lnR>
                    <a:lnT>
                      <a:noFill/>
                    </a:lnT>
                    <a:lnB>
                      <a:noFill/>
                    </a:lnB>
                    <a:noFill/>
                  </a:tcPr>
                </a:tc>
                <a:tc>
                  <a:txBody>
                    <a:bodyPr/>
                    <a:lstStyle/>
                    <a:p>
                      <a:r>
                        <a:rPr lang="es-CO"/>
                        <a:t>Topic dedicado + WebSocket</a:t>
                      </a:r>
                    </a:p>
                  </a:txBody>
                  <a:tcPr anchor="ctr">
                    <a:lnL>
                      <a:noFill/>
                    </a:lnL>
                    <a:lnR>
                      <a:noFill/>
                    </a:lnR>
                    <a:lnT>
                      <a:noFill/>
                    </a:lnT>
                    <a:lnB>
                      <a:noFill/>
                    </a:lnB>
                    <a:noFill/>
                  </a:tcPr>
                </a:tc>
                <a:extLst>
                  <a:ext uri="{0D108BD9-81ED-4DB2-BD59-A6C34878D82A}">
                    <a16:rowId xmlns:a16="http://schemas.microsoft.com/office/drawing/2014/main" val="2514456293"/>
                  </a:ext>
                </a:extLst>
              </a:tr>
              <a:tr h="0">
                <a:tc>
                  <a:txBody>
                    <a:bodyPr/>
                    <a:lstStyle/>
                    <a:p>
                      <a:r>
                        <a:rPr lang="es-CO" b="1"/>
                        <a:t>Componente crítico</a:t>
                      </a:r>
                      <a:endParaRPr lang="es-CO"/>
                    </a:p>
                  </a:txBody>
                  <a:tcPr anchor="ctr">
                    <a:lnL>
                      <a:noFill/>
                    </a:lnL>
                    <a:lnR>
                      <a:noFill/>
                    </a:lnR>
                    <a:lnT>
                      <a:noFill/>
                    </a:lnT>
                    <a:lnB>
                      <a:noFill/>
                    </a:lnB>
                    <a:noFill/>
                  </a:tcPr>
                </a:tc>
                <a:tc>
                  <a:txBody>
                    <a:bodyPr/>
                    <a:lstStyle/>
                    <a:p>
                      <a:r>
                        <a:rPr lang="es-CO"/>
                        <a:t>Matching Engine</a:t>
                      </a:r>
                    </a:p>
                  </a:txBody>
                  <a:tcPr anchor="ctr">
                    <a:lnL>
                      <a:noFill/>
                    </a:lnL>
                    <a:lnR>
                      <a:noFill/>
                    </a:lnR>
                    <a:lnT>
                      <a:noFill/>
                    </a:lnT>
                    <a:lnB>
                      <a:noFill/>
                    </a:lnB>
                    <a:noFill/>
                  </a:tcPr>
                </a:tc>
                <a:tc>
                  <a:txBody>
                    <a:bodyPr/>
                    <a:lstStyle/>
                    <a:p>
                      <a:r>
                        <a:rPr lang="es-CO"/>
                        <a:t>Confirmation Dispatcher</a:t>
                      </a:r>
                    </a:p>
                  </a:txBody>
                  <a:tcPr anchor="ctr">
                    <a:lnL>
                      <a:noFill/>
                    </a:lnL>
                    <a:lnR>
                      <a:noFill/>
                    </a:lnR>
                    <a:lnT>
                      <a:noFill/>
                    </a:lnT>
                    <a:lnB>
                      <a:noFill/>
                    </a:lnB>
                    <a:noFill/>
                  </a:tcPr>
                </a:tc>
                <a:extLst>
                  <a:ext uri="{0D108BD9-81ED-4DB2-BD59-A6C34878D82A}">
                    <a16:rowId xmlns:a16="http://schemas.microsoft.com/office/drawing/2014/main" val="176852747"/>
                  </a:ext>
                </a:extLst>
              </a:tr>
              <a:tr h="0">
                <a:tc>
                  <a:txBody>
                    <a:bodyPr/>
                    <a:lstStyle/>
                    <a:p>
                      <a:r>
                        <a:rPr lang="es-CO" b="1"/>
                        <a:t>Carga objetivo</a:t>
                      </a:r>
                      <a:endParaRPr lang="es-CO"/>
                    </a:p>
                  </a:txBody>
                  <a:tcPr anchor="ctr">
                    <a:lnL>
                      <a:noFill/>
                    </a:lnL>
                    <a:lnR>
                      <a:noFill/>
                    </a:lnR>
                    <a:lnT>
                      <a:noFill/>
                    </a:lnT>
                    <a:lnB>
                      <a:noFill/>
                    </a:lnB>
                    <a:noFill/>
                  </a:tcPr>
                </a:tc>
                <a:tc>
                  <a:txBody>
                    <a:bodyPr/>
                    <a:lstStyle/>
                    <a:p>
                      <a:r>
                        <a:rPr lang="es-CO"/>
                        <a:t>1.300 → 6.500 órdenes/min</a:t>
                      </a:r>
                    </a:p>
                  </a:txBody>
                  <a:tcPr anchor="ctr">
                    <a:lnL>
                      <a:noFill/>
                    </a:lnL>
                    <a:lnR>
                      <a:noFill/>
                    </a:lnR>
                    <a:lnT>
                      <a:noFill/>
                    </a:lnT>
                    <a:lnB>
                      <a:noFill/>
                    </a:lnB>
                    <a:noFill/>
                  </a:tcPr>
                </a:tc>
                <a:tc>
                  <a:txBody>
                    <a:bodyPr/>
                    <a:lstStyle/>
                    <a:p>
                      <a:r>
                        <a:rPr lang="es-CO"/>
                        <a:t>Hasta 5.000 matching/min</a:t>
                      </a:r>
                    </a:p>
                  </a:txBody>
                  <a:tcPr anchor="ctr">
                    <a:lnL>
                      <a:noFill/>
                    </a:lnL>
                    <a:lnR>
                      <a:noFill/>
                    </a:lnR>
                    <a:lnT>
                      <a:noFill/>
                    </a:lnT>
                    <a:lnB>
                      <a:noFill/>
                    </a:lnB>
                    <a:noFill/>
                  </a:tcPr>
                </a:tc>
                <a:extLst>
                  <a:ext uri="{0D108BD9-81ED-4DB2-BD59-A6C34878D82A}">
                    <a16:rowId xmlns:a16="http://schemas.microsoft.com/office/drawing/2014/main" val="3345012243"/>
                  </a:ext>
                </a:extLst>
              </a:tr>
              <a:tr h="0">
                <a:tc>
                  <a:txBody>
                    <a:bodyPr/>
                    <a:lstStyle/>
                    <a:p>
                      <a:r>
                        <a:rPr lang="es-CO" b="1" dirty="0"/>
                        <a:t>Duración crítica</a:t>
                      </a:r>
                      <a:endParaRPr lang="es-CO" dirty="0"/>
                    </a:p>
                  </a:txBody>
                  <a:tcPr anchor="ctr">
                    <a:lnL>
                      <a:noFill/>
                    </a:lnL>
                    <a:lnR>
                      <a:noFill/>
                    </a:lnR>
                    <a:lnT>
                      <a:noFill/>
                    </a:lnT>
                    <a:lnB>
                      <a:noFill/>
                    </a:lnB>
                    <a:noFill/>
                  </a:tcPr>
                </a:tc>
                <a:tc>
                  <a:txBody>
                    <a:bodyPr/>
                    <a:lstStyle/>
                    <a:p>
                      <a:r>
                        <a:rPr lang="es-CO"/>
                        <a:t>30 min</a:t>
                      </a:r>
                    </a:p>
                  </a:txBody>
                  <a:tcPr anchor="ctr">
                    <a:lnL>
                      <a:noFill/>
                    </a:lnL>
                    <a:lnR>
                      <a:noFill/>
                    </a:lnR>
                    <a:lnT>
                      <a:noFill/>
                    </a:lnT>
                    <a:lnB>
                      <a:noFill/>
                    </a:lnB>
                    <a:noFill/>
                  </a:tcPr>
                </a:tc>
                <a:tc>
                  <a:txBody>
                    <a:bodyPr/>
                    <a:lstStyle/>
                    <a:p>
                      <a:r>
                        <a:rPr lang="es-CO"/>
                        <a:t>30 min</a:t>
                      </a:r>
                    </a:p>
                  </a:txBody>
                  <a:tcPr anchor="ctr">
                    <a:lnL>
                      <a:noFill/>
                    </a:lnL>
                    <a:lnR>
                      <a:noFill/>
                    </a:lnR>
                    <a:lnT>
                      <a:noFill/>
                    </a:lnT>
                    <a:lnB>
                      <a:noFill/>
                    </a:lnB>
                    <a:noFill/>
                  </a:tcPr>
                </a:tc>
                <a:extLst>
                  <a:ext uri="{0D108BD9-81ED-4DB2-BD59-A6C34878D82A}">
                    <a16:rowId xmlns:a16="http://schemas.microsoft.com/office/drawing/2014/main" val="1374582856"/>
                  </a:ext>
                </a:extLst>
              </a:tr>
              <a:tr h="0">
                <a:tc>
                  <a:txBody>
                    <a:bodyPr/>
                    <a:lstStyle/>
                    <a:p>
                      <a:r>
                        <a:rPr lang="es-CO" b="1"/>
                        <a:t>Métrica principal</a:t>
                      </a:r>
                      <a:endParaRPr lang="es-CO"/>
                    </a:p>
                  </a:txBody>
                  <a:tcPr anchor="ctr">
                    <a:lnL>
                      <a:noFill/>
                    </a:lnL>
                    <a:lnR>
                      <a:noFill/>
                    </a:lnR>
                    <a:lnT>
                      <a:noFill/>
                    </a:lnT>
                    <a:lnB>
                      <a:noFill/>
                    </a:lnB>
                    <a:noFill/>
                  </a:tcPr>
                </a:tc>
                <a:tc>
                  <a:txBody>
                    <a:bodyPr/>
                    <a:lstStyle/>
                    <a:p>
                      <a:r>
                        <a:rPr lang="es-CO"/>
                        <a:t>Matching ≤ 200 ms</a:t>
                      </a:r>
                    </a:p>
                  </a:txBody>
                  <a:tcPr anchor="ctr">
                    <a:lnL>
                      <a:noFill/>
                    </a:lnL>
                    <a:lnR>
                      <a:noFill/>
                    </a:lnR>
                    <a:lnT>
                      <a:noFill/>
                    </a:lnT>
                    <a:lnB>
                      <a:noFill/>
                    </a:lnB>
                    <a:noFill/>
                  </a:tcPr>
                </a:tc>
                <a:tc>
                  <a:txBody>
                    <a:bodyPr/>
                    <a:lstStyle/>
                    <a:p>
                      <a:r>
                        <a:rPr lang="es-CO"/>
                        <a:t>Confirmación ≤ 350 ms P95</a:t>
                      </a:r>
                    </a:p>
                  </a:txBody>
                  <a:tcPr anchor="ctr">
                    <a:lnL>
                      <a:noFill/>
                    </a:lnL>
                    <a:lnR>
                      <a:noFill/>
                    </a:lnR>
                    <a:lnT>
                      <a:noFill/>
                    </a:lnT>
                    <a:lnB>
                      <a:noFill/>
                    </a:lnB>
                    <a:noFill/>
                  </a:tcPr>
                </a:tc>
                <a:extLst>
                  <a:ext uri="{0D108BD9-81ED-4DB2-BD59-A6C34878D82A}">
                    <a16:rowId xmlns:a16="http://schemas.microsoft.com/office/drawing/2014/main" val="1414653037"/>
                  </a:ext>
                </a:extLst>
              </a:tr>
              <a:tr h="0">
                <a:tc>
                  <a:txBody>
                    <a:bodyPr/>
                    <a:lstStyle/>
                    <a:p>
                      <a:r>
                        <a:rPr lang="es-CO" b="1"/>
                        <a:t>Disponibilidad</a:t>
                      </a:r>
                      <a:endParaRPr lang="es-CO"/>
                    </a:p>
                  </a:txBody>
                  <a:tcPr anchor="ctr">
                    <a:lnL>
                      <a:noFill/>
                    </a:lnL>
                    <a:lnR>
                      <a:noFill/>
                    </a:lnR>
                    <a:lnT>
                      <a:noFill/>
                    </a:lnT>
                    <a:lnB>
                      <a:noFill/>
                    </a:lnB>
                    <a:noFill/>
                  </a:tcPr>
                </a:tc>
                <a:tc>
                  <a:txBody>
                    <a:bodyPr/>
                    <a:lstStyle/>
                    <a:p>
                      <a:r>
                        <a:rPr lang="es-CO"/>
                        <a:t>0 % pérdida</a:t>
                      </a:r>
                    </a:p>
                  </a:txBody>
                  <a:tcPr anchor="ctr">
                    <a:lnL>
                      <a:noFill/>
                    </a:lnL>
                    <a:lnR>
                      <a:noFill/>
                    </a:lnR>
                    <a:lnT>
                      <a:noFill/>
                    </a:lnT>
                    <a:lnB>
                      <a:noFill/>
                    </a:lnB>
                    <a:noFill/>
                  </a:tcPr>
                </a:tc>
                <a:tc>
                  <a:txBody>
                    <a:bodyPr/>
                    <a:lstStyle/>
                    <a:p>
                      <a:r>
                        <a:rPr lang="es-CO"/>
                        <a:t>0 % pérdida</a:t>
                      </a:r>
                    </a:p>
                  </a:txBody>
                  <a:tcPr anchor="ctr">
                    <a:lnL>
                      <a:noFill/>
                    </a:lnL>
                    <a:lnR>
                      <a:noFill/>
                    </a:lnR>
                    <a:lnT>
                      <a:noFill/>
                    </a:lnT>
                    <a:lnB>
                      <a:noFill/>
                    </a:lnB>
                    <a:noFill/>
                  </a:tcPr>
                </a:tc>
                <a:extLst>
                  <a:ext uri="{0D108BD9-81ED-4DB2-BD59-A6C34878D82A}">
                    <a16:rowId xmlns:a16="http://schemas.microsoft.com/office/drawing/2014/main" val="1495117447"/>
                  </a:ext>
                </a:extLst>
              </a:tr>
              <a:tr h="0">
                <a:tc>
                  <a:txBody>
                    <a:bodyPr/>
                    <a:lstStyle/>
                    <a:p>
                      <a:r>
                        <a:rPr lang="es-CO" b="1"/>
                        <a:t>Duplicados</a:t>
                      </a:r>
                      <a:endParaRPr lang="es-CO"/>
                    </a:p>
                  </a:txBody>
                  <a:tcPr anchor="ctr">
                    <a:lnL>
                      <a:noFill/>
                    </a:lnL>
                    <a:lnR>
                      <a:noFill/>
                    </a:lnR>
                    <a:lnT>
                      <a:noFill/>
                    </a:lnT>
                    <a:lnB>
                      <a:noFill/>
                    </a:lnB>
                    <a:noFill/>
                  </a:tcPr>
                </a:tc>
                <a:tc>
                  <a:txBody>
                    <a:bodyPr/>
                    <a:lstStyle/>
                    <a:p>
                      <a:r>
                        <a:rPr lang="es-CO"/>
                        <a:t>—</a:t>
                      </a:r>
                    </a:p>
                  </a:txBody>
                  <a:tcPr anchor="ctr">
                    <a:lnL>
                      <a:noFill/>
                    </a:lnL>
                    <a:lnR>
                      <a:noFill/>
                    </a:lnR>
                    <a:lnT>
                      <a:noFill/>
                    </a:lnT>
                    <a:lnB>
                      <a:noFill/>
                    </a:lnB>
                    <a:noFill/>
                  </a:tcPr>
                </a:tc>
                <a:tc>
                  <a:txBody>
                    <a:bodyPr/>
                    <a:lstStyle/>
                    <a:p>
                      <a:r>
                        <a:rPr lang="es-CO"/>
                        <a:t>0 %</a:t>
                      </a:r>
                    </a:p>
                  </a:txBody>
                  <a:tcPr anchor="ctr">
                    <a:lnL>
                      <a:noFill/>
                    </a:lnL>
                    <a:lnR>
                      <a:noFill/>
                    </a:lnR>
                    <a:lnT>
                      <a:noFill/>
                    </a:lnT>
                    <a:lnB>
                      <a:noFill/>
                    </a:lnB>
                    <a:noFill/>
                  </a:tcPr>
                </a:tc>
                <a:extLst>
                  <a:ext uri="{0D108BD9-81ED-4DB2-BD59-A6C34878D82A}">
                    <a16:rowId xmlns:a16="http://schemas.microsoft.com/office/drawing/2014/main" val="223159165"/>
                  </a:ext>
                </a:extLst>
              </a:tr>
              <a:tr h="0">
                <a:tc>
                  <a:txBody>
                    <a:bodyPr/>
                    <a:lstStyle/>
                    <a:p>
                      <a:r>
                        <a:rPr lang="es-CO" b="1"/>
                        <a:t>Objetivo arquitectónico</a:t>
                      </a:r>
                      <a:endParaRPr lang="es-CO"/>
                    </a:p>
                  </a:txBody>
                  <a:tcPr anchor="ctr">
                    <a:lnL>
                      <a:noFill/>
                    </a:lnL>
                    <a:lnR>
                      <a:noFill/>
                    </a:lnR>
                    <a:lnT>
                      <a:noFill/>
                    </a:lnT>
                    <a:lnB>
                      <a:noFill/>
                    </a:lnB>
                    <a:noFill/>
                  </a:tcPr>
                </a:tc>
                <a:tc>
                  <a:txBody>
                    <a:bodyPr/>
                    <a:lstStyle/>
                    <a:p>
                      <a:r>
                        <a:rPr lang="es-CO"/>
                        <a:t>Absorber ráfagas</a:t>
                      </a:r>
                    </a:p>
                  </a:txBody>
                  <a:tcPr anchor="ctr">
                    <a:lnL>
                      <a:noFill/>
                    </a:lnL>
                    <a:lnR>
                      <a:noFill/>
                    </a:lnR>
                    <a:lnT>
                      <a:noFill/>
                    </a:lnT>
                    <a:lnB>
                      <a:noFill/>
                    </a:lnB>
                    <a:noFill/>
                  </a:tcPr>
                </a:tc>
                <a:tc>
                  <a:txBody>
                    <a:bodyPr/>
                    <a:lstStyle/>
                    <a:p>
                      <a:r>
                        <a:rPr lang="es-CO" dirty="0"/>
                        <a:t>Aislar confirmaciones</a:t>
                      </a:r>
                    </a:p>
                  </a:txBody>
                  <a:tcPr anchor="ctr">
                    <a:lnL>
                      <a:noFill/>
                    </a:lnL>
                    <a:lnR>
                      <a:noFill/>
                    </a:lnR>
                    <a:lnT>
                      <a:noFill/>
                    </a:lnT>
                    <a:lnB>
                      <a:noFill/>
                    </a:lnB>
                    <a:noFill/>
                  </a:tcPr>
                </a:tc>
                <a:extLst>
                  <a:ext uri="{0D108BD9-81ED-4DB2-BD59-A6C34878D82A}">
                    <a16:rowId xmlns:a16="http://schemas.microsoft.com/office/drawing/2014/main" val="1735433717"/>
                  </a:ext>
                </a:extLst>
              </a:tr>
            </a:tbl>
          </a:graphicData>
        </a:graphic>
      </p:graphicFrame>
    </p:spTree>
    <p:extLst>
      <p:ext uri="{BB962C8B-B14F-4D97-AF65-F5344CB8AC3E}">
        <p14:creationId xmlns:p14="http://schemas.microsoft.com/office/powerpoint/2010/main" val="1705842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32E1CBAA-389F-FC67-42FF-7A48274AF524}"/>
              </a:ext>
            </a:extLst>
          </p:cNvPr>
          <p:cNvSpPr txBox="1"/>
          <p:nvPr/>
        </p:nvSpPr>
        <p:spPr>
          <a:xfrm>
            <a:off x="6532" y="889843"/>
            <a:ext cx="7276011" cy="5078313"/>
          </a:xfrm>
          <a:prstGeom prst="rect">
            <a:avLst/>
          </a:prstGeom>
          <a:noFill/>
        </p:spPr>
        <p:txBody>
          <a:bodyPr wrap="square">
            <a:spAutoFit/>
          </a:bodyPr>
          <a:lstStyle/>
          <a:p>
            <a:r>
              <a:rPr lang="es-CO" sz="1800" kern="100" dirty="0">
                <a:effectLst/>
                <a:latin typeface="Aptos" panose="020B0004020202020204" pitchFamily="34" charset="0"/>
                <a:ea typeface="Aptos" panose="020B0004020202020204" pitchFamily="34" charset="0"/>
                <a:cs typeface="Times New Roman" panose="02020603050405020304" pitchFamily="18" charset="0"/>
              </a:rPr>
              <a:t>TERMINAL 1: levantamiento de contenedor</a:t>
            </a: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down</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rmi</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all</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-v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remove-orphans</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down</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-v</a:t>
            </a: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build</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--no-cache</a:t>
            </a: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up -d</a:t>
            </a: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logs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confirmation-dispatcher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Select-String</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-i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websocket</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TERMINAL 2: levantamiento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con 1.000 conexiones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WebSocket</a:t>
            </a:r>
            <a:endParaRPr lang="es-CO"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profile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test run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rm</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-probe</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TERMINAL 3: ver emparejamientos al finalizar</a:t>
            </a: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logs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matching-engine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Select-String</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"1MIN“</a:t>
            </a:r>
          </a:p>
          <a:p>
            <a:r>
              <a:rPr lang="en-US" dirty="0"/>
              <a:t>docker compose logs matching-engine &gt; engine_fase2_completa.log</a:t>
            </a:r>
            <a:endParaRPr lang="es-CO"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TERMINAL 4: ver funcionamiento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websockets</a:t>
            </a:r>
            <a:endParaRPr lang="es-CO" sz="1800" kern="100" dirty="0">
              <a:effectLst/>
              <a:latin typeface="Aptos" panose="020B0004020202020204" pitchFamily="34" charset="0"/>
              <a:ea typeface="Aptos" panose="020B0004020202020204" pitchFamily="34" charset="0"/>
              <a:cs typeface="Times New Roman" panose="02020603050405020304" pitchFamily="18" charset="0"/>
            </a:endParaRPr>
          </a:p>
          <a:p>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logs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confirmation-dispatcher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Select-String</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"DISPATCH"</a:t>
            </a:r>
          </a:p>
        </p:txBody>
      </p:sp>
      <p:sp>
        <p:nvSpPr>
          <p:cNvPr id="7" name="CuadroTexto 6">
            <a:extLst>
              <a:ext uri="{FF2B5EF4-FFF2-40B4-BE49-F238E27FC236}">
                <a16:creationId xmlns:a16="http://schemas.microsoft.com/office/drawing/2014/main" id="{7144A6FC-F758-00D0-B38C-BD411343D580}"/>
              </a:ext>
            </a:extLst>
          </p:cNvPr>
          <p:cNvSpPr txBox="1"/>
          <p:nvPr/>
        </p:nvSpPr>
        <p:spPr>
          <a:xfrm>
            <a:off x="7282543" y="918889"/>
            <a:ext cx="4656908" cy="5049267"/>
          </a:xfrm>
          <a:prstGeom prst="rect">
            <a:avLst/>
          </a:prstGeom>
          <a:noFill/>
        </p:spPr>
        <p:txBody>
          <a:bodyPr wrap="square">
            <a:spAutoFit/>
          </a:bodyPr>
          <a:lstStyle/>
          <a:p>
            <a:pPr>
              <a:lnSpc>
                <a:spcPct val="115000"/>
              </a:lnSpc>
              <a:spcAft>
                <a:spcPts val="800"/>
              </a:spcAf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Ejemplo: prueba de 15 minutos totales (5 min Fase 1 + 10 min Fase 2)</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docker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compose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profile</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test run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rm</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-e PROBE_DURATION=900 -e PROBE_FASE1_DURATION=300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latency</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-probe</a:t>
            </a:r>
          </a:p>
          <a:p>
            <a:pPr>
              <a:lnSpc>
                <a:spcPct val="115000"/>
              </a:lnSpc>
              <a:spcAft>
                <a:spcPts val="800"/>
              </a:spcAf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PROBE_DURATION: segundos TOTALES que el probe escucha (hoy 2400 = 40 min)</a:t>
            </a:r>
          </a:p>
          <a:p>
            <a:pPr>
              <a:lnSpc>
                <a:spcPct val="115000"/>
              </a:lnSpc>
              <a:spcAft>
                <a:spcPts val="800"/>
              </a:spcAf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PROBE_FASE1_DURATION: en qué segundo corta el reporte entre Fase 1 y Fase 2 (hoy 600 = 10 min)</a:t>
            </a:r>
          </a:p>
          <a:p>
            <a:pPr>
              <a:lnSpc>
                <a:spcPct val="115000"/>
              </a:lnSpc>
              <a:spcAft>
                <a:spcPts val="800"/>
              </a:spcAf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p>
          <a:p>
            <a:pPr>
              <a:lnSpc>
                <a:spcPct val="115000"/>
              </a:lnSpc>
              <a:spcAft>
                <a:spcPts val="800"/>
              </a:spcAft>
            </a:pPr>
            <a:r>
              <a:rPr lang="es-CO"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2"/>
              </a:rPr>
              <a:t>http://localhost:15672</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RabbitMQ</a:t>
            </a:r>
            <a:endParaRPr lang="es-CO" sz="1800" kern="100" dirty="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s-CO" sz="1800" u="sng" kern="100" dirty="0">
                <a:solidFill>
                  <a:srgbClr val="467886"/>
                </a:solidFill>
                <a:effectLst/>
                <a:latin typeface="Aptos" panose="020B0004020202020204" pitchFamily="34" charset="0"/>
                <a:ea typeface="Aptos" panose="020B0004020202020204" pitchFamily="34" charset="0"/>
                <a:cs typeface="Times New Roman" panose="02020603050405020304" pitchFamily="18" charset="0"/>
                <a:hlinkClick r:id="rId3"/>
              </a:rPr>
              <a:t>http://localhost:8089</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LOCUST</a:t>
            </a:r>
          </a:p>
        </p:txBody>
      </p:sp>
    </p:spTree>
    <p:extLst>
      <p:ext uri="{BB962C8B-B14F-4D97-AF65-F5344CB8AC3E}">
        <p14:creationId xmlns:p14="http://schemas.microsoft.com/office/powerpoint/2010/main" val="2864035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48ECB450-3718-4652-4B1D-E6D06CE086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83514"/>
            <a:ext cx="6084259" cy="3696154"/>
          </a:xfrm>
          <a:prstGeom prst="rect">
            <a:avLst/>
          </a:prstGeom>
        </p:spPr>
      </p:pic>
      <p:pic>
        <p:nvPicPr>
          <p:cNvPr id="5" name="Imagen 4">
            <a:extLst>
              <a:ext uri="{FF2B5EF4-FFF2-40B4-BE49-F238E27FC236}">
                <a16:creationId xmlns:a16="http://schemas.microsoft.com/office/drawing/2014/main" id="{9F163C8D-9059-9156-93FB-0B89612E14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7474" y="3161847"/>
            <a:ext cx="6416498" cy="3696153"/>
          </a:xfrm>
          <a:prstGeom prst="rect">
            <a:avLst/>
          </a:prstGeom>
        </p:spPr>
      </p:pic>
    </p:spTree>
    <p:extLst>
      <p:ext uri="{BB962C8B-B14F-4D97-AF65-F5344CB8AC3E}">
        <p14:creationId xmlns:p14="http://schemas.microsoft.com/office/powerpoint/2010/main" val="447343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99C458E1-B2B8-009D-58A5-01F681A12EE3}"/>
              </a:ext>
            </a:extLst>
          </p:cNvPr>
          <p:cNvPicPr>
            <a:picLocks noChangeAspect="1"/>
          </p:cNvPicPr>
          <p:nvPr/>
        </p:nvPicPr>
        <p:blipFill>
          <a:blip r:embed="rId2"/>
          <a:stretch>
            <a:fillRect/>
          </a:stretch>
        </p:blipFill>
        <p:spPr>
          <a:xfrm>
            <a:off x="163354" y="0"/>
            <a:ext cx="2488324" cy="6858000"/>
          </a:xfrm>
          <a:prstGeom prst="rect">
            <a:avLst/>
          </a:prstGeom>
        </p:spPr>
      </p:pic>
      <p:sp>
        <p:nvSpPr>
          <p:cNvPr id="10" name="CuadroTexto 9">
            <a:extLst>
              <a:ext uri="{FF2B5EF4-FFF2-40B4-BE49-F238E27FC236}">
                <a16:creationId xmlns:a16="http://schemas.microsoft.com/office/drawing/2014/main" id="{7A67A1F5-13FF-78F5-E785-708D52569651}"/>
              </a:ext>
            </a:extLst>
          </p:cNvPr>
          <p:cNvSpPr txBox="1"/>
          <p:nvPr/>
        </p:nvSpPr>
        <p:spPr>
          <a:xfrm>
            <a:off x="8229600" y="580430"/>
            <a:ext cx="3799046" cy="5697137"/>
          </a:xfrm>
          <a:prstGeom prst="rect">
            <a:avLst/>
          </a:prstGeom>
          <a:noFill/>
        </p:spPr>
        <p:txBody>
          <a:bodyPr wrap="square">
            <a:spAutoFit/>
          </a:bodyPr>
          <a:lstStyle/>
          <a:p>
            <a:pPr marL="342900" lvl="0" indent="-342900">
              <a:lnSpc>
                <a:spcPct val="115000"/>
              </a:lnSpc>
              <a:spcAft>
                <a:spcPts val="800"/>
              </a:spcAft>
              <a:buFont typeface="+mj-lt"/>
              <a:buAutoNum type="arabicPeriod"/>
              <a:tabLst>
                <a:tab pos="457200" algn="l"/>
              </a:tabLs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El match ocurre en el motor (en memoria, sin tocar disco).</a:t>
            </a:r>
          </a:p>
          <a:p>
            <a:pPr marL="342900" lvl="0" indent="-342900">
              <a:lnSpc>
                <a:spcPct val="115000"/>
              </a:lnSpc>
              <a:spcAft>
                <a:spcPts val="800"/>
              </a:spcAft>
              <a:buFont typeface="+mj-lt"/>
              <a:buAutoNum type="arabicPeriod"/>
              <a:tabLst>
                <a:tab pos="457200" algn="l"/>
              </a:tabLs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Se publica al canal transaccional dedicado — como está aislado del resto del tráfico (no comparte cola con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orders_buffer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no hay nadie compitiendo por ese ancho de banda.</a:t>
            </a:r>
          </a:p>
          <a:p>
            <a:pPr marL="342900" lvl="0" indent="-342900">
              <a:lnSpc>
                <a:spcPct val="115000"/>
              </a:lnSpc>
              <a:spcAft>
                <a:spcPts val="800"/>
              </a:spcAft>
              <a:buFont typeface="+mj-lt"/>
              <a:buAutoNum type="arabicPeriod"/>
              <a:tabLst>
                <a:tab pos="457200" algn="l"/>
              </a:tabLst>
            </a:pPr>
            <a:r>
              <a:rPr lang="es-CO" sz="1800" kern="100" dirty="0">
                <a:effectLst/>
                <a:latin typeface="Aptos" panose="020B0004020202020204" pitchFamily="34" charset="0"/>
                <a:ea typeface="Aptos" panose="020B0004020202020204" pitchFamily="34" charset="0"/>
                <a:cs typeface="Times New Roman" panose="02020603050405020304" pitchFamily="18" charset="0"/>
              </a:rPr>
              <a:t>El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dispatcher</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revisa idempotencia en Redis (operación atómica, típicamente &lt;1ms en la misma red de Docker) y empuja por </a:t>
            </a:r>
            <a:r>
              <a:rPr lang="es-CO" sz="1800" kern="100" dirty="0" err="1">
                <a:effectLst/>
                <a:latin typeface="Aptos" panose="020B0004020202020204" pitchFamily="34" charset="0"/>
                <a:ea typeface="Aptos" panose="020B0004020202020204" pitchFamily="34" charset="0"/>
                <a:cs typeface="Times New Roman" panose="02020603050405020304" pitchFamily="18" charset="0"/>
              </a:rPr>
              <a:t>WebSocket</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que ya está conectado y esperando — no hay que abrir conexión nueva ni esperar un ciclo de </a:t>
            </a:r>
            <a:r>
              <a:rPr lang="es-CO" sz="1800" i="1" kern="100" dirty="0" err="1">
                <a:effectLst/>
                <a:latin typeface="Aptos" panose="020B0004020202020204" pitchFamily="34" charset="0"/>
                <a:ea typeface="Aptos" panose="020B0004020202020204" pitchFamily="34" charset="0"/>
                <a:cs typeface="Times New Roman" panose="02020603050405020304" pitchFamily="18" charset="0"/>
              </a:rPr>
              <a:t>polling</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a:t>
            </a:r>
          </a:p>
        </p:txBody>
      </p:sp>
      <p:pic>
        <p:nvPicPr>
          <p:cNvPr id="12" name="Imagen 11">
            <a:extLst>
              <a:ext uri="{FF2B5EF4-FFF2-40B4-BE49-F238E27FC236}">
                <a16:creationId xmlns:a16="http://schemas.microsoft.com/office/drawing/2014/main" id="{30161660-CB7F-FBFE-FD30-BE763F4EFD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7561" y="1529662"/>
            <a:ext cx="5500507" cy="3810964"/>
          </a:xfrm>
          <a:prstGeom prst="rect">
            <a:avLst/>
          </a:prstGeom>
        </p:spPr>
      </p:pic>
    </p:spTree>
    <p:extLst>
      <p:ext uri="{BB962C8B-B14F-4D97-AF65-F5344CB8AC3E}">
        <p14:creationId xmlns:p14="http://schemas.microsoft.com/office/powerpoint/2010/main" val="1336894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3FB0B995-73CA-3668-F24E-4B18BC50FC74}"/>
              </a:ext>
            </a:extLst>
          </p:cNvPr>
          <p:cNvSpPr txBox="1"/>
          <p:nvPr/>
        </p:nvSpPr>
        <p:spPr>
          <a:xfrm>
            <a:off x="227799" y="365103"/>
            <a:ext cx="9397982" cy="646331"/>
          </a:xfrm>
          <a:prstGeom prst="rect">
            <a:avLst/>
          </a:prstGeom>
          <a:noFill/>
        </p:spPr>
        <p:txBody>
          <a:bodyPr wrap="square">
            <a:spAutoFit/>
          </a:bodyPr>
          <a:lstStyle/>
          <a:p>
            <a:r>
              <a:rPr lang="es-ES" b="1" dirty="0"/>
              <a:t>Pre Experimento </a:t>
            </a:r>
          </a:p>
          <a:p>
            <a:r>
              <a:rPr lang="es-CO" kern="100" dirty="0">
                <a:latin typeface="Aptos" panose="020B0004020202020204" pitchFamily="34" charset="0"/>
                <a:ea typeface="Aptos" panose="020B0004020202020204" pitchFamily="34" charset="0"/>
                <a:cs typeface="Times New Roman" panose="02020603050405020304" pitchFamily="18" charset="0"/>
              </a:rPr>
              <a:t>P</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rueba de 15 minutos totales (5 min Fase 1 + 10 min Fase 2)</a:t>
            </a:r>
            <a:endParaRPr lang="es-CO" dirty="0"/>
          </a:p>
        </p:txBody>
      </p:sp>
      <p:sp>
        <p:nvSpPr>
          <p:cNvPr id="5" name="CuadroTexto 4">
            <a:extLst>
              <a:ext uri="{FF2B5EF4-FFF2-40B4-BE49-F238E27FC236}">
                <a16:creationId xmlns:a16="http://schemas.microsoft.com/office/drawing/2014/main" id="{C1F2AC6F-00F4-1583-52E9-CC29B3847A87}"/>
              </a:ext>
            </a:extLst>
          </p:cNvPr>
          <p:cNvSpPr txBox="1"/>
          <p:nvPr/>
        </p:nvSpPr>
        <p:spPr>
          <a:xfrm>
            <a:off x="5870379" y="1503223"/>
            <a:ext cx="6093822" cy="2031325"/>
          </a:xfrm>
          <a:prstGeom prst="rect">
            <a:avLst/>
          </a:prstGeom>
          <a:noFill/>
        </p:spPr>
        <p:txBody>
          <a:bodyPr wrap="square">
            <a:spAutoFit/>
          </a:bodyPr>
          <a:lstStyle/>
          <a:p>
            <a:r>
              <a:rPr lang="es-CO" b="1" kern="100" dirty="0">
                <a:effectLst/>
                <a:latin typeface="Aptos" panose="020B0004020202020204" pitchFamily="34" charset="0"/>
                <a:ea typeface="Aptos" panose="020B0004020202020204" pitchFamily="34" charset="0"/>
                <a:cs typeface="Times New Roman" panose="02020603050405020304" pitchFamily="18" charset="0"/>
              </a:rPr>
              <a:t>FASE 1: CUMPLE</a:t>
            </a:r>
            <a:r>
              <a:rPr lang="es-CO" kern="100" dirty="0">
                <a:effectLst/>
                <a:latin typeface="Aptos" panose="020B0004020202020204" pitchFamily="34" charset="0"/>
                <a:ea typeface="Aptos" panose="020B0004020202020204" pitchFamily="34" charset="0"/>
                <a:cs typeface="Times New Roman" panose="02020603050405020304" pitchFamily="18" charset="0"/>
              </a:rPr>
              <a:t> </a:t>
            </a:r>
            <a:r>
              <a:rPr lang="es-CO" kern="100" dirty="0" err="1">
                <a:effectLst/>
                <a:latin typeface="Aptos" panose="020B0004020202020204" pitchFamily="34" charset="0"/>
                <a:ea typeface="Aptos" panose="020B0004020202020204" pitchFamily="34" charset="0"/>
                <a:cs typeface="Times New Roman" panose="02020603050405020304" pitchFamily="18" charset="0"/>
              </a:rPr>
              <a:t>Cumple</a:t>
            </a:r>
            <a:r>
              <a:rPr lang="es-CO" kern="100" dirty="0">
                <a:effectLst/>
                <a:latin typeface="Aptos" panose="020B0004020202020204" pitchFamily="34" charset="0"/>
                <a:ea typeface="Aptos" panose="020B0004020202020204" pitchFamily="34" charset="0"/>
                <a:cs typeface="Times New Roman" panose="02020603050405020304" pitchFamily="18" charset="0"/>
              </a:rPr>
              <a:t> con margen enorme.</a:t>
            </a:r>
          </a:p>
          <a:p>
            <a:r>
              <a:rPr lang="es-CO" kern="100" dirty="0">
                <a:effectLst/>
                <a:latin typeface="Aptos" panose="020B0004020202020204" pitchFamily="34" charset="0"/>
                <a:ea typeface="Aptos" panose="020B0004020202020204" pitchFamily="34" charset="0"/>
                <a:cs typeface="Times New Roman" panose="02020603050405020304" pitchFamily="18" charset="0"/>
              </a:rPr>
              <a:t>p95 = 6.01ms (objetivo: &lt;=350ms) — 58x mejor que el límite</a:t>
            </a:r>
          </a:p>
          <a:p>
            <a:r>
              <a:rPr lang="es-CO" kern="100" dirty="0">
                <a:effectLst/>
                <a:latin typeface="Aptos" panose="020B0004020202020204" pitchFamily="34" charset="0"/>
                <a:ea typeface="Aptos" panose="020B0004020202020204" pitchFamily="34" charset="0"/>
                <a:cs typeface="Times New Roman" panose="02020603050405020304" pitchFamily="18" charset="0"/>
              </a:rPr>
              <a:t>Solo 2 de 7.418 muestras individuales (0.027%) superaron 350ms — son las que explican el '</a:t>
            </a:r>
            <a:r>
              <a:rPr lang="es-CO" kern="100" dirty="0" err="1">
                <a:effectLst/>
                <a:latin typeface="Aptos" panose="020B0004020202020204" pitchFamily="34" charset="0"/>
                <a:ea typeface="Aptos" panose="020B0004020202020204" pitchFamily="34" charset="0"/>
                <a:cs typeface="Times New Roman" panose="02020603050405020304" pitchFamily="18" charset="0"/>
              </a:rPr>
              <a:t>max</a:t>
            </a:r>
            <a:r>
              <a:rPr lang="es-CO" kern="100" dirty="0">
                <a:effectLst/>
                <a:latin typeface="Aptos" panose="020B0004020202020204" pitchFamily="34" charset="0"/>
                <a:ea typeface="Aptos" panose="020B0004020202020204" pitchFamily="34" charset="0"/>
                <a:cs typeface="Times New Roman" panose="02020603050405020304" pitchFamily="18" charset="0"/>
              </a:rPr>
              <a:t>=401ms'</a:t>
            </a:r>
          </a:p>
          <a:p>
            <a:r>
              <a:rPr lang="es-CO" kern="100" dirty="0">
                <a:latin typeface="Aptos" panose="020B0004020202020204" pitchFamily="34" charset="0"/>
                <a:ea typeface="Aptos" panose="020B0004020202020204" pitchFamily="34" charset="0"/>
                <a:cs typeface="Times New Roman" panose="02020603050405020304" pitchFamily="18" charset="0"/>
              </a:rPr>
              <a:t>C</a:t>
            </a:r>
            <a:r>
              <a:rPr lang="es-CO" kern="100" dirty="0">
                <a:effectLst/>
                <a:latin typeface="Aptos" panose="020B0004020202020204" pitchFamily="34" charset="0"/>
                <a:ea typeface="Aptos" panose="020B0004020202020204" pitchFamily="34" charset="0"/>
                <a:cs typeface="Times New Roman" panose="02020603050405020304" pitchFamily="18" charset="0"/>
              </a:rPr>
              <a:t>onfirmación al comprador y vendedor en ≤350ms (p95)  (p95 = 6.01ms sobre 7.418 muestras), sin pérdida ni duplicación. (línea base, ~22-25 confirmaciones/s),  </a:t>
            </a:r>
          </a:p>
        </p:txBody>
      </p:sp>
      <p:sp>
        <p:nvSpPr>
          <p:cNvPr id="7" name="CuadroTexto 6">
            <a:extLst>
              <a:ext uri="{FF2B5EF4-FFF2-40B4-BE49-F238E27FC236}">
                <a16:creationId xmlns:a16="http://schemas.microsoft.com/office/drawing/2014/main" id="{55FB88D7-D677-21FA-BBA0-93CCC04FC812}"/>
              </a:ext>
            </a:extLst>
          </p:cNvPr>
          <p:cNvSpPr txBox="1"/>
          <p:nvPr/>
        </p:nvSpPr>
        <p:spPr>
          <a:xfrm>
            <a:off x="5870379" y="3817518"/>
            <a:ext cx="6321621" cy="2862322"/>
          </a:xfrm>
          <a:prstGeom prst="rect">
            <a:avLst/>
          </a:prstGeom>
          <a:noFill/>
        </p:spPr>
        <p:txBody>
          <a:bodyPr wrap="square">
            <a:spAutoFit/>
          </a:bodyPr>
          <a:lstStyle/>
          <a:p>
            <a:r>
              <a:rPr lang="es-CO" b="1" kern="100" dirty="0">
                <a:effectLst/>
                <a:latin typeface="Aptos" panose="020B0004020202020204" pitchFamily="34" charset="0"/>
                <a:ea typeface="Aptos" panose="020B0004020202020204" pitchFamily="34" charset="0"/>
                <a:cs typeface="Times New Roman" panose="02020603050405020304" pitchFamily="18" charset="0"/>
              </a:rPr>
              <a:t>FASE 2: CUMPLE</a:t>
            </a:r>
            <a:r>
              <a:rPr lang="es-CO" kern="100" dirty="0">
                <a:effectLst/>
                <a:latin typeface="Aptos" panose="020B0004020202020204" pitchFamily="34" charset="0"/>
                <a:ea typeface="Aptos" panose="020B0004020202020204" pitchFamily="34" charset="0"/>
                <a:cs typeface="Times New Roman" panose="02020603050405020304" pitchFamily="18" charset="0"/>
              </a:rPr>
              <a:t> </a:t>
            </a:r>
            <a:r>
              <a:rPr lang="es-CO" kern="100" dirty="0" err="1">
                <a:effectLst/>
                <a:latin typeface="Aptos" panose="020B0004020202020204" pitchFamily="34" charset="0"/>
                <a:ea typeface="Aptos" panose="020B0004020202020204" pitchFamily="34" charset="0"/>
                <a:cs typeface="Times New Roman" panose="02020603050405020304" pitchFamily="18" charset="0"/>
              </a:rPr>
              <a:t>Cumple</a:t>
            </a:r>
            <a:r>
              <a:rPr lang="es-CO" kern="100" dirty="0">
                <a:effectLst/>
                <a:latin typeface="Aptos" panose="020B0004020202020204" pitchFamily="34" charset="0"/>
                <a:ea typeface="Aptos" panose="020B0004020202020204" pitchFamily="34" charset="0"/>
                <a:cs typeface="Times New Roman" panose="02020603050405020304" pitchFamily="18" charset="0"/>
              </a:rPr>
              <a:t> con margen aún mayor que Fase 1, y de forma más consistente (sin </a:t>
            </a:r>
            <a:r>
              <a:rPr lang="es-CO" kern="100" dirty="0" err="1">
                <a:effectLst/>
                <a:latin typeface="Aptos" panose="020B0004020202020204" pitchFamily="34" charset="0"/>
                <a:ea typeface="Aptos" panose="020B0004020202020204" pitchFamily="34" charset="0"/>
                <a:cs typeface="Times New Roman" panose="02020603050405020304" pitchFamily="18" charset="0"/>
              </a:rPr>
              <a:t>outliers</a:t>
            </a:r>
            <a:r>
              <a:rPr lang="es-CO" kern="100" dirty="0">
                <a:effectLst/>
                <a:latin typeface="Aptos" panose="020B0004020202020204" pitchFamily="34" charset="0"/>
                <a:ea typeface="Aptos" panose="020B0004020202020204" pitchFamily="34" charset="0"/>
                <a:cs typeface="Times New Roman" panose="02020603050405020304" pitchFamily="18" charset="0"/>
              </a:rPr>
              <a:t>).</a:t>
            </a:r>
          </a:p>
          <a:p>
            <a:r>
              <a:rPr lang="es-CO" kern="100" dirty="0">
                <a:effectLst/>
                <a:latin typeface="Aptos" panose="020B0004020202020204" pitchFamily="34" charset="0"/>
                <a:ea typeface="Aptos" panose="020B0004020202020204" pitchFamily="34" charset="0"/>
                <a:cs typeface="Times New Roman" panose="02020603050405020304" pitchFamily="18" charset="0"/>
              </a:rPr>
              <a:t>p95 = 7.50ms — 47x mejor que el límite</a:t>
            </a:r>
          </a:p>
          <a:p>
            <a:r>
              <a:rPr lang="es-CO" kern="100" dirty="0">
                <a:effectLst/>
                <a:latin typeface="Aptos" panose="020B0004020202020204" pitchFamily="34" charset="0"/>
                <a:ea typeface="Aptos" panose="020B0004020202020204" pitchFamily="34" charset="0"/>
                <a:cs typeface="Times New Roman" panose="02020603050405020304" pitchFamily="18" charset="0"/>
              </a:rPr>
              <a:t>CERO muestras superaron 350ms (0 de 64.996)</a:t>
            </a:r>
          </a:p>
          <a:p>
            <a:r>
              <a:rPr lang="es-CO" kern="100" dirty="0">
                <a:effectLst/>
                <a:latin typeface="Aptos" panose="020B0004020202020204" pitchFamily="34" charset="0"/>
                <a:ea typeface="Aptos" panose="020B0004020202020204" pitchFamily="34" charset="0"/>
                <a:cs typeface="Times New Roman" panose="02020603050405020304" pitchFamily="18" charset="0"/>
              </a:rPr>
              <a:t>Incluso bajo el pico de carga, la latencia se mantuvo más consistente que en Fase 1</a:t>
            </a:r>
          </a:p>
          <a:p>
            <a:r>
              <a:rPr lang="es-CO" kern="100" dirty="0">
                <a:effectLst/>
                <a:latin typeface="Aptos" panose="020B0004020202020204" pitchFamily="34" charset="0"/>
                <a:ea typeface="Aptos" panose="020B0004020202020204" pitchFamily="34" charset="0"/>
                <a:cs typeface="Times New Roman" panose="02020603050405020304" pitchFamily="18" charset="0"/>
              </a:rPr>
              <a:t>p95 = 7.50ms sobre 64.996 muestras — prácticamente el mismo número que en Fase 1, apenas 1.5ms más alto, a pesar de que el volumen de confirmaciones fue </a:t>
            </a:r>
            <a:r>
              <a:rPr lang="es-CO" b="1" kern="100" dirty="0">
                <a:effectLst/>
                <a:latin typeface="Aptos" panose="020B0004020202020204" pitchFamily="34" charset="0"/>
                <a:ea typeface="Aptos" panose="020B0004020202020204" pitchFamily="34" charset="0"/>
                <a:cs typeface="Times New Roman" panose="02020603050405020304" pitchFamily="18" charset="0"/>
              </a:rPr>
              <a:t>casi 9 veces mayor</a:t>
            </a:r>
            <a:r>
              <a:rPr lang="es-CO" kern="100" dirty="0">
                <a:effectLst/>
                <a:latin typeface="Aptos" panose="020B0004020202020204" pitchFamily="34" charset="0"/>
                <a:ea typeface="Aptos" panose="020B0004020202020204" pitchFamily="34" charset="0"/>
                <a:cs typeface="Times New Roman" panose="02020603050405020304" pitchFamily="18" charset="0"/>
              </a:rPr>
              <a:t> (64.996 vs 7.418)..</a:t>
            </a:r>
          </a:p>
        </p:txBody>
      </p:sp>
      <p:sp>
        <p:nvSpPr>
          <p:cNvPr id="12" name="CuadroTexto 11">
            <a:extLst>
              <a:ext uri="{FF2B5EF4-FFF2-40B4-BE49-F238E27FC236}">
                <a16:creationId xmlns:a16="http://schemas.microsoft.com/office/drawing/2014/main" id="{D4A2C516-7EA1-4DFF-0F40-7A48C819DCE9}"/>
              </a:ext>
            </a:extLst>
          </p:cNvPr>
          <p:cNvSpPr txBox="1"/>
          <p:nvPr/>
        </p:nvSpPr>
        <p:spPr>
          <a:xfrm>
            <a:off x="227799" y="1166842"/>
            <a:ext cx="5081180" cy="5078313"/>
          </a:xfrm>
          <a:prstGeom prst="rect">
            <a:avLst/>
          </a:prstGeom>
          <a:noFill/>
        </p:spPr>
        <p:txBody>
          <a:bodyPr wrap="square">
            <a:spAutoFit/>
          </a:bodyPr>
          <a:lstStyle/>
          <a:p>
            <a:r>
              <a:rPr lang="es-CO" dirty="0"/>
              <a:t>Respuesta termino la prueba. Escuchando 1000 </a:t>
            </a:r>
            <a:r>
              <a:rPr lang="es-CO" dirty="0" err="1"/>
              <a:t>traders</a:t>
            </a:r>
            <a:r>
              <a:rPr lang="es-CO" dirty="0"/>
              <a:t> en confirmation-dispatcher:8090 durante 900s (Fase 1: 0-300s, Fase 2: 300-900s)...</a:t>
            </a:r>
          </a:p>
          <a:p>
            <a:r>
              <a:rPr lang="es-CO" dirty="0"/>
              <a:t>FASE 1 (línea base) (n=7418)</a:t>
            </a:r>
          </a:p>
          <a:p>
            <a:r>
              <a:rPr lang="es-CO" dirty="0"/>
              <a:t>  p50: 3.31 ms</a:t>
            </a:r>
          </a:p>
          <a:p>
            <a:r>
              <a:rPr lang="es-CO" dirty="0"/>
              <a:t>  p95: 6.01 ms  (objetivo: &lt;= 350ms) -&gt; CUMPLIDA</a:t>
            </a:r>
          </a:p>
          <a:p>
            <a:r>
              <a:rPr lang="es-CO" dirty="0"/>
              <a:t>  p99: 9.27 ms</a:t>
            </a:r>
          </a:p>
          <a:p>
            <a:r>
              <a:rPr lang="es-CO" dirty="0"/>
              <a:t>  </a:t>
            </a:r>
            <a:r>
              <a:rPr lang="es-CO" dirty="0" err="1"/>
              <a:t>max</a:t>
            </a:r>
            <a:r>
              <a:rPr lang="es-CO" dirty="0"/>
              <a:t>: 401.33 ms</a:t>
            </a:r>
          </a:p>
          <a:p>
            <a:r>
              <a:rPr lang="es-CO" dirty="0"/>
              <a:t>FASE 2 (pico) (n=64996)</a:t>
            </a:r>
          </a:p>
          <a:p>
            <a:r>
              <a:rPr lang="es-CO" dirty="0"/>
              <a:t>  p50: 3.42 ms</a:t>
            </a:r>
          </a:p>
          <a:p>
            <a:r>
              <a:rPr lang="es-CO" dirty="0"/>
              <a:t>  p95: 7.50 ms  (objetivo: &lt;= 350ms) -&gt; CUMPLIDA</a:t>
            </a:r>
          </a:p>
          <a:p>
            <a:r>
              <a:rPr lang="es-CO" dirty="0"/>
              <a:t>  p99: 11.03 ms</a:t>
            </a:r>
          </a:p>
          <a:p>
            <a:r>
              <a:rPr lang="es-CO" dirty="0"/>
              <a:t>  </a:t>
            </a:r>
            <a:r>
              <a:rPr lang="es-CO" dirty="0" err="1"/>
              <a:t>max</a:t>
            </a:r>
            <a:r>
              <a:rPr lang="es-CO" dirty="0"/>
              <a:t>: 54.05 ms</a:t>
            </a:r>
          </a:p>
          <a:p>
            <a:r>
              <a:rPr lang="es-CO" dirty="0"/>
              <a:t>TOTAL (ambas fases mezcladas, referencia) (n=72414)</a:t>
            </a:r>
          </a:p>
          <a:p>
            <a:r>
              <a:rPr lang="es-CO" dirty="0"/>
              <a:t>  p50: 3.40 ms</a:t>
            </a:r>
          </a:p>
          <a:p>
            <a:r>
              <a:rPr lang="es-CO" dirty="0"/>
              <a:t>  p95: 7.38 ms  (objetivo: &lt;= 350ms) -&gt; CUMPLIDA</a:t>
            </a:r>
          </a:p>
          <a:p>
            <a:r>
              <a:rPr lang="es-CO" dirty="0"/>
              <a:t>  p99: 10.88 ms</a:t>
            </a:r>
          </a:p>
        </p:txBody>
      </p:sp>
    </p:spTree>
    <p:extLst>
      <p:ext uri="{BB962C8B-B14F-4D97-AF65-F5344CB8AC3E}">
        <p14:creationId xmlns:p14="http://schemas.microsoft.com/office/powerpoint/2010/main" val="2432438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3FB0B995-73CA-3668-F24E-4B18BC50FC74}"/>
              </a:ext>
            </a:extLst>
          </p:cNvPr>
          <p:cNvSpPr txBox="1"/>
          <p:nvPr/>
        </p:nvSpPr>
        <p:spPr>
          <a:xfrm>
            <a:off x="227799" y="365103"/>
            <a:ext cx="9397982" cy="646331"/>
          </a:xfrm>
          <a:prstGeom prst="rect">
            <a:avLst/>
          </a:prstGeom>
          <a:noFill/>
        </p:spPr>
        <p:txBody>
          <a:bodyPr wrap="square">
            <a:spAutoFit/>
          </a:bodyPr>
          <a:lstStyle/>
          <a:p>
            <a:r>
              <a:rPr lang="es-ES" b="1" dirty="0"/>
              <a:t>Experimento 1</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prueba de </a:t>
            </a:r>
            <a:r>
              <a:rPr lang="es-CO" kern="100" dirty="0">
                <a:latin typeface="Aptos" panose="020B0004020202020204" pitchFamily="34" charset="0"/>
                <a:ea typeface="Aptos" panose="020B0004020202020204" pitchFamily="34" charset="0"/>
                <a:cs typeface="Times New Roman" panose="02020603050405020304" pitchFamily="18" charset="0"/>
              </a:rPr>
              <a:t>40</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minutos totales (10 min Fase 1 + </a:t>
            </a:r>
            <a:r>
              <a:rPr lang="es-CO" kern="100" dirty="0">
                <a:latin typeface="Aptos" panose="020B0004020202020204" pitchFamily="34" charset="0"/>
                <a:ea typeface="Aptos" panose="020B0004020202020204" pitchFamily="34" charset="0"/>
                <a:cs typeface="Times New Roman" panose="02020603050405020304" pitchFamily="18" charset="0"/>
              </a:rPr>
              <a:t>30 </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min Fase 2)</a:t>
            </a:r>
            <a:endParaRPr lang="es-CO" dirty="0"/>
          </a:p>
        </p:txBody>
      </p:sp>
      <p:sp>
        <p:nvSpPr>
          <p:cNvPr id="7" name="CuadroTexto 6">
            <a:extLst>
              <a:ext uri="{FF2B5EF4-FFF2-40B4-BE49-F238E27FC236}">
                <a16:creationId xmlns:a16="http://schemas.microsoft.com/office/drawing/2014/main" id="{55FB88D7-D677-21FA-BBA0-93CCC04FC812}"/>
              </a:ext>
            </a:extLst>
          </p:cNvPr>
          <p:cNvSpPr txBox="1"/>
          <p:nvPr/>
        </p:nvSpPr>
        <p:spPr>
          <a:xfrm>
            <a:off x="5870379" y="3982997"/>
            <a:ext cx="6321621" cy="2308324"/>
          </a:xfrm>
          <a:prstGeom prst="rect">
            <a:avLst/>
          </a:prstGeom>
          <a:noFill/>
        </p:spPr>
        <p:txBody>
          <a:bodyPr wrap="square">
            <a:spAutoFit/>
          </a:bodyPr>
          <a:lstStyle/>
          <a:p>
            <a:r>
              <a:rPr lang="es-ES" b="1" kern="100" dirty="0">
                <a:effectLst/>
                <a:latin typeface="Aptos" panose="020B0004020202020204" pitchFamily="34" charset="0"/>
                <a:ea typeface="Aptos" panose="020B0004020202020204" pitchFamily="34" charset="0"/>
                <a:cs typeface="Times New Roman" panose="02020603050405020304" pitchFamily="18" charset="0"/>
              </a:rPr>
              <a:t>FASE 2: CUMPLE </a:t>
            </a:r>
          </a:p>
          <a:p>
            <a:r>
              <a:rPr lang="es-ES" kern="100" dirty="0">
                <a:effectLst/>
                <a:latin typeface="Aptos" panose="020B0004020202020204" pitchFamily="34" charset="0"/>
                <a:ea typeface="Aptos" panose="020B0004020202020204" pitchFamily="34" charset="0"/>
                <a:cs typeface="Times New Roman" panose="02020603050405020304" pitchFamily="18" charset="0"/>
              </a:rPr>
              <a:t>Bajo el pico de 30 minutos SOSTENIDOS, la latencia no solo se mantuvo, sino que mejoró respecto a la línea base.</a:t>
            </a:r>
          </a:p>
          <a:p>
            <a:r>
              <a:rPr lang="es-ES" kern="100" dirty="0">
                <a:effectLst/>
                <a:latin typeface="Aptos" panose="020B0004020202020204" pitchFamily="34" charset="0"/>
                <a:ea typeface="Aptos" panose="020B0004020202020204" pitchFamily="34" charset="0"/>
                <a:cs typeface="Times New Roman" panose="02020603050405020304" pitchFamily="18" charset="0"/>
              </a:rPr>
              <a:t>p95 = 14.82ms — aún MEJOR que Fase 1 (23x mejor que el límite)</a:t>
            </a:r>
          </a:p>
          <a:p>
            <a:r>
              <a:rPr lang="es-ES" kern="100" dirty="0">
                <a:effectLst/>
                <a:latin typeface="Aptos" panose="020B0004020202020204" pitchFamily="34" charset="0"/>
                <a:ea typeface="Aptos" panose="020B0004020202020204" pitchFamily="34" charset="0"/>
                <a:cs typeface="Times New Roman" panose="02020603050405020304" pitchFamily="18" charset="0"/>
              </a:rPr>
              <a:t>Ninguna de las 255.708 muestras superó 350ms, con casi 9x el volumen de Fase 1</a:t>
            </a:r>
          </a:p>
          <a:p>
            <a:r>
              <a:rPr lang="es-ES" kern="100" dirty="0">
                <a:effectLst/>
                <a:latin typeface="Aptos" panose="020B0004020202020204" pitchFamily="34" charset="0"/>
                <a:ea typeface="Aptos" panose="020B0004020202020204" pitchFamily="34" charset="0"/>
                <a:cs typeface="Times New Roman" panose="02020603050405020304" pitchFamily="18" charset="0"/>
              </a:rPr>
              <a:t>≈142/s confirmaciones ≈ 71 </a:t>
            </a:r>
            <a:r>
              <a:rPr lang="es-ES" kern="100" dirty="0" err="1">
                <a:effectLst/>
                <a:latin typeface="Aptos" panose="020B0004020202020204" pitchFamily="34" charset="0"/>
                <a:ea typeface="Aptos" panose="020B0004020202020204" pitchFamily="34" charset="0"/>
                <a:cs typeface="Times New Roman" panose="02020603050405020304" pitchFamily="18" charset="0"/>
              </a:rPr>
              <a:t>matches</a:t>
            </a:r>
            <a:r>
              <a:rPr lang="es-ES" kern="100" dirty="0">
                <a:effectLst/>
                <a:latin typeface="Aptos" panose="020B0004020202020204" pitchFamily="34" charset="0"/>
                <a:ea typeface="Aptos" panose="020B0004020202020204" pitchFamily="34" charset="0"/>
                <a:cs typeface="Times New Roman" panose="02020603050405020304" pitchFamily="18" charset="0"/>
              </a:rPr>
              <a:t>/s ≈ 4.260 </a:t>
            </a:r>
            <a:r>
              <a:rPr lang="es-ES" kern="100" dirty="0" err="1">
                <a:effectLst/>
                <a:latin typeface="Aptos" panose="020B0004020202020204" pitchFamily="34" charset="0"/>
                <a:ea typeface="Aptos" panose="020B0004020202020204" pitchFamily="34" charset="0"/>
                <a:cs typeface="Times New Roman" panose="02020603050405020304" pitchFamily="18" charset="0"/>
              </a:rPr>
              <a:t>matches</a:t>
            </a:r>
            <a:r>
              <a:rPr lang="es-ES" kern="100" dirty="0">
                <a:effectLst/>
                <a:latin typeface="Aptos" panose="020B0004020202020204" pitchFamily="34" charset="0"/>
                <a:ea typeface="Aptos" panose="020B0004020202020204" pitchFamily="34" charset="0"/>
                <a:cs typeface="Times New Roman" panose="02020603050405020304" pitchFamily="18" charset="0"/>
              </a:rPr>
              <a:t>/min</a:t>
            </a:r>
            <a:endParaRPr lang="es-CO"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12" name="CuadroTexto 11">
            <a:extLst>
              <a:ext uri="{FF2B5EF4-FFF2-40B4-BE49-F238E27FC236}">
                <a16:creationId xmlns:a16="http://schemas.microsoft.com/office/drawing/2014/main" id="{D4A2C516-7EA1-4DFF-0F40-7A48C819DCE9}"/>
              </a:ext>
            </a:extLst>
          </p:cNvPr>
          <p:cNvSpPr txBox="1"/>
          <p:nvPr/>
        </p:nvSpPr>
        <p:spPr>
          <a:xfrm>
            <a:off x="227799" y="1166842"/>
            <a:ext cx="5642580" cy="5632311"/>
          </a:xfrm>
          <a:prstGeom prst="rect">
            <a:avLst/>
          </a:prstGeom>
          <a:noFill/>
        </p:spPr>
        <p:txBody>
          <a:bodyPr wrap="square">
            <a:spAutoFit/>
          </a:bodyPr>
          <a:lstStyle/>
          <a:p>
            <a:r>
              <a:rPr lang="es-CO" dirty="0"/>
              <a:t>Respuesta termino la prueba. Escuchando 1000 </a:t>
            </a:r>
            <a:r>
              <a:rPr lang="es-CO" dirty="0" err="1"/>
              <a:t>traders</a:t>
            </a:r>
            <a:r>
              <a:rPr lang="es-CO" dirty="0"/>
              <a:t> en confirmation-dispatcher:8090 durante </a:t>
            </a:r>
            <a:r>
              <a:rPr lang="pt-BR" dirty="0"/>
              <a:t> 2400s (Fase 1: 0-600s, Fase 2: 600-2400s)...</a:t>
            </a:r>
          </a:p>
          <a:p>
            <a:r>
              <a:rPr lang="es-CO" dirty="0"/>
              <a:t>FASE 1 (línea base) (n=29898)</a:t>
            </a:r>
          </a:p>
          <a:p>
            <a:r>
              <a:rPr lang="es-CO" dirty="0"/>
              <a:t>  p50: 6.71 ms</a:t>
            </a:r>
          </a:p>
          <a:p>
            <a:r>
              <a:rPr lang="es-CO" dirty="0"/>
              <a:t>  p95: 20.36 ms  (objetivo: &lt;= 350ms) -&gt; CUMPLIDA</a:t>
            </a:r>
          </a:p>
          <a:p>
            <a:r>
              <a:rPr lang="es-CO" dirty="0"/>
              <a:t>  p99: 40.93 ms</a:t>
            </a:r>
          </a:p>
          <a:p>
            <a:r>
              <a:rPr lang="es-CO" dirty="0"/>
              <a:t>  </a:t>
            </a:r>
            <a:r>
              <a:rPr lang="es-CO" dirty="0" err="1"/>
              <a:t>max</a:t>
            </a:r>
            <a:r>
              <a:rPr lang="es-CO" dirty="0"/>
              <a:t>: 101.64 ms</a:t>
            </a:r>
          </a:p>
          <a:p>
            <a:endParaRPr lang="es-CO" dirty="0"/>
          </a:p>
          <a:p>
            <a:r>
              <a:rPr lang="es-CO" dirty="0"/>
              <a:t>FASE 2 (pico) (n=255708)</a:t>
            </a:r>
          </a:p>
          <a:p>
            <a:r>
              <a:rPr lang="es-CO" dirty="0"/>
              <a:t>  p50: 5.62 ms</a:t>
            </a:r>
          </a:p>
          <a:p>
            <a:r>
              <a:rPr lang="es-CO" dirty="0"/>
              <a:t>  p95: 14.82 ms  (objetivo: &lt;= 350ms) -&gt; CUMPLIDA</a:t>
            </a:r>
          </a:p>
          <a:p>
            <a:r>
              <a:rPr lang="es-CO" dirty="0"/>
              <a:t>  p99: 25.18 ms</a:t>
            </a:r>
          </a:p>
          <a:p>
            <a:r>
              <a:rPr lang="es-CO" dirty="0"/>
              <a:t>  </a:t>
            </a:r>
            <a:r>
              <a:rPr lang="es-CO" dirty="0" err="1"/>
              <a:t>max</a:t>
            </a:r>
            <a:r>
              <a:rPr lang="es-CO" dirty="0"/>
              <a:t>: 103.33 ms</a:t>
            </a:r>
          </a:p>
          <a:p>
            <a:endParaRPr lang="es-CO" dirty="0"/>
          </a:p>
          <a:p>
            <a:r>
              <a:rPr lang="es-CO" dirty="0"/>
              <a:t>TOTAL (ambas fases mezcladas, referencia) (n=285606)</a:t>
            </a:r>
          </a:p>
          <a:p>
            <a:r>
              <a:rPr lang="es-CO" dirty="0"/>
              <a:t>  p50: 5.72 ms</a:t>
            </a:r>
          </a:p>
          <a:p>
            <a:r>
              <a:rPr lang="es-CO" dirty="0"/>
              <a:t>  p95: 15.39 ms  (objetivo: &lt;= 350ms) -&gt; CUMPLIDA</a:t>
            </a:r>
          </a:p>
          <a:p>
            <a:r>
              <a:rPr lang="es-CO" dirty="0"/>
              <a:t>  p99: 26.97 ms</a:t>
            </a:r>
          </a:p>
          <a:p>
            <a:r>
              <a:rPr lang="es-CO" dirty="0"/>
              <a:t>  </a:t>
            </a:r>
            <a:r>
              <a:rPr lang="es-CO" dirty="0" err="1"/>
              <a:t>max</a:t>
            </a:r>
            <a:r>
              <a:rPr lang="es-CO" dirty="0"/>
              <a:t>: 103.33 ms</a:t>
            </a:r>
          </a:p>
        </p:txBody>
      </p:sp>
      <p:sp>
        <p:nvSpPr>
          <p:cNvPr id="3" name="CuadroTexto 2">
            <a:extLst>
              <a:ext uri="{FF2B5EF4-FFF2-40B4-BE49-F238E27FC236}">
                <a16:creationId xmlns:a16="http://schemas.microsoft.com/office/drawing/2014/main" id="{DEFA4AEF-BD2A-EDC6-C272-E6E6BBB0A19D}"/>
              </a:ext>
            </a:extLst>
          </p:cNvPr>
          <p:cNvSpPr txBox="1"/>
          <p:nvPr/>
        </p:nvSpPr>
        <p:spPr>
          <a:xfrm>
            <a:off x="5825339" y="1537313"/>
            <a:ext cx="6138862" cy="1200329"/>
          </a:xfrm>
          <a:prstGeom prst="rect">
            <a:avLst/>
          </a:prstGeom>
          <a:noFill/>
        </p:spPr>
        <p:txBody>
          <a:bodyPr wrap="square">
            <a:spAutoFit/>
          </a:bodyPr>
          <a:lstStyle/>
          <a:p>
            <a:pPr algn="l"/>
            <a:r>
              <a:rPr lang="es-ES" b="1" i="0" dirty="0">
                <a:effectLst/>
                <a:latin typeface="anthropic-sans"/>
              </a:rPr>
              <a:t>FASE 1: CUMPLE </a:t>
            </a:r>
            <a:r>
              <a:rPr lang="es-ES" b="0" i="0" dirty="0">
                <a:effectLst/>
                <a:latin typeface="anthropic-sans"/>
              </a:rPr>
              <a:t>con margen amplio, sin ningún </a:t>
            </a:r>
            <a:r>
              <a:rPr lang="es-ES" b="0" i="0" dirty="0" err="1">
                <a:effectLst/>
                <a:latin typeface="anthropic-sans"/>
              </a:rPr>
              <a:t>outlier</a:t>
            </a:r>
            <a:r>
              <a:rPr lang="es-ES" b="0" i="0" dirty="0">
                <a:effectLst/>
                <a:latin typeface="anthropic-sans"/>
              </a:rPr>
              <a:t> esta vez.</a:t>
            </a:r>
          </a:p>
          <a:p>
            <a:pPr algn="l"/>
            <a:r>
              <a:rPr lang="es-ES" b="0" i="0" dirty="0">
                <a:effectLst/>
                <a:latin typeface="anthropic-sans"/>
              </a:rPr>
              <a:t>p95 = 20.36ms (objetivo: &lt;=350ms) — 17x mejor que el límite</a:t>
            </a:r>
          </a:p>
          <a:p>
            <a:pPr algn="l"/>
            <a:r>
              <a:rPr lang="es-ES" b="0" i="0" dirty="0">
                <a:effectLst/>
                <a:latin typeface="anthropic-sans"/>
              </a:rPr>
              <a:t>0 de 29.898 muestras superó 350ms</a:t>
            </a:r>
          </a:p>
          <a:p>
            <a:pPr algn="l"/>
            <a:r>
              <a:rPr lang="es-ES" b="0" i="0" dirty="0">
                <a:effectLst/>
                <a:latin typeface="anthropic-sans"/>
              </a:rPr>
              <a:t>≈49.8 confirmaciones/s ≈ 24.9 </a:t>
            </a:r>
            <a:r>
              <a:rPr lang="es-ES" b="0" i="0" dirty="0" err="1">
                <a:effectLst/>
                <a:latin typeface="anthropic-sans"/>
              </a:rPr>
              <a:t>matches</a:t>
            </a:r>
            <a:r>
              <a:rPr lang="es-ES" b="0" i="0" dirty="0">
                <a:effectLst/>
                <a:latin typeface="anthropic-sans"/>
              </a:rPr>
              <a:t>/s ≈ 1.494 </a:t>
            </a:r>
            <a:r>
              <a:rPr lang="es-ES" b="0" i="0" dirty="0" err="1">
                <a:effectLst/>
                <a:latin typeface="anthropic-sans"/>
              </a:rPr>
              <a:t>matches</a:t>
            </a:r>
            <a:r>
              <a:rPr lang="es-ES" b="0" i="0" dirty="0">
                <a:effectLst/>
                <a:latin typeface="anthropic-sans"/>
              </a:rPr>
              <a:t>/min</a:t>
            </a:r>
          </a:p>
        </p:txBody>
      </p:sp>
      <p:sp>
        <p:nvSpPr>
          <p:cNvPr id="6" name="CuadroTexto 5">
            <a:extLst>
              <a:ext uri="{FF2B5EF4-FFF2-40B4-BE49-F238E27FC236}">
                <a16:creationId xmlns:a16="http://schemas.microsoft.com/office/drawing/2014/main" id="{4D5FFDFF-A5D1-EBA0-08B3-F51615C13CBD}"/>
              </a:ext>
            </a:extLst>
          </p:cNvPr>
          <p:cNvSpPr txBox="1"/>
          <p:nvPr/>
        </p:nvSpPr>
        <p:spPr>
          <a:xfrm>
            <a:off x="5822893" y="2894188"/>
            <a:ext cx="6141308" cy="923330"/>
          </a:xfrm>
          <a:prstGeom prst="rect">
            <a:avLst/>
          </a:prstGeom>
          <a:noFill/>
        </p:spPr>
        <p:txBody>
          <a:bodyPr wrap="square">
            <a:spAutoFit/>
          </a:bodyPr>
          <a:lstStyle/>
          <a:p>
            <a:pPr rtl="0"/>
            <a:r>
              <a:rPr lang="es-ES" dirty="0"/>
              <a:t> El p50 de 6.71ms te dice que la </a:t>
            </a:r>
            <a:r>
              <a:rPr lang="es-ES" i="1" dirty="0"/>
              <a:t>mitad</a:t>
            </a:r>
            <a:r>
              <a:rPr lang="es-ES" dirty="0"/>
              <a:t> de las confirmaciones llegaron en menos de 7ms — el p95 de 20ms refleja solo la cola alta de la distribución, no el comportamiento típico.</a:t>
            </a:r>
          </a:p>
        </p:txBody>
      </p:sp>
    </p:spTree>
    <p:extLst>
      <p:ext uri="{BB962C8B-B14F-4D97-AF65-F5344CB8AC3E}">
        <p14:creationId xmlns:p14="http://schemas.microsoft.com/office/powerpoint/2010/main" val="1601264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D16FA041-EAA9-372C-88D4-283E887ACE2C}"/>
              </a:ext>
            </a:extLst>
          </p:cNvPr>
          <p:cNvSpPr txBox="1"/>
          <p:nvPr/>
        </p:nvSpPr>
        <p:spPr>
          <a:xfrm>
            <a:off x="0" y="1922935"/>
            <a:ext cx="6096000" cy="3416320"/>
          </a:xfrm>
          <a:prstGeom prst="rect">
            <a:avLst/>
          </a:prstGeom>
          <a:noFill/>
        </p:spPr>
        <p:txBody>
          <a:bodyPr wrap="square">
            <a:spAutoFit/>
          </a:bodyPr>
          <a:lstStyle/>
          <a:p>
            <a:r>
              <a:rPr lang="es-ES" dirty="0"/>
              <a:t>la afirmación central del experimento no es "la latencia es baja" — es que </a:t>
            </a:r>
            <a:r>
              <a:rPr lang="es-ES" b="1" dirty="0"/>
              <a:t>el aislamiento del canal transaccional evita contención con el tráfico de difusión general</a:t>
            </a:r>
            <a:r>
              <a:rPr lang="es-ES" dirty="0"/>
              <a:t>. Si eso fuera falso, subir el volumen 9x tendría que haber empeorado la latencia (más órdenes compitiendo por recursos compartidos, colas más largas, más presión sobre el mismo canal). En cambio, la latencia se mantuvo </a:t>
            </a:r>
            <a:r>
              <a:rPr lang="es-ES" i="1" dirty="0"/>
              <a:t>igual o mejor</a:t>
            </a:r>
            <a:r>
              <a:rPr lang="es-ES" dirty="0"/>
              <a:t>. Eso es consistente únicamente si el canal de confirmaciones de verdad nunca compitió por ancho de banda ni por CPU con el resto del tráfico — exactamente el mecanismo causal que la hipótesis propone, no una coincidencia.</a:t>
            </a:r>
            <a:endParaRPr lang="es-CO" dirty="0"/>
          </a:p>
        </p:txBody>
      </p:sp>
      <p:sp>
        <p:nvSpPr>
          <p:cNvPr id="8" name="CuadroTexto 7">
            <a:extLst>
              <a:ext uri="{FF2B5EF4-FFF2-40B4-BE49-F238E27FC236}">
                <a16:creationId xmlns:a16="http://schemas.microsoft.com/office/drawing/2014/main" id="{C4704A54-A05A-C425-9B0C-874C8F2ED779}"/>
              </a:ext>
            </a:extLst>
          </p:cNvPr>
          <p:cNvSpPr txBox="1"/>
          <p:nvPr/>
        </p:nvSpPr>
        <p:spPr>
          <a:xfrm>
            <a:off x="6096000" y="1922935"/>
            <a:ext cx="6096000" cy="2585323"/>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CO" altLang="es-CO" sz="1800" b="0" i="0" u="none" strike="noStrike" cap="none" normalizeH="0" baseline="0" dirty="0">
                <a:ln>
                  <a:noFill/>
                </a:ln>
                <a:solidFill>
                  <a:schemeClr val="tx1"/>
                </a:solidFill>
                <a:effectLst/>
                <a:latin typeface="Arial" panose="020B0604020202020204" pitchFamily="34" charset="0"/>
              </a:rPr>
              <a:t>la hipótesis de escalabilidad dice que la cola asíncrona </a:t>
            </a:r>
            <a:r>
              <a:rPr kumimoji="0" lang="es-CO" altLang="es-CO" sz="1800" b="0" i="1" u="none" strike="noStrike" cap="none" normalizeH="0" baseline="0" dirty="0">
                <a:ln>
                  <a:noFill/>
                </a:ln>
                <a:solidFill>
                  <a:schemeClr val="tx1"/>
                </a:solidFill>
                <a:effectLst/>
                <a:latin typeface="Arial" panose="020B0604020202020204" pitchFamily="34" charset="0"/>
              </a:rPr>
              <a:t>desacopla</a:t>
            </a:r>
            <a:r>
              <a:rPr kumimoji="0" lang="es-CO" altLang="es-CO" sz="1800" b="0" i="0" u="none" strike="noStrike" cap="none" normalizeH="0" baseline="0" dirty="0">
                <a:ln>
                  <a:noFill/>
                </a:ln>
                <a:solidFill>
                  <a:schemeClr val="tx1"/>
                </a:solidFill>
                <a:effectLst/>
                <a:latin typeface="Arial" panose="020B0604020202020204" pitchFamily="34" charset="0"/>
              </a:rPr>
              <a:t> la velocidad de ingesta de la capacidad del motor, así que el motor no debería degradarse aunque llegue mucho más tráfico. Eso es exactamente lo que ves aquí: al subir el volumen de órdenes ~6 veces (de 1.421 a 8.291/min), el </a:t>
            </a:r>
            <a:r>
              <a:rPr kumimoji="0" lang="es-CO" altLang="es-CO" sz="1000" b="0" i="0" u="none" strike="noStrike" cap="none" normalizeH="0" baseline="0" dirty="0">
                <a:ln>
                  <a:noFill/>
                </a:ln>
                <a:solidFill>
                  <a:schemeClr val="tx1"/>
                </a:solidFill>
                <a:effectLst/>
                <a:latin typeface="Arial Unicode MS"/>
              </a:rPr>
              <a:t>core_p95</a:t>
            </a:r>
            <a:r>
              <a:rPr kumimoji="0" lang="es-CO" altLang="es-CO" sz="800" b="0" i="0" u="none" strike="noStrike" cap="none" normalizeH="0" baseline="0" dirty="0">
                <a:ln>
                  <a:noFill/>
                </a:ln>
                <a:solidFill>
                  <a:schemeClr val="tx1"/>
                </a:solidFill>
                <a:effectLst/>
              </a:rPr>
              <a:t> </a:t>
            </a:r>
            <a:r>
              <a:rPr kumimoji="0" lang="es-CO" altLang="es-CO" sz="1800" b="1" i="0" u="none" strike="noStrike" cap="none" normalizeH="0" baseline="0" dirty="0">
                <a:ln>
                  <a:noFill/>
                </a:ln>
                <a:solidFill>
                  <a:schemeClr val="tx1"/>
                </a:solidFill>
                <a:effectLst/>
                <a:latin typeface="Arial" panose="020B0604020202020204" pitchFamily="34" charset="0"/>
              </a:rPr>
              <a:t>no empeoró — mejoró levemente</a:t>
            </a:r>
            <a:r>
              <a:rPr kumimoji="0" lang="es-CO" altLang="es-CO" sz="1800" b="0" i="0" u="none" strike="noStrike" cap="none" normalizeH="0" baseline="0" dirty="0">
                <a:ln>
                  <a:noFill/>
                </a:ln>
                <a:solidFill>
                  <a:schemeClr val="tx1"/>
                </a:solidFill>
                <a:effectLst/>
                <a:latin typeface="Arial" panose="020B0604020202020204" pitchFamily="34" charset="0"/>
              </a:rPr>
              <a:t> (de 0.048ms a 0.035ms). Si el diseño no funcionara, hubieras visto ese número dispararse bajo el pico, no mantenerse igual de bajo. </a:t>
            </a:r>
          </a:p>
        </p:txBody>
      </p:sp>
      <p:sp>
        <p:nvSpPr>
          <p:cNvPr id="9" name="CuadroTexto 8">
            <a:extLst>
              <a:ext uri="{FF2B5EF4-FFF2-40B4-BE49-F238E27FC236}">
                <a16:creationId xmlns:a16="http://schemas.microsoft.com/office/drawing/2014/main" id="{BF9DC509-3C6B-6A5F-DB38-F1C581A61FDD}"/>
              </a:ext>
            </a:extLst>
          </p:cNvPr>
          <p:cNvSpPr txBox="1"/>
          <p:nvPr/>
        </p:nvSpPr>
        <p:spPr>
          <a:xfrm>
            <a:off x="227799" y="365103"/>
            <a:ext cx="9397982" cy="646331"/>
          </a:xfrm>
          <a:prstGeom prst="rect">
            <a:avLst/>
          </a:prstGeom>
          <a:noFill/>
        </p:spPr>
        <p:txBody>
          <a:bodyPr wrap="square">
            <a:spAutoFit/>
          </a:bodyPr>
          <a:lstStyle/>
          <a:p>
            <a:r>
              <a:rPr lang="es-ES" b="1" dirty="0"/>
              <a:t>Experimento 1</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prueba de </a:t>
            </a:r>
            <a:r>
              <a:rPr lang="es-CO" kern="100" dirty="0">
                <a:latin typeface="Aptos" panose="020B0004020202020204" pitchFamily="34" charset="0"/>
                <a:ea typeface="Aptos" panose="020B0004020202020204" pitchFamily="34" charset="0"/>
                <a:cs typeface="Times New Roman" panose="02020603050405020304" pitchFamily="18" charset="0"/>
              </a:rPr>
              <a:t>40</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minutos totales (10 min Fase 1 + </a:t>
            </a:r>
            <a:r>
              <a:rPr lang="es-CO" kern="100" dirty="0">
                <a:latin typeface="Aptos" panose="020B0004020202020204" pitchFamily="34" charset="0"/>
                <a:ea typeface="Aptos" panose="020B0004020202020204" pitchFamily="34" charset="0"/>
                <a:cs typeface="Times New Roman" panose="02020603050405020304" pitchFamily="18" charset="0"/>
              </a:rPr>
              <a:t>30 </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min Fase 2)</a:t>
            </a:r>
            <a:endParaRPr lang="es-CO" dirty="0"/>
          </a:p>
        </p:txBody>
      </p:sp>
    </p:spTree>
    <p:extLst>
      <p:ext uri="{BB962C8B-B14F-4D97-AF65-F5344CB8AC3E}">
        <p14:creationId xmlns:p14="http://schemas.microsoft.com/office/powerpoint/2010/main" val="3290957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3CAAAD46-1616-D4E6-FE37-433B1D043D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830" y="1019823"/>
            <a:ext cx="5702593" cy="3073558"/>
          </a:xfrm>
          <a:prstGeom prst="rect">
            <a:avLst/>
          </a:prstGeom>
        </p:spPr>
      </p:pic>
      <p:pic>
        <p:nvPicPr>
          <p:cNvPr id="7" name="Imagen 6">
            <a:extLst>
              <a:ext uri="{FF2B5EF4-FFF2-40B4-BE49-F238E27FC236}">
                <a16:creationId xmlns:a16="http://schemas.microsoft.com/office/drawing/2014/main" id="{5C81B36F-5D0C-8B5F-B2A0-6C8A19AFA0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830" y="4199275"/>
            <a:ext cx="11055918" cy="1339919"/>
          </a:xfrm>
          <a:prstGeom prst="rect">
            <a:avLst/>
          </a:prstGeom>
        </p:spPr>
      </p:pic>
      <p:pic>
        <p:nvPicPr>
          <p:cNvPr id="9" name="Imagen 8">
            <a:extLst>
              <a:ext uri="{FF2B5EF4-FFF2-40B4-BE49-F238E27FC236}">
                <a16:creationId xmlns:a16="http://schemas.microsoft.com/office/drawing/2014/main" id="{9125B49C-F587-0B84-5CF1-ECDA813A91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645088"/>
            <a:ext cx="9322279" cy="1212912"/>
          </a:xfrm>
          <a:prstGeom prst="rect">
            <a:avLst/>
          </a:prstGeom>
        </p:spPr>
      </p:pic>
      <p:pic>
        <p:nvPicPr>
          <p:cNvPr id="11" name="Imagen 10">
            <a:extLst>
              <a:ext uri="{FF2B5EF4-FFF2-40B4-BE49-F238E27FC236}">
                <a16:creationId xmlns:a16="http://schemas.microsoft.com/office/drawing/2014/main" id="{3162E6CB-C566-6C1D-0748-8E5F4DCED4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2423" y="1046983"/>
            <a:ext cx="6209577" cy="975144"/>
          </a:xfrm>
          <a:prstGeom prst="rect">
            <a:avLst/>
          </a:prstGeom>
        </p:spPr>
      </p:pic>
      <p:pic>
        <p:nvPicPr>
          <p:cNvPr id="13" name="Imagen 12">
            <a:extLst>
              <a:ext uri="{FF2B5EF4-FFF2-40B4-BE49-F238E27FC236}">
                <a16:creationId xmlns:a16="http://schemas.microsoft.com/office/drawing/2014/main" id="{63B193E8-4A59-627B-CC94-D7413C6D70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982423" y="2853513"/>
            <a:ext cx="5353325" cy="352536"/>
          </a:xfrm>
          <a:prstGeom prst="rect">
            <a:avLst/>
          </a:prstGeom>
        </p:spPr>
      </p:pic>
      <p:sp>
        <p:nvSpPr>
          <p:cNvPr id="15" name="CuadroTexto 14">
            <a:extLst>
              <a:ext uri="{FF2B5EF4-FFF2-40B4-BE49-F238E27FC236}">
                <a16:creationId xmlns:a16="http://schemas.microsoft.com/office/drawing/2014/main" id="{FC821D33-EBA0-60E4-50F9-D399982CACC4}"/>
              </a:ext>
            </a:extLst>
          </p:cNvPr>
          <p:cNvSpPr txBox="1"/>
          <p:nvPr/>
        </p:nvSpPr>
        <p:spPr>
          <a:xfrm>
            <a:off x="-6895070" y="-2350331"/>
            <a:ext cx="6895070" cy="6740307"/>
          </a:xfrm>
          <a:prstGeom prst="rect">
            <a:avLst/>
          </a:prstGeom>
          <a:noFill/>
        </p:spPr>
        <p:txBody>
          <a:bodyPr wrap="square">
            <a:spAutoFit/>
          </a:bodyPr>
          <a:lstStyle/>
          <a:p>
            <a:r>
              <a:rPr lang="es-ES" dirty="0"/>
              <a:t>Esta imagen muestra el panel de control (</a:t>
            </a:r>
            <a:r>
              <a:rPr lang="es-ES" i="1" dirty="0"/>
              <a:t>Management UI</a:t>
            </a:r>
            <a:r>
              <a:rPr lang="es-ES" dirty="0"/>
              <a:t>) de </a:t>
            </a:r>
            <a:r>
              <a:rPr lang="es-ES" dirty="0" err="1"/>
              <a:t>RabbitMQ</a:t>
            </a:r>
            <a:r>
              <a:rPr lang="es-ES" dirty="0"/>
              <a:t> en la sección de métricas de los últimos diez minutos (</a:t>
            </a:r>
            <a:r>
              <a:rPr lang="es-ES" i="1" dirty="0" err="1"/>
              <a:t>last</a:t>
            </a:r>
            <a:r>
              <a:rPr lang="es-ES" i="1" dirty="0"/>
              <a:t> ten minutes</a:t>
            </a:r>
            <a:r>
              <a:rPr lang="es-ES" dirty="0"/>
              <a:t>). </a:t>
            </a:r>
            <a:r>
              <a:rPr lang="es-ES" b="1" dirty="0"/>
              <a:t>Muestra el estado del tráfico y del almacenamiento de mensajes en una cola o nodo específico.</a:t>
            </a:r>
          </a:p>
          <a:p>
            <a:r>
              <a:rPr lang="es-ES" b="1" dirty="0" err="1"/>
              <a:t>Queued</a:t>
            </a:r>
            <a:r>
              <a:rPr lang="es-ES" b="1" dirty="0"/>
              <a:t> </a:t>
            </a:r>
            <a:r>
              <a:rPr lang="es-ES" b="1" dirty="0" err="1"/>
              <a:t>messages</a:t>
            </a:r>
            <a:r>
              <a:rPr lang="es-ES" b="1" dirty="0"/>
              <a:t> (Mensajes en cola)</a:t>
            </a:r>
          </a:p>
          <a:p>
            <a:r>
              <a:rPr lang="es-ES" dirty="0"/>
              <a:t>Muestra la cantidad de mensajes acumulados o retenidos en la cola a lo largo del tiempo.</a:t>
            </a:r>
          </a:p>
          <a:p>
            <a:pPr>
              <a:buFont typeface="Arial" panose="020B0604020202020204" pitchFamily="34" charset="0"/>
              <a:buChar char="•"/>
            </a:pPr>
            <a:r>
              <a:rPr lang="es-ES" dirty="0"/>
              <a:t>En el panel lateral actual marca </a:t>
            </a:r>
            <a:r>
              <a:rPr lang="es-ES" b="1" dirty="0"/>
              <a:t>0</a:t>
            </a:r>
            <a:r>
              <a:rPr lang="es-ES" dirty="0"/>
              <a:t> para todos los estados (no hay mensajes represados al instante exacto de la captura).</a:t>
            </a:r>
          </a:p>
          <a:p>
            <a:pPr>
              <a:buFont typeface="Arial" panose="020B0604020202020204" pitchFamily="34" charset="0"/>
              <a:buChar char="•"/>
            </a:pPr>
            <a:r>
              <a:rPr lang="es-ES" dirty="0"/>
              <a:t>La línea roja en la gráfica fluctuó entre 0 y 4 mensajes en los 10 minutos pasados. Esto indica un flujo donde los mensajes ingresan, pero son procesados casi de inmediato sin generar acumulación o cuellos de botella.</a:t>
            </a:r>
          </a:p>
          <a:p>
            <a:r>
              <a:rPr lang="es-ES" b="1" dirty="0" err="1"/>
              <a:t>Message</a:t>
            </a:r>
            <a:r>
              <a:rPr lang="es-ES" b="1" dirty="0"/>
              <a:t> </a:t>
            </a:r>
            <a:r>
              <a:rPr lang="es-ES" b="1" dirty="0" err="1"/>
              <a:t>rates</a:t>
            </a:r>
            <a:r>
              <a:rPr lang="es-ES" b="1" dirty="0"/>
              <a:t> (Tasa/Velocidad de mensajes)</a:t>
            </a:r>
          </a:p>
          <a:p>
            <a:r>
              <a:rPr lang="es-ES" dirty="0"/>
              <a:t>Muestra el rendimiento en tiempo real expresado en mensajes por segundo (</a:t>
            </a:r>
            <a:r>
              <a:rPr lang="es-ES" b="1" dirty="0"/>
              <a:t>/s</a:t>
            </a:r>
            <a:r>
              <a:rPr lang="es-ES" dirty="0"/>
              <a:t>).</a:t>
            </a:r>
          </a:p>
          <a:p>
            <a:pPr>
              <a:buFont typeface="Arial" panose="020B0604020202020204" pitchFamily="34" charset="0"/>
              <a:buChar char="•"/>
            </a:pPr>
            <a:r>
              <a:rPr lang="es-ES" dirty="0"/>
              <a:t>Hay un flujo estable y simétrico de </a:t>
            </a:r>
            <a:r>
              <a:rPr lang="es-ES" b="1" dirty="0"/>
              <a:t>106 mensajes por segundo</a:t>
            </a:r>
            <a:r>
              <a:rPr lang="es-ES" dirty="0"/>
              <a:t>.</a:t>
            </a:r>
          </a:p>
          <a:p>
            <a:pPr>
              <a:buFont typeface="Arial" panose="020B0604020202020204" pitchFamily="34" charset="0"/>
              <a:buChar char="•"/>
            </a:pPr>
            <a:r>
              <a:rPr lang="es-ES" dirty="0"/>
              <a:t>La entrada de datos (</a:t>
            </a:r>
            <a:r>
              <a:rPr lang="es-ES" b="1" dirty="0" err="1"/>
              <a:t>Publish</a:t>
            </a:r>
            <a:r>
              <a:rPr lang="es-ES" dirty="0"/>
              <a:t>) coincide exactamente con la entrega y confirmación de consumo (</a:t>
            </a:r>
            <a:r>
              <a:rPr lang="es-ES" b="1" dirty="0" err="1"/>
              <a:t>Deliver</a:t>
            </a:r>
            <a:r>
              <a:rPr lang="es-ES" b="1" dirty="0"/>
              <a:t> / </a:t>
            </a:r>
            <a:r>
              <a:rPr lang="es-ES" b="1" dirty="0" err="1"/>
              <a:t>Consumer</a:t>
            </a:r>
            <a:r>
              <a:rPr lang="es-ES" b="1" dirty="0"/>
              <a:t> </a:t>
            </a:r>
            <a:r>
              <a:rPr lang="es-ES" b="1" dirty="0" err="1"/>
              <a:t>ack</a:t>
            </a:r>
            <a:r>
              <a:rPr lang="es-ES" dirty="0"/>
              <a:t>).</a:t>
            </a:r>
          </a:p>
          <a:p>
            <a:r>
              <a:rPr lang="es-ES" b="1" dirty="0"/>
              <a:t>Diagnóstico del sistema</a:t>
            </a:r>
          </a:p>
          <a:p>
            <a:pPr>
              <a:buFont typeface="+mj-lt"/>
              <a:buAutoNum type="arabicPeriod"/>
            </a:pPr>
            <a:r>
              <a:rPr lang="es-ES" dirty="0"/>
              <a:t>Los consumidores están procesando los datos exactamente a la misma velocidad a la que los productores los envían (</a:t>
            </a:r>
            <a:r>
              <a:rPr lang="es-ES" b="1" dirty="0"/>
              <a:t>106 </a:t>
            </a:r>
            <a:r>
              <a:rPr lang="es-ES" b="1" dirty="0" err="1"/>
              <a:t>msgs</a:t>
            </a:r>
            <a:r>
              <a:rPr lang="es-ES" b="1" dirty="0"/>
              <a:t>/</a:t>
            </a:r>
            <a:r>
              <a:rPr lang="es-ES" b="1" dirty="0" err="1"/>
              <a:t>sec</a:t>
            </a:r>
            <a:r>
              <a:rPr lang="es-ES" dirty="0"/>
              <a:t>).</a:t>
            </a:r>
          </a:p>
          <a:p>
            <a:pPr>
              <a:buFont typeface="+mj-lt"/>
              <a:buAutoNum type="arabicPeriod"/>
            </a:pPr>
            <a:r>
              <a:rPr lang="es-ES" dirty="0"/>
              <a:t>No hay encolamiento de mensajes ni retrasos (</a:t>
            </a:r>
            <a:r>
              <a:rPr lang="es-ES" i="1" dirty="0"/>
              <a:t>backlog</a:t>
            </a:r>
            <a:r>
              <a:rPr lang="es-ES" dirty="0"/>
              <a:t>).</a:t>
            </a:r>
          </a:p>
        </p:txBody>
      </p:sp>
      <p:sp>
        <p:nvSpPr>
          <p:cNvPr id="16" name="CuadroTexto 15">
            <a:extLst>
              <a:ext uri="{FF2B5EF4-FFF2-40B4-BE49-F238E27FC236}">
                <a16:creationId xmlns:a16="http://schemas.microsoft.com/office/drawing/2014/main" id="{305A4BE9-AFBF-7DA7-78FD-B4EE164C8A01}"/>
              </a:ext>
            </a:extLst>
          </p:cNvPr>
          <p:cNvSpPr txBox="1"/>
          <p:nvPr/>
        </p:nvSpPr>
        <p:spPr>
          <a:xfrm>
            <a:off x="279830" y="188437"/>
            <a:ext cx="9397982" cy="646331"/>
          </a:xfrm>
          <a:prstGeom prst="rect">
            <a:avLst/>
          </a:prstGeom>
          <a:noFill/>
        </p:spPr>
        <p:txBody>
          <a:bodyPr wrap="square">
            <a:spAutoFit/>
          </a:bodyPr>
          <a:lstStyle/>
          <a:p>
            <a:r>
              <a:rPr lang="es-ES" b="1" dirty="0"/>
              <a:t>Experimento 1</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prueba de </a:t>
            </a:r>
            <a:r>
              <a:rPr lang="es-CO" kern="100" dirty="0">
                <a:latin typeface="Aptos" panose="020B0004020202020204" pitchFamily="34" charset="0"/>
                <a:ea typeface="Aptos" panose="020B0004020202020204" pitchFamily="34" charset="0"/>
                <a:cs typeface="Times New Roman" panose="02020603050405020304" pitchFamily="18" charset="0"/>
              </a:rPr>
              <a:t>40</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minutos totales (10 min Fase 1 + </a:t>
            </a:r>
            <a:r>
              <a:rPr lang="es-CO" kern="100" dirty="0">
                <a:latin typeface="Aptos" panose="020B0004020202020204" pitchFamily="34" charset="0"/>
                <a:ea typeface="Aptos" panose="020B0004020202020204" pitchFamily="34" charset="0"/>
                <a:cs typeface="Times New Roman" panose="02020603050405020304" pitchFamily="18" charset="0"/>
              </a:rPr>
              <a:t>30 </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min Fase 2)</a:t>
            </a:r>
            <a:endParaRPr lang="es-CO" dirty="0"/>
          </a:p>
        </p:txBody>
      </p:sp>
      <p:sp>
        <p:nvSpPr>
          <p:cNvPr id="18" name="CuadroTexto 17">
            <a:extLst>
              <a:ext uri="{FF2B5EF4-FFF2-40B4-BE49-F238E27FC236}">
                <a16:creationId xmlns:a16="http://schemas.microsoft.com/office/drawing/2014/main" id="{89A94484-8598-1ED6-0F3C-5B506D790C46}"/>
              </a:ext>
            </a:extLst>
          </p:cNvPr>
          <p:cNvSpPr txBox="1"/>
          <p:nvPr/>
        </p:nvSpPr>
        <p:spPr>
          <a:xfrm>
            <a:off x="-6895070" y="4417367"/>
            <a:ext cx="6694654" cy="1477328"/>
          </a:xfrm>
          <a:prstGeom prst="rect">
            <a:avLst/>
          </a:prstGeom>
          <a:noFill/>
        </p:spPr>
        <p:txBody>
          <a:bodyPr wrap="square">
            <a:spAutoFit/>
          </a:bodyPr>
          <a:lstStyle/>
          <a:p>
            <a:r>
              <a:rPr lang="es-ES" b="1" dirty="0"/>
              <a:t>El nodo de </a:t>
            </a:r>
            <a:r>
              <a:rPr lang="es-ES" b="1" dirty="0" err="1"/>
              <a:t>RabbitMQ</a:t>
            </a:r>
            <a:r>
              <a:rPr lang="es-ES" b="1" dirty="0"/>
              <a:t> está perfectamente sano y holgado</a:t>
            </a:r>
            <a:r>
              <a:rPr lang="es-ES" dirty="0"/>
              <a:t>. No tiene problemas de recursos de hardware (RAM/CPU/Disco). El represamiento de mensajes </a:t>
            </a:r>
            <a:r>
              <a:rPr lang="es-ES" b="1" dirty="0"/>
              <a:t>no es culpa de la infraestructura del </a:t>
            </a:r>
            <a:r>
              <a:rPr lang="es-ES" b="1" dirty="0" err="1"/>
              <a:t>broker</a:t>
            </a:r>
            <a:r>
              <a:rPr lang="es-ES" dirty="0"/>
              <a:t>, sino de la capacidad de procesamiento de la aplicación/consumidores.</a:t>
            </a:r>
            <a:endParaRPr lang="es-CO" dirty="0"/>
          </a:p>
        </p:txBody>
      </p:sp>
      <p:sp>
        <p:nvSpPr>
          <p:cNvPr id="19" name="Rectangle 1">
            <a:extLst>
              <a:ext uri="{FF2B5EF4-FFF2-40B4-BE49-F238E27FC236}">
                <a16:creationId xmlns:a16="http://schemas.microsoft.com/office/drawing/2014/main" id="{90BB81A6-8C9D-A6F0-FFD6-EEE14E5D8450}"/>
              </a:ext>
            </a:extLst>
          </p:cNvPr>
          <p:cNvSpPr>
            <a:spLocks noChangeArrowheads="1"/>
          </p:cNvSpPr>
          <p:nvPr/>
        </p:nvSpPr>
        <p:spPr bwMode="auto">
          <a:xfrm>
            <a:off x="-1243012" y="7235950"/>
            <a:ext cx="1333475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CO" altLang="es-CO" dirty="0"/>
              <a:t>Explica exactamente el flujo de tu </a:t>
            </a:r>
            <a:r>
              <a:rPr lang="es-CO" altLang="es-CO" dirty="0" err="1"/>
              <a:t>Engine</a:t>
            </a:r>
            <a:r>
              <a:rPr lang="es-CO" altLang="es-CO" dirty="0"/>
              <a:t> Motor: </a:t>
            </a:r>
          </a:p>
          <a:p>
            <a:pPr marL="0" marR="0" lvl="0" indent="0" algn="l" defTabSz="914400" rtl="0" eaLnBrk="0" fontAlgn="base" latinLnBrk="0" hangingPunct="0">
              <a:lnSpc>
                <a:spcPct val="100000"/>
              </a:lnSpc>
              <a:spcBef>
                <a:spcPct val="0"/>
              </a:spcBef>
              <a:spcAft>
                <a:spcPct val="0"/>
              </a:spcAft>
              <a:buClrTx/>
              <a:buSzTx/>
              <a:buFontTx/>
              <a:buNone/>
              <a:tabLst/>
            </a:pPr>
            <a:r>
              <a:rPr lang="es-CO" altLang="es-CO" dirty="0"/>
              <a:t>La API Gateway/</a:t>
            </a:r>
            <a:r>
              <a:rPr lang="es-CO" altLang="es-CO" dirty="0" err="1"/>
              <a:t>Locust</a:t>
            </a:r>
            <a:r>
              <a:rPr lang="es-CO" altLang="es-CO" dirty="0"/>
              <a:t> inyecta las órdenes en </a:t>
            </a:r>
            <a:r>
              <a:rPr lang="es-CO" altLang="es-CO" dirty="0" err="1"/>
              <a:t>orders_buffer</a:t>
            </a:r>
            <a:r>
              <a:rPr lang="es-CO" altLang="es-CO" dirty="0"/>
              <a:t>, y el motor de emparejamiento (</a:t>
            </a:r>
            <a:r>
              <a:rPr lang="es-CO" altLang="es-CO" dirty="0" err="1"/>
              <a:t>Engine</a:t>
            </a:r>
            <a:r>
              <a:rPr lang="es-CO" altLang="es-CO" dirty="0"/>
              <a:t> Motor) las consume al instante. Aquí no hay latencia ni encolamiento.</a:t>
            </a:r>
          </a:p>
          <a:p>
            <a:pPr marL="0" marR="0" lvl="0" indent="0" algn="l" defTabSz="914400" rtl="0" eaLnBrk="0" fontAlgn="base" latinLnBrk="0" hangingPunct="0">
              <a:lnSpc>
                <a:spcPct val="100000"/>
              </a:lnSpc>
              <a:spcBef>
                <a:spcPct val="0"/>
              </a:spcBef>
              <a:spcAft>
                <a:spcPct val="0"/>
              </a:spcAft>
              <a:buClrTx/>
              <a:buSzTx/>
              <a:tabLst/>
            </a:pPr>
            <a:r>
              <a:rPr lang="es-CO" altLang="es-CO" dirty="0"/>
              <a:t>El </a:t>
            </a:r>
            <a:r>
              <a:rPr lang="es-CO" altLang="es-CO" dirty="0" err="1"/>
              <a:t>Engine</a:t>
            </a:r>
            <a:r>
              <a:rPr lang="es-CO" altLang="es-CO" dirty="0"/>
              <a:t> Motor procesa las órdenes y genera los </a:t>
            </a:r>
            <a:r>
              <a:rPr lang="es-CO" altLang="es-CO" dirty="0" err="1"/>
              <a:t>trades</a:t>
            </a:r>
            <a:r>
              <a:rPr lang="es-CO" altLang="es-CO" dirty="0"/>
              <a:t>, publicándolos en </a:t>
            </a:r>
            <a:r>
              <a:rPr lang="es-CO" altLang="es-CO" dirty="0" err="1"/>
              <a:t>trade_confirmations</a:t>
            </a:r>
            <a:r>
              <a:rPr lang="es-CO" altLang="es-CO" dirty="0"/>
              <a:t>. Sin embargo, el servicio consumidor encargado de guardar en base de datos, notificar al usuario o procesar las confirmaciones está completamente desbordado (0 </a:t>
            </a:r>
            <a:r>
              <a:rPr lang="es-CO" altLang="es-CO" dirty="0" err="1"/>
              <a:t>msgs</a:t>
            </a:r>
            <a:r>
              <a:rPr lang="es-CO" altLang="es-CO" dirty="0"/>
              <a:t>/s consumidos).</a:t>
            </a:r>
          </a:p>
        </p:txBody>
      </p:sp>
    </p:spTree>
    <p:extLst>
      <p:ext uri="{BB962C8B-B14F-4D97-AF65-F5344CB8AC3E}">
        <p14:creationId xmlns:p14="http://schemas.microsoft.com/office/powerpoint/2010/main" val="786597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uadroTexto 8">
            <a:extLst>
              <a:ext uri="{FF2B5EF4-FFF2-40B4-BE49-F238E27FC236}">
                <a16:creationId xmlns:a16="http://schemas.microsoft.com/office/drawing/2014/main" id="{3FB0B995-73CA-3668-F24E-4B18BC50FC74}"/>
              </a:ext>
            </a:extLst>
          </p:cNvPr>
          <p:cNvSpPr txBox="1"/>
          <p:nvPr/>
        </p:nvSpPr>
        <p:spPr>
          <a:xfrm>
            <a:off x="227799" y="365103"/>
            <a:ext cx="6230874" cy="646331"/>
          </a:xfrm>
          <a:prstGeom prst="rect">
            <a:avLst/>
          </a:prstGeom>
          <a:noFill/>
        </p:spPr>
        <p:txBody>
          <a:bodyPr wrap="square">
            <a:spAutoFit/>
          </a:bodyPr>
          <a:lstStyle/>
          <a:p>
            <a:r>
              <a:rPr lang="es-ES" b="1" dirty="0"/>
              <a:t>Experimento 2</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prueba de </a:t>
            </a:r>
            <a:r>
              <a:rPr lang="es-CO" kern="100" dirty="0">
                <a:latin typeface="Aptos" panose="020B0004020202020204" pitchFamily="34" charset="0"/>
                <a:ea typeface="Aptos" panose="020B0004020202020204" pitchFamily="34" charset="0"/>
                <a:cs typeface="Times New Roman" panose="02020603050405020304" pitchFamily="18" charset="0"/>
              </a:rPr>
              <a:t>40</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minutos totales (10 min Fase 1 + </a:t>
            </a:r>
            <a:r>
              <a:rPr lang="es-CO" kern="100" dirty="0">
                <a:latin typeface="Aptos" panose="020B0004020202020204" pitchFamily="34" charset="0"/>
                <a:ea typeface="Aptos" panose="020B0004020202020204" pitchFamily="34" charset="0"/>
                <a:cs typeface="Times New Roman" panose="02020603050405020304" pitchFamily="18" charset="0"/>
              </a:rPr>
              <a:t>30 </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min Fase 2)</a:t>
            </a:r>
            <a:endParaRPr lang="es-CO" dirty="0"/>
          </a:p>
        </p:txBody>
      </p:sp>
      <p:sp>
        <p:nvSpPr>
          <p:cNvPr id="12" name="CuadroTexto 11">
            <a:extLst>
              <a:ext uri="{FF2B5EF4-FFF2-40B4-BE49-F238E27FC236}">
                <a16:creationId xmlns:a16="http://schemas.microsoft.com/office/drawing/2014/main" id="{D4A2C516-7EA1-4DFF-0F40-7A48C819DCE9}"/>
              </a:ext>
            </a:extLst>
          </p:cNvPr>
          <p:cNvSpPr txBox="1"/>
          <p:nvPr/>
        </p:nvSpPr>
        <p:spPr>
          <a:xfrm>
            <a:off x="227799" y="1166842"/>
            <a:ext cx="5642580" cy="5632311"/>
          </a:xfrm>
          <a:prstGeom prst="rect">
            <a:avLst/>
          </a:prstGeom>
          <a:noFill/>
        </p:spPr>
        <p:txBody>
          <a:bodyPr wrap="square">
            <a:spAutoFit/>
          </a:bodyPr>
          <a:lstStyle/>
          <a:p>
            <a:r>
              <a:rPr lang="es-CO" dirty="0"/>
              <a:t>Respuesta termino la prueba. Escuchando 1000 </a:t>
            </a:r>
            <a:r>
              <a:rPr lang="es-CO" dirty="0" err="1"/>
              <a:t>traders</a:t>
            </a:r>
            <a:r>
              <a:rPr lang="es-CO" dirty="0"/>
              <a:t> en confirmation-dispatcher:8090 durante </a:t>
            </a:r>
            <a:r>
              <a:rPr lang="pt-BR" dirty="0"/>
              <a:t> 2400s (Fase 1: 0-600s, Fase 2: 600-2400s)...</a:t>
            </a:r>
          </a:p>
          <a:p>
            <a:r>
              <a:rPr lang="es-CO" dirty="0"/>
              <a:t>FASE 1 (línea base) (n=75532)</a:t>
            </a:r>
          </a:p>
          <a:p>
            <a:r>
              <a:rPr lang="es-CO" dirty="0"/>
              <a:t>  p50: 3.36 ms</a:t>
            </a:r>
          </a:p>
          <a:p>
            <a:r>
              <a:rPr lang="es-CO" dirty="0"/>
              <a:t>  p95: 6.89 ms  (objetivo: &lt;= 350ms) -&gt; CUMPLIDA</a:t>
            </a:r>
          </a:p>
          <a:p>
            <a:r>
              <a:rPr lang="es-CO" dirty="0"/>
              <a:t>  p99: 9.68 ms</a:t>
            </a:r>
          </a:p>
          <a:p>
            <a:r>
              <a:rPr lang="es-CO" dirty="0"/>
              <a:t>  </a:t>
            </a:r>
            <a:r>
              <a:rPr lang="es-CO" dirty="0" err="1"/>
              <a:t>max</a:t>
            </a:r>
            <a:r>
              <a:rPr lang="es-CO" dirty="0"/>
              <a:t>: 121.07 ms</a:t>
            </a:r>
          </a:p>
          <a:p>
            <a:endParaRPr lang="es-CO" dirty="0"/>
          </a:p>
          <a:p>
            <a:r>
              <a:rPr lang="es-CO" dirty="0"/>
              <a:t>FASE 2 (pico) (n=126566)</a:t>
            </a:r>
          </a:p>
          <a:p>
            <a:r>
              <a:rPr lang="es-CO" dirty="0"/>
              <a:t>  p50: 3.29 ms</a:t>
            </a:r>
          </a:p>
          <a:p>
            <a:r>
              <a:rPr lang="es-CO" dirty="0"/>
              <a:t>  p95: 6.62 ms  (objetivo: &lt;= 350ms) -&gt; CUMPLIDA</a:t>
            </a:r>
          </a:p>
          <a:p>
            <a:r>
              <a:rPr lang="es-CO" dirty="0"/>
              <a:t>  p99: 8.93 ms</a:t>
            </a:r>
          </a:p>
          <a:p>
            <a:r>
              <a:rPr lang="es-CO" dirty="0"/>
              <a:t>  </a:t>
            </a:r>
            <a:r>
              <a:rPr lang="es-CO" dirty="0" err="1"/>
              <a:t>max</a:t>
            </a:r>
            <a:r>
              <a:rPr lang="es-CO" dirty="0"/>
              <a:t>: 277.08 ms</a:t>
            </a:r>
          </a:p>
          <a:p>
            <a:endParaRPr lang="es-CO" dirty="0"/>
          </a:p>
          <a:p>
            <a:r>
              <a:rPr lang="es-CO" dirty="0"/>
              <a:t>TOTAL (ambas fases mezcladas, referencia) (n=202098)</a:t>
            </a:r>
          </a:p>
          <a:p>
            <a:r>
              <a:rPr lang="es-CO" dirty="0"/>
              <a:t>  p50: 3.32 ms</a:t>
            </a:r>
          </a:p>
          <a:p>
            <a:r>
              <a:rPr lang="es-CO" dirty="0"/>
              <a:t>  p95: 6.72 ms  (objetivo: &lt;= 350ms) -&gt; CUMPLIDA</a:t>
            </a:r>
          </a:p>
          <a:p>
            <a:r>
              <a:rPr lang="es-CO" dirty="0"/>
              <a:t>  p99: 9.20 ms</a:t>
            </a:r>
          </a:p>
          <a:p>
            <a:r>
              <a:rPr lang="es-CO" dirty="0"/>
              <a:t>  </a:t>
            </a:r>
            <a:r>
              <a:rPr lang="es-CO" dirty="0" err="1"/>
              <a:t>max</a:t>
            </a:r>
            <a:r>
              <a:rPr lang="es-CO" dirty="0"/>
              <a:t>: 277.08 ms</a:t>
            </a:r>
          </a:p>
        </p:txBody>
      </p:sp>
      <p:sp>
        <p:nvSpPr>
          <p:cNvPr id="3" name="CuadroTexto 2">
            <a:extLst>
              <a:ext uri="{FF2B5EF4-FFF2-40B4-BE49-F238E27FC236}">
                <a16:creationId xmlns:a16="http://schemas.microsoft.com/office/drawing/2014/main" id="{DEFA4AEF-BD2A-EDC6-C272-E6E6BBB0A19D}"/>
              </a:ext>
            </a:extLst>
          </p:cNvPr>
          <p:cNvSpPr txBox="1"/>
          <p:nvPr/>
        </p:nvSpPr>
        <p:spPr>
          <a:xfrm>
            <a:off x="6655664" y="2691792"/>
            <a:ext cx="5465216" cy="4247317"/>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b="1" i="0" dirty="0">
                <a:effectLst/>
                <a:latin typeface="anthropic-sans"/>
              </a:rPr>
              <a:t>FASE 2: CUMPLE </a:t>
            </a:r>
            <a:r>
              <a:rPr lang="es-CO" altLang="es-CO" kern="100" dirty="0">
                <a:latin typeface="Aptos" panose="020B0004020202020204" pitchFamily="34" charset="0"/>
                <a:cs typeface="Times New Roman" panose="02020603050405020304" pitchFamily="18" charset="0"/>
              </a:rPr>
              <a:t>p95 = 6.60ms sobre 169.232 muestras (≈94 confirmaciones/s ≈ 2.821 </a:t>
            </a:r>
            <a:r>
              <a:rPr lang="es-CO" altLang="es-CO" kern="100" dirty="0" err="1">
                <a:latin typeface="Aptos" panose="020B0004020202020204" pitchFamily="34" charset="0"/>
                <a:cs typeface="Times New Roman" panose="02020603050405020304" pitchFamily="18" charset="0"/>
              </a:rPr>
              <a:t>matches</a:t>
            </a:r>
            <a:r>
              <a:rPr lang="es-CO" altLang="es-CO" kern="100" dirty="0">
                <a:latin typeface="Aptos" panose="020B0004020202020204" pitchFamily="34" charset="0"/>
                <a:cs typeface="Times New Roman" panose="02020603050405020304" pitchFamily="18" charset="0"/>
              </a:rPr>
              <a:t>/min). También cero muestras por encima de 350ms.</a:t>
            </a:r>
          </a:p>
          <a:p>
            <a:pPr marL="0" marR="0" lvl="0" indent="0" algn="l" defTabSz="914400" rtl="0" eaLnBrk="0" fontAlgn="base" latinLnBrk="0" hangingPunct="0">
              <a:lnSpc>
                <a:spcPct val="100000"/>
              </a:lnSpc>
              <a:spcBef>
                <a:spcPct val="0"/>
              </a:spcBef>
              <a:spcAft>
                <a:spcPct val="0"/>
              </a:spcAft>
              <a:buClrTx/>
              <a:buSzTx/>
              <a:buFontTx/>
              <a:buNone/>
              <a:tabLst/>
            </a:pPr>
            <a:endParaRPr lang="es-CO" altLang="es-CO" kern="100" dirty="0">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CO" altLang="es-CO" kern="100" dirty="0">
                <a:latin typeface="Aptos" panose="020B0004020202020204" pitchFamily="34" charset="0"/>
                <a:cs typeface="Times New Roman" panose="02020603050405020304" pitchFamily="18" charset="0"/>
              </a:rPr>
              <a:t>El volumen de confirmaciones en Fase 2 fue 4.3 veces mayor que en Fase 1 (169.232 vs 39.272), y sin embargo el p95 no empeoró — mejoró levemente (6.60ms vs 6.71ms). </a:t>
            </a:r>
          </a:p>
          <a:p>
            <a:pPr marL="0" marR="0" lvl="0" indent="0" algn="l" defTabSz="914400" rtl="0" eaLnBrk="0" fontAlgn="base" latinLnBrk="0" hangingPunct="0">
              <a:lnSpc>
                <a:spcPct val="100000"/>
              </a:lnSpc>
              <a:spcBef>
                <a:spcPct val="0"/>
              </a:spcBef>
              <a:spcAft>
                <a:spcPct val="0"/>
              </a:spcAft>
              <a:buClrTx/>
              <a:buSzTx/>
              <a:buFontTx/>
              <a:buNone/>
              <a:tabLst/>
            </a:pPr>
            <a:endParaRPr lang="es-CO" altLang="es-CO" kern="100" dirty="0">
              <a:latin typeface="Aptos" panose="020B0004020202020204" pitchFamily="34"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lang="es-CO" altLang="es-CO" kern="100" dirty="0">
                <a:latin typeface="Aptos" panose="020B0004020202020204" pitchFamily="34" charset="0"/>
                <a:cs typeface="Times New Roman" panose="02020603050405020304" pitchFamily="18" charset="0"/>
              </a:rPr>
              <a:t>El aislamiento del canal transaccional evita contención con el tráfico de difusión general. Si el canal de confirmaciones compartiera recursos con el resto del sistema, más volumen debería traducirse en más latencia.</a:t>
            </a:r>
          </a:p>
        </p:txBody>
      </p:sp>
      <p:sp>
        <p:nvSpPr>
          <p:cNvPr id="8" name="Rectangle 2">
            <a:extLst>
              <a:ext uri="{FF2B5EF4-FFF2-40B4-BE49-F238E27FC236}">
                <a16:creationId xmlns:a16="http://schemas.microsoft.com/office/drawing/2014/main" id="{4364DA67-AB76-1F20-C52C-C9EE5F41949A}"/>
              </a:ext>
            </a:extLst>
          </p:cNvPr>
          <p:cNvSpPr>
            <a:spLocks noChangeArrowheads="1"/>
          </p:cNvSpPr>
          <p:nvPr/>
        </p:nvSpPr>
        <p:spPr bwMode="auto">
          <a:xfrm>
            <a:off x="6655664" y="292028"/>
            <a:ext cx="553633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s-ES" b="1" i="0" dirty="0">
                <a:effectLst/>
                <a:latin typeface="anthropic-sans"/>
              </a:rPr>
              <a:t>FASE 1: CUMPLE  </a:t>
            </a:r>
            <a:r>
              <a:rPr lang="es-CO" altLang="es-CO" kern="100" dirty="0">
                <a:latin typeface="Aptos" panose="020B0004020202020204" pitchFamily="34" charset="0"/>
                <a:cs typeface="Times New Roman" panose="02020603050405020304" pitchFamily="18" charset="0"/>
              </a:rPr>
              <a:t>p95 = 6.71ms sobre 39.272 muestras (≈65.5 confirmaciones/s ≈ 1.964 </a:t>
            </a:r>
            <a:r>
              <a:rPr lang="es-CO" altLang="es-CO" kern="100" dirty="0" err="1">
                <a:latin typeface="Aptos" panose="020B0004020202020204" pitchFamily="34" charset="0"/>
                <a:cs typeface="Times New Roman" panose="02020603050405020304" pitchFamily="18" charset="0"/>
              </a:rPr>
              <a:t>matches</a:t>
            </a:r>
            <a:r>
              <a:rPr lang="es-CO" altLang="es-CO" kern="100" dirty="0">
                <a:latin typeface="Aptos" panose="020B0004020202020204" pitchFamily="34" charset="0"/>
                <a:cs typeface="Times New Roman" panose="02020603050405020304" pitchFamily="18" charset="0"/>
              </a:rPr>
              <a:t>/min). Cero muestras por encima de 350ms.</a:t>
            </a:r>
          </a:p>
          <a:p>
            <a:pPr marL="0" marR="0" lvl="0" indent="0" algn="l" defTabSz="914400" rtl="0" eaLnBrk="0" fontAlgn="base" latinLnBrk="0" hangingPunct="0">
              <a:lnSpc>
                <a:spcPct val="100000"/>
              </a:lnSpc>
              <a:spcBef>
                <a:spcPct val="0"/>
              </a:spcBef>
              <a:spcAft>
                <a:spcPct val="0"/>
              </a:spcAft>
              <a:buClrTx/>
              <a:buSzTx/>
              <a:buFontTx/>
              <a:buNone/>
              <a:tabLst/>
            </a:pPr>
            <a:r>
              <a:rPr lang="es-CO" altLang="es-CO" kern="100" dirty="0">
                <a:latin typeface="Aptos" panose="020B0004020202020204" pitchFamily="34" charset="0"/>
                <a:cs typeface="Times New Roman" panose="02020603050405020304" pitchFamily="18" charset="0"/>
              </a:rPr>
              <a:t>Con este volumen, cada uno de los tres tramos del canal transaccional, publicación al </a:t>
            </a:r>
            <a:r>
              <a:rPr lang="es-CO" altLang="es-CO" kern="100" dirty="0" err="1">
                <a:latin typeface="Aptos" panose="020B0004020202020204" pitchFamily="34" charset="0"/>
                <a:cs typeface="Times New Roman" panose="02020603050405020304" pitchFamily="18" charset="0"/>
              </a:rPr>
              <a:t>exchange</a:t>
            </a:r>
            <a:r>
              <a:rPr lang="es-CO" altLang="es-CO" kern="100" dirty="0">
                <a:latin typeface="Aptos" panose="020B0004020202020204" pitchFamily="34" charset="0"/>
                <a:cs typeface="Times New Roman" panose="02020603050405020304" pitchFamily="18" charset="0"/>
              </a:rPr>
              <a:t> dedicado </a:t>
            </a:r>
            <a:r>
              <a:rPr lang="es-CO" altLang="es-CO" kern="100" dirty="0" err="1">
                <a:latin typeface="Aptos" panose="020B0004020202020204" pitchFamily="34" charset="0"/>
                <a:cs typeface="Times New Roman" panose="02020603050405020304" pitchFamily="18" charset="0"/>
              </a:rPr>
              <a:t>trade_events</a:t>
            </a:r>
            <a:r>
              <a:rPr lang="es-CO" altLang="es-CO" kern="100" dirty="0">
                <a:latin typeface="Aptos" panose="020B0004020202020204" pitchFamily="34" charset="0"/>
                <a:cs typeface="Times New Roman" panose="02020603050405020304" pitchFamily="18" charset="0"/>
              </a:rPr>
              <a:t>, verificación de idempotencia en Redis y entrega por </a:t>
            </a:r>
            <a:r>
              <a:rPr lang="es-CO" altLang="es-CO" kern="100" dirty="0" err="1">
                <a:latin typeface="Aptos" panose="020B0004020202020204" pitchFamily="34" charset="0"/>
                <a:cs typeface="Times New Roman" panose="02020603050405020304" pitchFamily="18" charset="0"/>
              </a:rPr>
              <a:t>WebSocket</a:t>
            </a:r>
            <a:r>
              <a:rPr lang="es-CO" altLang="es-CO" kern="100" dirty="0">
                <a:latin typeface="Aptos" panose="020B0004020202020204" pitchFamily="34" charset="0"/>
                <a:cs typeface="Times New Roman" panose="02020603050405020304" pitchFamily="18" charset="0"/>
              </a:rPr>
              <a:t> no compite por recursos con nada más.</a:t>
            </a:r>
          </a:p>
        </p:txBody>
      </p:sp>
    </p:spTree>
    <p:extLst>
      <p:ext uri="{BB962C8B-B14F-4D97-AF65-F5344CB8AC3E}">
        <p14:creationId xmlns:p14="http://schemas.microsoft.com/office/powerpoint/2010/main" val="903218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FA4AEE2-56F3-AC43-BD18-24E16D7CC4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9830" y="952807"/>
            <a:ext cx="5959045" cy="1010079"/>
          </a:xfrm>
          <a:prstGeom prst="rect">
            <a:avLst/>
          </a:prstGeom>
        </p:spPr>
      </p:pic>
      <p:pic>
        <p:nvPicPr>
          <p:cNvPr id="5" name="Imagen 4">
            <a:extLst>
              <a:ext uri="{FF2B5EF4-FFF2-40B4-BE49-F238E27FC236}">
                <a16:creationId xmlns:a16="http://schemas.microsoft.com/office/drawing/2014/main" id="{B9CC1396-01A4-EA21-6D5A-E6CB2131B8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7106" y="2019913"/>
            <a:ext cx="5664491" cy="3105310"/>
          </a:xfrm>
          <a:prstGeom prst="rect">
            <a:avLst/>
          </a:prstGeom>
        </p:spPr>
      </p:pic>
      <p:pic>
        <p:nvPicPr>
          <p:cNvPr id="6" name="Imagen 5">
            <a:extLst>
              <a:ext uri="{FF2B5EF4-FFF2-40B4-BE49-F238E27FC236}">
                <a16:creationId xmlns:a16="http://schemas.microsoft.com/office/drawing/2014/main" id="{EDCDDC75-A031-1767-43BC-293FD1534EB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90" y="6008734"/>
            <a:ext cx="6012423" cy="489213"/>
          </a:xfrm>
          <a:prstGeom prst="rect">
            <a:avLst/>
          </a:prstGeom>
        </p:spPr>
      </p:pic>
      <p:sp>
        <p:nvSpPr>
          <p:cNvPr id="7" name="CuadroTexto 6">
            <a:extLst>
              <a:ext uri="{FF2B5EF4-FFF2-40B4-BE49-F238E27FC236}">
                <a16:creationId xmlns:a16="http://schemas.microsoft.com/office/drawing/2014/main" id="{1B2D6437-DE57-3C42-5033-51F339F94802}"/>
              </a:ext>
            </a:extLst>
          </p:cNvPr>
          <p:cNvSpPr txBox="1"/>
          <p:nvPr/>
        </p:nvSpPr>
        <p:spPr>
          <a:xfrm>
            <a:off x="279830" y="188437"/>
            <a:ext cx="9397982" cy="646331"/>
          </a:xfrm>
          <a:prstGeom prst="rect">
            <a:avLst/>
          </a:prstGeom>
          <a:noFill/>
        </p:spPr>
        <p:txBody>
          <a:bodyPr wrap="square">
            <a:spAutoFit/>
          </a:bodyPr>
          <a:lstStyle/>
          <a:p>
            <a:r>
              <a:rPr lang="es-ES" b="1" dirty="0"/>
              <a:t>Experimento 2</a:t>
            </a:r>
          </a:p>
          <a:p>
            <a:r>
              <a:rPr lang="es-CO" sz="1800" kern="100" dirty="0">
                <a:effectLst/>
                <a:latin typeface="Aptos" panose="020B0004020202020204" pitchFamily="34" charset="0"/>
                <a:ea typeface="Aptos" panose="020B0004020202020204" pitchFamily="34" charset="0"/>
                <a:cs typeface="Times New Roman" panose="02020603050405020304" pitchFamily="18" charset="0"/>
              </a:rPr>
              <a:t>prueba de </a:t>
            </a:r>
            <a:r>
              <a:rPr lang="es-CO" kern="100" dirty="0">
                <a:latin typeface="Aptos" panose="020B0004020202020204" pitchFamily="34" charset="0"/>
                <a:ea typeface="Aptos" panose="020B0004020202020204" pitchFamily="34" charset="0"/>
                <a:cs typeface="Times New Roman" panose="02020603050405020304" pitchFamily="18" charset="0"/>
              </a:rPr>
              <a:t>40</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 minutos totales (10 min Fase 1 + </a:t>
            </a:r>
            <a:r>
              <a:rPr lang="es-CO" kern="100" dirty="0">
                <a:latin typeface="Aptos" panose="020B0004020202020204" pitchFamily="34" charset="0"/>
                <a:ea typeface="Aptos" panose="020B0004020202020204" pitchFamily="34" charset="0"/>
                <a:cs typeface="Times New Roman" panose="02020603050405020304" pitchFamily="18" charset="0"/>
              </a:rPr>
              <a:t>30 </a:t>
            </a:r>
            <a:r>
              <a:rPr lang="es-CO" sz="1800" kern="100" dirty="0">
                <a:effectLst/>
                <a:latin typeface="Aptos" panose="020B0004020202020204" pitchFamily="34" charset="0"/>
                <a:ea typeface="Aptos" panose="020B0004020202020204" pitchFamily="34" charset="0"/>
                <a:cs typeface="Times New Roman" panose="02020603050405020304" pitchFamily="18" charset="0"/>
              </a:rPr>
              <a:t>min Fase 2)</a:t>
            </a:r>
            <a:endParaRPr lang="es-CO" dirty="0"/>
          </a:p>
        </p:txBody>
      </p:sp>
      <p:pic>
        <p:nvPicPr>
          <p:cNvPr id="9" name="Imagen 8">
            <a:extLst>
              <a:ext uri="{FF2B5EF4-FFF2-40B4-BE49-F238E27FC236}">
                <a16:creationId xmlns:a16="http://schemas.microsoft.com/office/drawing/2014/main" id="{092B36AB-0AF8-E25A-BE72-2F6DE7D360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5125223"/>
            <a:ext cx="6100405" cy="702294"/>
          </a:xfrm>
          <a:prstGeom prst="rect">
            <a:avLst/>
          </a:prstGeom>
        </p:spPr>
      </p:pic>
      <p:pic>
        <p:nvPicPr>
          <p:cNvPr id="11" name="Imagen 10">
            <a:extLst>
              <a:ext uri="{FF2B5EF4-FFF2-40B4-BE49-F238E27FC236}">
                <a16:creationId xmlns:a16="http://schemas.microsoft.com/office/drawing/2014/main" id="{DA97A362-6415-F889-0464-18F95050E08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29838" y="1312954"/>
            <a:ext cx="5747592" cy="649932"/>
          </a:xfrm>
          <a:prstGeom prst="rect">
            <a:avLst/>
          </a:prstGeom>
        </p:spPr>
      </p:pic>
      <p:pic>
        <p:nvPicPr>
          <p:cNvPr id="15" name="Imagen 14">
            <a:extLst>
              <a:ext uri="{FF2B5EF4-FFF2-40B4-BE49-F238E27FC236}">
                <a16:creationId xmlns:a16="http://schemas.microsoft.com/office/drawing/2014/main" id="{0F38B73B-CDCD-7BF3-7612-3B6E5509F33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38875" y="4866524"/>
            <a:ext cx="5953125" cy="747169"/>
          </a:xfrm>
          <a:prstGeom prst="rect">
            <a:avLst/>
          </a:prstGeom>
        </p:spPr>
      </p:pic>
      <p:pic>
        <p:nvPicPr>
          <p:cNvPr id="17" name="Imagen 16">
            <a:extLst>
              <a:ext uri="{FF2B5EF4-FFF2-40B4-BE49-F238E27FC236}">
                <a16:creationId xmlns:a16="http://schemas.microsoft.com/office/drawing/2014/main" id="{7FBAE715-B940-B52B-8CB2-0A0DD23C6CC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73916" y="2033704"/>
            <a:ext cx="5283042" cy="2790591"/>
          </a:xfrm>
          <a:prstGeom prst="rect">
            <a:avLst/>
          </a:prstGeom>
        </p:spPr>
      </p:pic>
    </p:spTree>
    <p:extLst>
      <p:ext uri="{BB962C8B-B14F-4D97-AF65-F5344CB8AC3E}">
        <p14:creationId xmlns:p14="http://schemas.microsoft.com/office/powerpoint/2010/main" val="292049862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491</TotalTime>
  <Words>2053</Words>
  <Application>Microsoft Office PowerPoint</Application>
  <PresentationFormat>Panorámica</PresentationFormat>
  <Paragraphs>165</Paragraphs>
  <Slides>10</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10</vt:i4>
      </vt:variant>
    </vt:vector>
  </HeadingPairs>
  <TitlesOfParts>
    <vt:vector size="16" baseType="lpstr">
      <vt:lpstr>anthropic-sans</vt:lpstr>
      <vt:lpstr>Aptos</vt:lpstr>
      <vt:lpstr>Aptos Display</vt:lpstr>
      <vt:lpstr>Arial</vt:lpstr>
      <vt:lpstr>Arial Unicode MS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Andres Atila Ardila Quiñonez</dc:creator>
  <cp:lastModifiedBy>Andres Atila Ardila Quiñonez</cp:lastModifiedBy>
  <cp:revision>16</cp:revision>
  <dcterms:created xsi:type="dcterms:W3CDTF">2026-09-06T14:18:40Z</dcterms:created>
  <dcterms:modified xsi:type="dcterms:W3CDTF">2026-09-08T02:12:09Z</dcterms:modified>
</cp:coreProperties>
</file>