
<file path=[Content_Types].xml><?xml version="1.0" encoding="utf-8"?>
<Types xmlns="http://schemas.openxmlformats.org/package/2006/content-types">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68" r:id="rId4"/>
    <p:sldId id="258" r:id="rId5"/>
    <p:sldId id="269" r:id="rId6"/>
    <p:sldId id="270" r:id="rId7"/>
    <p:sldId id="259" r:id="rId8"/>
    <p:sldId id="271" r:id="rId9"/>
    <p:sldId id="260" r:id="rId10"/>
    <p:sldId id="272" r:id="rId11"/>
    <p:sldId id="261" r:id="rId12"/>
    <p:sldId id="262" r:id="rId13"/>
    <p:sldId id="263" r:id="rId14"/>
    <p:sldId id="264" r:id="rId15"/>
    <p:sldId id="265" r:id="rId16"/>
    <p:sldId id="266" r:id="rId17"/>
    <p:sldId id="267"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8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8404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55DEC-C8F0-2072-2C21-7134F2349E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8B1C44-D175-9635-F306-D534EC8CDD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78025A-BE6C-AE63-C604-9D7BFE3259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7AFD42-BA65-785A-E844-EC7F7F2332B7}"/>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815916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606FB-3D25-A21D-BFF4-68626862D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2E04A-3ACF-67E5-99D8-6691129FE2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25BB75-D6F5-D609-58B4-F89EBF2DBF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517C87-F51D-F136-EECF-898B3ABA10E4}"/>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6777621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AAF30-8C97-0D7E-EBEE-DB0ADA4F10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48A24-5867-C393-2757-186B215006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C3A221-F148-952F-C28D-68E52DDD34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41A31F-B788-CEA4-FCEC-6C958A60D735}"/>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072676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9A81E-2FA3-2498-08D2-95C936338F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ED833-FA44-13D5-6BBB-6B1558DCDF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F52AA0-6281-A89C-1917-2C315160C5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9C44A7-F920-1B5A-E90D-AD31C631AC9F}"/>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3672537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localhost:15672/"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localhost:8089/"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tmp"/><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tmp"/></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tmp"/><Relationship Id="rId7" Type="http://schemas.openxmlformats.org/officeDocument/2006/relationships/image" Target="../media/image9.tmp"/><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tmp"/><Relationship Id="rId5" Type="http://schemas.openxmlformats.org/officeDocument/2006/relationships/image" Target="../media/image7.tmp"/><Relationship Id="rId4" Type="http://schemas.openxmlformats.org/officeDocument/2006/relationships/image" Target="../media/image6.tm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5.tmp"/><Relationship Id="rId3" Type="http://schemas.openxmlformats.org/officeDocument/2006/relationships/image" Target="../media/image10.png"/><Relationship Id="rId7" Type="http://schemas.openxmlformats.org/officeDocument/2006/relationships/image" Target="../media/image14.tmp"/><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tmp"/><Relationship Id="rId5" Type="http://schemas.openxmlformats.org/officeDocument/2006/relationships/image" Target="../media/image12.tmp"/><Relationship Id="rId4" Type="http://schemas.openxmlformats.org/officeDocument/2006/relationships/image" Target="../media/image11.tmp"/><Relationship Id="rId9" Type="http://schemas.openxmlformats.org/officeDocument/2006/relationships/image" Target="../media/image16.tmp"/></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4A7F"/>
        </a:solidFill>
        <a:effectLst/>
      </p:bgPr>
    </p:bg>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marL="0" indent="0" algn="l">
              <a:buNone/>
            </a:pPr>
            <a:r>
              <a:rPr lang="es-419" sz="4800" b="1" noProof="0" dirty="0">
                <a:solidFill>
                  <a:srgbClr val="FFFFFF"/>
                </a:solidFill>
                <a:latin typeface="Calibri" pitchFamily="34" charset="0"/>
                <a:ea typeface="Calibri" pitchFamily="34" charset="-122"/>
                <a:cs typeface="Calibri" pitchFamily="34" charset="-120"/>
              </a:rPr>
              <a:t>Reto 1: Experimento Latencia</a:t>
            </a:r>
            <a:endParaRPr lang="es-419" sz="4800" noProof="0" dirty="0"/>
          </a:p>
        </p:txBody>
      </p:sp>
      <p:sp>
        <p:nvSpPr>
          <p:cNvPr id="3" name="Text 1"/>
          <p:cNvSpPr/>
          <p:nvPr/>
        </p:nvSpPr>
        <p:spPr>
          <a:xfrm>
            <a:off x="457200" y="2377440"/>
            <a:ext cx="8229600" cy="731520"/>
          </a:xfrm>
          <a:prstGeom prst="rect">
            <a:avLst/>
          </a:prstGeom>
          <a:noFill/>
          <a:ln/>
        </p:spPr>
        <p:txBody>
          <a:bodyPr wrap="square" rtlCol="0" anchor="ctr"/>
          <a:lstStyle/>
          <a:p>
            <a:pPr marL="0" indent="0" algn="l">
              <a:buNone/>
            </a:pPr>
            <a:r>
              <a:rPr lang="es-419" sz="3200" noProof="0" dirty="0">
                <a:solidFill>
                  <a:srgbClr val="E8F1F7"/>
                </a:solidFill>
                <a:latin typeface="Calibri" pitchFamily="34" charset="0"/>
                <a:ea typeface="Calibri" pitchFamily="34" charset="-122"/>
                <a:cs typeface="Calibri" pitchFamily="34" charset="-120"/>
              </a:rPr>
              <a:t>Pruebas de latencia bajo carga normal y pico</a:t>
            </a:r>
            <a:endParaRPr lang="es-419" sz="3200" noProof="0" dirty="0"/>
          </a:p>
        </p:txBody>
      </p:sp>
      <p:sp>
        <p:nvSpPr>
          <p:cNvPr id="4" name="Shape 2"/>
          <p:cNvSpPr/>
          <p:nvPr/>
        </p:nvSpPr>
        <p:spPr>
          <a:xfrm>
            <a:off x="457200" y="3291840"/>
            <a:ext cx="1371600" cy="73152"/>
          </a:xfrm>
          <a:prstGeom prst="rect">
            <a:avLst/>
          </a:prstGeom>
          <a:solidFill>
            <a:srgbClr val="E67E22"/>
          </a:solidFill>
          <a:ln/>
        </p:spPr>
        <p:txBody>
          <a:bodyPr/>
          <a:lstStyle/>
          <a:p>
            <a:endParaRPr lang="es-419"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s-419" sz="4000" b="1" noProof="0" dirty="0">
                <a:solidFill>
                  <a:srgbClr val="0A4A7F"/>
                </a:solidFill>
                <a:latin typeface="Calibri" pitchFamily="34" charset="0"/>
                <a:ea typeface="Calibri" pitchFamily="34" charset="-122"/>
                <a:cs typeface="Calibri" pitchFamily="34" charset="-120"/>
              </a:rPr>
              <a:t>Arquitectura del </a:t>
            </a:r>
            <a:r>
              <a:rPr lang="es-419" sz="4000" b="1" noProof="0" dirty="0" err="1">
                <a:solidFill>
                  <a:srgbClr val="0A4A7F"/>
                </a:solidFill>
                <a:latin typeface="Calibri" pitchFamily="34" charset="0"/>
                <a:ea typeface="Calibri" pitchFamily="34" charset="-122"/>
                <a:cs typeface="Calibri" pitchFamily="34" charset="-120"/>
              </a:rPr>
              <a:t>Matching</a:t>
            </a:r>
            <a:r>
              <a:rPr lang="es-419" sz="4000" b="1" noProof="0" dirty="0">
                <a:solidFill>
                  <a:srgbClr val="0A4A7F"/>
                </a:solidFill>
                <a:latin typeface="Calibri" pitchFamily="34" charset="0"/>
                <a:ea typeface="Calibri" pitchFamily="34" charset="-122"/>
                <a:cs typeface="Calibri" pitchFamily="34" charset="-120"/>
              </a:rPr>
              <a:t> </a:t>
            </a:r>
            <a:r>
              <a:rPr lang="es-419" sz="4000" b="1" noProof="0" dirty="0" err="1">
                <a:solidFill>
                  <a:srgbClr val="0A4A7F"/>
                </a:solidFill>
                <a:latin typeface="Calibri" pitchFamily="34" charset="0"/>
                <a:ea typeface="Calibri" pitchFamily="34" charset="-122"/>
                <a:cs typeface="Calibri" pitchFamily="34" charset="-120"/>
              </a:rPr>
              <a:t>Engine</a:t>
            </a:r>
            <a:endParaRPr lang="es-419" sz="4000" noProof="0" dirty="0"/>
          </a:p>
        </p:txBody>
      </p:sp>
      <p:sp>
        <p:nvSpPr>
          <p:cNvPr id="3" name="Text 1"/>
          <p:cNvSpPr/>
          <p:nvPr/>
        </p:nvSpPr>
        <p:spPr>
          <a:xfrm>
            <a:off x="457200" y="960120"/>
            <a:ext cx="8229600" cy="320040"/>
          </a:xfrm>
          <a:prstGeom prst="rect">
            <a:avLst/>
          </a:prstGeom>
          <a:noFill/>
          <a:ln/>
        </p:spPr>
        <p:txBody>
          <a:bodyPr wrap="square" rtlCol="0" anchor="ctr"/>
          <a:lstStyle/>
          <a:p>
            <a:pPr marL="0" indent="0">
              <a:buNone/>
            </a:pPr>
            <a:r>
              <a:rPr lang="es-419" sz="1600" noProof="0" dirty="0">
                <a:solidFill>
                  <a:srgbClr val="666666"/>
                </a:solidFill>
                <a:latin typeface="Calibri" pitchFamily="34" charset="0"/>
                <a:ea typeface="Calibri" pitchFamily="34" charset="-122"/>
                <a:cs typeface="Calibri" pitchFamily="34" charset="-120"/>
              </a:rPr>
              <a:t>Dos tácticas arquitectónicas complementarias</a:t>
            </a:r>
            <a:endParaRPr lang="es-419" sz="1600" noProof="0" dirty="0"/>
          </a:p>
        </p:txBody>
      </p:sp>
      <p:sp>
        <p:nvSpPr>
          <p:cNvPr id="4" name="Text 2"/>
          <p:cNvSpPr/>
          <p:nvPr/>
        </p:nvSpPr>
        <p:spPr>
          <a:xfrm>
            <a:off x="457200" y="1153247"/>
            <a:ext cx="8229600" cy="822960"/>
          </a:xfrm>
          <a:prstGeom prst="rect">
            <a:avLst/>
          </a:prstGeom>
          <a:noFill/>
          <a:ln/>
        </p:spPr>
        <p:txBody>
          <a:bodyPr wrap="square" rtlCol="0" anchor="ctr"/>
          <a:lstStyle/>
          <a:p>
            <a:pPr marL="0" indent="0">
              <a:buNone/>
            </a:pPr>
            <a:r>
              <a:rPr lang="es-419" sz="1300" noProof="0" dirty="0">
                <a:solidFill>
                  <a:srgbClr val="1A1A1A"/>
                </a:solidFill>
                <a:latin typeface="Calibri" pitchFamily="34" charset="0"/>
                <a:ea typeface="Calibri" pitchFamily="34" charset="-122"/>
                <a:cs typeface="Calibri" pitchFamily="34" charset="-120"/>
              </a:rPr>
              <a:t>Una única arquitectura de </a:t>
            </a:r>
            <a:r>
              <a:rPr lang="es-419" sz="1300" noProof="0" dirty="0" err="1">
                <a:solidFill>
                  <a:srgbClr val="1A1A1A"/>
                </a:solidFill>
                <a:latin typeface="Calibri" pitchFamily="34" charset="0"/>
                <a:ea typeface="Calibri" pitchFamily="34" charset="-122"/>
                <a:cs typeface="Calibri" pitchFamily="34" charset="-120"/>
              </a:rPr>
              <a:t>Matching</a:t>
            </a:r>
            <a:r>
              <a:rPr lang="es-419" sz="1300" noProof="0" dirty="0">
                <a:solidFill>
                  <a:srgbClr val="1A1A1A"/>
                </a:solidFill>
                <a:latin typeface="Calibri" pitchFamily="34" charset="0"/>
                <a:ea typeface="Calibri" pitchFamily="34" charset="-122"/>
                <a:cs typeface="Calibri" pitchFamily="34" charset="-120"/>
              </a:rPr>
              <a:t> </a:t>
            </a:r>
            <a:r>
              <a:rPr lang="es-419" sz="1300" noProof="0" dirty="0" err="1">
                <a:solidFill>
                  <a:srgbClr val="1A1A1A"/>
                </a:solidFill>
                <a:latin typeface="Calibri" pitchFamily="34" charset="0"/>
                <a:ea typeface="Calibri" pitchFamily="34" charset="-122"/>
                <a:cs typeface="Calibri" pitchFamily="34" charset="-120"/>
              </a:rPr>
              <a:t>Engine</a:t>
            </a:r>
            <a:r>
              <a:rPr lang="es-419" sz="1300" noProof="0" dirty="0">
                <a:solidFill>
                  <a:srgbClr val="1A1A1A"/>
                </a:solidFill>
                <a:latin typeface="Calibri" pitchFamily="34" charset="0"/>
                <a:ea typeface="Calibri" pitchFamily="34" charset="-122"/>
                <a:cs typeface="Calibri" pitchFamily="34" charset="-120"/>
              </a:rPr>
              <a:t> implementa dos tácticas arquitectónicas complementarias: Amortiguación Asíncrona mediante un </a:t>
            </a:r>
            <a:r>
              <a:rPr lang="es-419" sz="1300" noProof="0" dirty="0" err="1">
                <a:solidFill>
                  <a:srgbClr val="1A1A1A"/>
                </a:solidFill>
                <a:latin typeface="Calibri" pitchFamily="34" charset="0"/>
                <a:ea typeface="Calibri" pitchFamily="34" charset="-122"/>
                <a:cs typeface="Calibri" pitchFamily="34" charset="-120"/>
              </a:rPr>
              <a:t>broker</a:t>
            </a:r>
            <a:r>
              <a:rPr lang="es-419" sz="1300" noProof="0" dirty="0">
                <a:solidFill>
                  <a:srgbClr val="1A1A1A"/>
                </a:solidFill>
                <a:latin typeface="Calibri" pitchFamily="34" charset="0"/>
                <a:ea typeface="Calibri" pitchFamily="34" charset="-122"/>
                <a:cs typeface="Calibri" pitchFamily="34" charset="-120"/>
              </a:rPr>
              <a:t> de mensajería para absorber picos de entrada, y procesamiento en memoria para mantener la velocidad del </a:t>
            </a:r>
            <a:r>
              <a:rPr lang="es-419" sz="1300" noProof="0" dirty="0" err="1">
                <a:solidFill>
                  <a:srgbClr val="1A1A1A"/>
                </a:solidFill>
                <a:latin typeface="Calibri" pitchFamily="34" charset="0"/>
                <a:ea typeface="Calibri" pitchFamily="34" charset="-122"/>
                <a:cs typeface="Calibri" pitchFamily="34" charset="-120"/>
              </a:rPr>
              <a:t>matching</a:t>
            </a:r>
            <a:r>
              <a:rPr lang="es-419" sz="1300" noProof="0" dirty="0">
                <a:solidFill>
                  <a:srgbClr val="1A1A1A"/>
                </a:solidFill>
                <a:latin typeface="Calibri" pitchFamily="34" charset="0"/>
                <a:ea typeface="Calibri" pitchFamily="34" charset="-122"/>
                <a:cs typeface="Calibri" pitchFamily="34" charset="-120"/>
              </a:rPr>
              <a:t>.</a:t>
            </a:r>
            <a:endParaRPr lang="es-419" sz="1300" noProof="0" dirty="0"/>
          </a:p>
        </p:txBody>
      </p:sp>
      <p:sp>
        <p:nvSpPr>
          <p:cNvPr id="5" name="Text 3"/>
          <p:cNvSpPr/>
          <p:nvPr/>
        </p:nvSpPr>
        <p:spPr>
          <a:xfrm>
            <a:off x="457200" y="1693611"/>
            <a:ext cx="8229600" cy="822960"/>
          </a:xfrm>
          <a:prstGeom prst="rect">
            <a:avLst/>
          </a:prstGeom>
          <a:noFill/>
          <a:ln/>
        </p:spPr>
        <p:txBody>
          <a:bodyPr wrap="square" rtlCol="0" anchor="ctr"/>
          <a:lstStyle/>
          <a:p>
            <a:pPr marL="0" indent="0">
              <a:buNone/>
            </a:pPr>
            <a:r>
              <a:rPr lang="es-419" sz="1300" noProof="0" dirty="0">
                <a:solidFill>
                  <a:srgbClr val="1A1A1A"/>
                </a:solidFill>
                <a:latin typeface="Calibri" pitchFamily="34" charset="0"/>
                <a:ea typeface="Calibri" pitchFamily="34" charset="-122"/>
                <a:cs typeface="Calibri" pitchFamily="34" charset="-120"/>
              </a:rPr>
              <a:t>Adicionalmente, incorpora un canal transaccional de alta prioridad, verificación de idempotencia en memoria y distribución mediante </a:t>
            </a:r>
            <a:r>
              <a:rPr lang="es-419" sz="1300" noProof="0" dirty="0" err="1">
                <a:solidFill>
                  <a:srgbClr val="1A1A1A"/>
                </a:solidFill>
                <a:latin typeface="Calibri" pitchFamily="34" charset="0"/>
                <a:ea typeface="Calibri" pitchFamily="34" charset="-122"/>
                <a:cs typeface="Calibri" pitchFamily="34" charset="-120"/>
              </a:rPr>
              <a:t>WebSocket</a:t>
            </a:r>
            <a:r>
              <a:rPr lang="es-419" sz="1300" noProof="0" dirty="0">
                <a:solidFill>
                  <a:srgbClr val="1A1A1A"/>
                </a:solidFill>
                <a:latin typeface="Calibri" pitchFamily="34" charset="0"/>
                <a:ea typeface="Calibri" pitchFamily="34" charset="-122"/>
                <a:cs typeface="Calibri" pitchFamily="34" charset="-120"/>
              </a:rPr>
              <a:t> para garantizar la entrega oportuna de las confirmaciones.</a:t>
            </a:r>
            <a:endParaRPr lang="es-419" sz="1300" noProof="0" dirty="0"/>
          </a:p>
        </p:txBody>
      </p:sp>
      <p:sp>
        <p:nvSpPr>
          <p:cNvPr id="6" name="Shape 4"/>
          <p:cNvSpPr/>
          <p:nvPr/>
        </p:nvSpPr>
        <p:spPr>
          <a:xfrm>
            <a:off x="457200" y="2626930"/>
            <a:ext cx="3326524" cy="2219390"/>
          </a:xfrm>
          <a:prstGeom prst="roundRect">
            <a:avLst/>
          </a:prstGeom>
          <a:solidFill>
            <a:srgbClr val="E8F1F7"/>
          </a:solidFill>
          <a:ln w="25400">
            <a:solidFill>
              <a:srgbClr val="0A4A7F"/>
            </a:solidFill>
            <a:prstDash val="solid"/>
          </a:ln>
        </p:spPr>
        <p:txBody>
          <a:bodyPr/>
          <a:lstStyle/>
          <a:p>
            <a:endParaRPr lang="es-419" noProof="0" dirty="0"/>
          </a:p>
        </p:txBody>
      </p:sp>
      <p:sp>
        <p:nvSpPr>
          <p:cNvPr id="7" name="Text 5"/>
          <p:cNvSpPr/>
          <p:nvPr/>
        </p:nvSpPr>
        <p:spPr>
          <a:xfrm>
            <a:off x="640080" y="2654782"/>
            <a:ext cx="3657600" cy="320040"/>
          </a:xfrm>
          <a:prstGeom prst="rect">
            <a:avLst/>
          </a:prstGeom>
          <a:noFill/>
          <a:ln/>
        </p:spPr>
        <p:txBody>
          <a:bodyPr wrap="square" rtlCol="0" anchor="ctr"/>
          <a:lstStyle/>
          <a:p>
            <a:pPr marL="0" indent="0">
              <a:buNone/>
            </a:pPr>
            <a:r>
              <a:rPr lang="es-419" sz="1400" b="1" noProof="0" dirty="0">
                <a:solidFill>
                  <a:srgbClr val="0A4A7F"/>
                </a:solidFill>
                <a:latin typeface="Calibri" pitchFamily="34" charset="0"/>
                <a:ea typeface="Calibri" pitchFamily="34" charset="-122"/>
                <a:cs typeface="Calibri" pitchFamily="34" charset="-120"/>
              </a:rPr>
              <a:t>TÁCTICA: Amortiguación Asíncrona</a:t>
            </a:r>
            <a:endParaRPr lang="es-419" sz="1400" noProof="0" dirty="0"/>
          </a:p>
        </p:txBody>
      </p:sp>
      <p:sp>
        <p:nvSpPr>
          <p:cNvPr id="8" name="Text 6"/>
          <p:cNvSpPr/>
          <p:nvPr/>
        </p:nvSpPr>
        <p:spPr>
          <a:xfrm>
            <a:off x="640080" y="2989931"/>
            <a:ext cx="2995445" cy="1764949"/>
          </a:xfrm>
          <a:prstGeom prst="rect">
            <a:avLst/>
          </a:prstGeom>
          <a:noFill/>
          <a:ln/>
        </p:spPr>
        <p:txBody>
          <a:bodyPr wrap="square" rtlCol="0" anchor="ctr"/>
          <a:lstStyle/>
          <a:p>
            <a:pPr marL="171450" indent="-171450">
              <a:buFont typeface="Arial" panose="020B0604020202020204" pitchFamily="34" charset="0"/>
              <a:buChar char="•"/>
            </a:pPr>
            <a:r>
              <a:rPr lang="es-419" sz="1200" dirty="0" err="1">
                <a:solidFill>
                  <a:srgbClr val="1A1A1A"/>
                </a:solidFill>
                <a:latin typeface="Calibri" pitchFamily="34" charset="0"/>
                <a:ea typeface="Calibri" pitchFamily="34" charset="-122"/>
                <a:cs typeface="Calibri" pitchFamily="34" charset="-120"/>
              </a:rPr>
              <a:t>Message</a:t>
            </a:r>
            <a:r>
              <a:rPr lang="es-419" sz="1200" dirty="0">
                <a:solidFill>
                  <a:srgbClr val="1A1A1A"/>
                </a:solidFill>
                <a:latin typeface="Calibri" pitchFamily="34" charset="0"/>
                <a:ea typeface="Calibri" pitchFamily="34" charset="-122"/>
                <a:cs typeface="Calibri" pitchFamily="34" charset="-120"/>
              </a:rPr>
              <a:t> Broker para absorber picos</a:t>
            </a:r>
          </a:p>
          <a:p>
            <a:pPr marL="171450" indent="-171450">
              <a:buFont typeface="Arial" panose="020B0604020202020204" pitchFamily="34" charset="0"/>
              <a:buChar char="•"/>
            </a:pPr>
            <a:r>
              <a:rPr lang="es-419" sz="1200" dirty="0" err="1">
                <a:solidFill>
                  <a:srgbClr val="1A1A1A"/>
                </a:solidFill>
                <a:latin typeface="Calibri" pitchFamily="34" charset="0"/>
                <a:ea typeface="Calibri" pitchFamily="34" charset="-122"/>
                <a:cs typeface="Calibri" pitchFamily="34" charset="-120"/>
              </a:rPr>
              <a:t>Matching</a:t>
            </a:r>
            <a:r>
              <a:rPr lang="es-419" sz="1200" dirty="0">
                <a:solidFill>
                  <a:srgbClr val="1A1A1A"/>
                </a:solidFill>
                <a:latin typeface="Calibri" pitchFamily="34" charset="0"/>
                <a:ea typeface="Calibri" pitchFamily="34" charset="-122"/>
                <a:cs typeface="Calibri" pitchFamily="34" charset="-120"/>
              </a:rPr>
              <a:t> </a:t>
            </a:r>
            <a:r>
              <a:rPr lang="es-419" sz="1200" dirty="0" err="1">
                <a:solidFill>
                  <a:srgbClr val="1A1A1A"/>
                </a:solidFill>
                <a:latin typeface="Calibri" pitchFamily="34" charset="0"/>
                <a:ea typeface="Calibri" pitchFamily="34" charset="-122"/>
                <a:cs typeface="Calibri" pitchFamily="34" charset="-120"/>
              </a:rPr>
              <a:t>Engine</a:t>
            </a:r>
            <a:endParaRPr lang="es-419" sz="1200" dirty="0">
              <a:solidFill>
                <a:srgbClr val="1A1A1A"/>
              </a:solidFill>
              <a:latin typeface="Calibri" pitchFamily="34" charset="0"/>
              <a:ea typeface="Calibri" pitchFamily="34" charset="-122"/>
              <a:cs typeface="Calibri" pitchFamily="34" charset="-120"/>
            </a:endParaRPr>
          </a:p>
          <a:p>
            <a:pPr marL="171450" indent="-171450">
              <a:buFont typeface="Arial" panose="020B0604020202020204" pitchFamily="34" charset="0"/>
              <a:buChar char="•"/>
            </a:pPr>
            <a:r>
              <a:rPr lang="es-419" sz="1200" dirty="0">
                <a:solidFill>
                  <a:srgbClr val="1A1A1A"/>
                </a:solidFill>
                <a:latin typeface="Calibri" pitchFamily="34" charset="0"/>
                <a:ea typeface="Calibri" pitchFamily="34" charset="-122"/>
                <a:cs typeface="Calibri" pitchFamily="34" charset="-120"/>
              </a:rPr>
              <a:t>1300 </a:t>
            </a:r>
            <a:r>
              <a:rPr lang="es-CO" sz="1200" dirty="0">
                <a:solidFill>
                  <a:srgbClr val="1A1A1A"/>
                </a:solidFill>
                <a:latin typeface="Calibri" pitchFamily="34" charset="0"/>
                <a:ea typeface="Calibri" pitchFamily="34" charset="-122"/>
                <a:cs typeface="Calibri" pitchFamily="34" charset="-120"/>
              </a:rPr>
              <a:t>→ 1600 ordenes / min</a:t>
            </a:r>
          </a:p>
          <a:p>
            <a:pPr marL="171450" indent="-171450">
              <a:buFont typeface="Arial" panose="020B0604020202020204" pitchFamily="34" charset="0"/>
              <a:buChar char="•"/>
            </a:pPr>
            <a:r>
              <a:rPr lang="es-CO" sz="1200" dirty="0">
                <a:solidFill>
                  <a:srgbClr val="1A1A1A"/>
                </a:solidFill>
                <a:latin typeface="Calibri" pitchFamily="34" charset="0"/>
                <a:ea typeface="Calibri" pitchFamily="34" charset="-122"/>
                <a:cs typeface="Calibri" pitchFamily="34" charset="-120"/>
              </a:rPr>
              <a:t>30 </a:t>
            </a:r>
            <a:r>
              <a:rPr lang="es-CO" sz="1200" dirty="0" err="1">
                <a:solidFill>
                  <a:srgbClr val="1A1A1A"/>
                </a:solidFill>
                <a:latin typeface="Calibri" pitchFamily="34" charset="0"/>
                <a:ea typeface="Calibri" pitchFamily="34" charset="-122"/>
                <a:cs typeface="Calibri" pitchFamily="34" charset="-120"/>
              </a:rPr>
              <a:t>mins</a:t>
            </a:r>
            <a:endParaRPr lang="es-CO" sz="1200" dirty="0">
              <a:solidFill>
                <a:srgbClr val="1A1A1A"/>
              </a:solidFill>
              <a:latin typeface="Calibri" pitchFamily="34" charset="0"/>
              <a:ea typeface="Calibri" pitchFamily="34" charset="-122"/>
              <a:cs typeface="Calibri" pitchFamily="34" charset="-120"/>
            </a:endParaRPr>
          </a:p>
          <a:p>
            <a:pPr marL="171450" indent="-171450">
              <a:buFont typeface="Arial" panose="020B0604020202020204" pitchFamily="34" charset="0"/>
              <a:buChar char="•"/>
            </a:pPr>
            <a:r>
              <a:rPr lang="es-CO" sz="1200" dirty="0" err="1">
                <a:solidFill>
                  <a:srgbClr val="1A1A1A"/>
                </a:solidFill>
                <a:latin typeface="Calibri" pitchFamily="34" charset="0"/>
                <a:ea typeface="Calibri" pitchFamily="34" charset="-122"/>
                <a:cs typeface="Calibri" pitchFamily="34" charset="-120"/>
              </a:rPr>
              <a:t>Matching</a:t>
            </a:r>
            <a:r>
              <a:rPr lang="es-CO" sz="1200" dirty="0">
                <a:solidFill>
                  <a:srgbClr val="1A1A1A"/>
                </a:solidFill>
                <a:latin typeface="Calibri" pitchFamily="34" charset="0"/>
                <a:ea typeface="Calibri" pitchFamily="34" charset="-122"/>
                <a:cs typeface="Calibri" pitchFamily="34" charset="-120"/>
              </a:rPr>
              <a:t> ≤ 200 ms </a:t>
            </a:r>
          </a:p>
          <a:p>
            <a:pPr marL="171450" indent="-171450">
              <a:buFont typeface="Arial" panose="020B0604020202020204" pitchFamily="34" charset="0"/>
              <a:buChar char="•"/>
            </a:pPr>
            <a:r>
              <a:rPr lang="es-CO" sz="1200" dirty="0">
                <a:solidFill>
                  <a:srgbClr val="1A1A1A"/>
                </a:solidFill>
                <a:latin typeface="Calibri" pitchFamily="34" charset="0"/>
                <a:ea typeface="Calibri" pitchFamily="34" charset="-122"/>
                <a:cs typeface="Calibri" pitchFamily="34" charset="-120"/>
              </a:rPr>
              <a:t>0% pérdida</a:t>
            </a:r>
            <a:endParaRPr lang="es-419" sz="1200" dirty="0">
              <a:solidFill>
                <a:srgbClr val="1A1A1A"/>
              </a:solidFill>
              <a:latin typeface="Calibri" pitchFamily="34" charset="0"/>
              <a:ea typeface="Calibri" pitchFamily="34" charset="-122"/>
              <a:cs typeface="Calibri" pitchFamily="34" charset="-120"/>
            </a:endParaRPr>
          </a:p>
          <a:p>
            <a:pPr marL="171450" indent="-171450">
              <a:buFont typeface="Arial" panose="020B0604020202020204" pitchFamily="34" charset="0"/>
              <a:buChar char="•"/>
            </a:pPr>
            <a:r>
              <a:rPr lang="es-419" sz="1200" noProof="0" dirty="0">
                <a:solidFill>
                  <a:srgbClr val="1A1A1A"/>
                </a:solidFill>
                <a:latin typeface="Calibri" pitchFamily="34" charset="0"/>
                <a:ea typeface="Calibri" pitchFamily="34" charset="-122"/>
                <a:cs typeface="Calibri" pitchFamily="34" charset="-120"/>
              </a:rPr>
              <a:t>Absorción de ráfagas</a:t>
            </a:r>
            <a:endParaRPr lang="es-419" sz="1200" noProof="0" dirty="0"/>
          </a:p>
        </p:txBody>
      </p:sp>
      <p:sp>
        <p:nvSpPr>
          <p:cNvPr id="9" name="Shape 7"/>
          <p:cNvSpPr/>
          <p:nvPr/>
        </p:nvSpPr>
        <p:spPr>
          <a:xfrm>
            <a:off x="5360278" y="2639673"/>
            <a:ext cx="3509402" cy="2206647"/>
          </a:xfrm>
          <a:prstGeom prst="roundRect">
            <a:avLst/>
          </a:prstGeom>
          <a:solidFill>
            <a:srgbClr val="FFF3E0"/>
          </a:solidFill>
          <a:ln w="25400">
            <a:solidFill>
              <a:srgbClr val="E67E22"/>
            </a:solidFill>
            <a:prstDash val="solid"/>
          </a:ln>
        </p:spPr>
        <p:txBody>
          <a:bodyPr/>
          <a:lstStyle/>
          <a:p>
            <a:endParaRPr lang="es-419" noProof="0" dirty="0"/>
          </a:p>
        </p:txBody>
      </p:sp>
      <p:sp>
        <p:nvSpPr>
          <p:cNvPr id="10" name="Text 8"/>
          <p:cNvSpPr/>
          <p:nvPr/>
        </p:nvSpPr>
        <p:spPr>
          <a:xfrm>
            <a:off x="5486400" y="2645059"/>
            <a:ext cx="3657600" cy="320040"/>
          </a:xfrm>
          <a:prstGeom prst="rect">
            <a:avLst/>
          </a:prstGeom>
          <a:noFill/>
          <a:ln/>
        </p:spPr>
        <p:txBody>
          <a:bodyPr wrap="square" rtlCol="0" anchor="ctr"/>
          <a:lstStyle/>
          <a:p>
            <a:pPr marL="0" indent="0">
              <a:buNone/>
            </a:pPr>
            <a:r>
              <a:rPr lang="es-419" sz="1400" b="1" noProof="0" dirty="0">
                <a:solidFill>
                  <a:srgbClr val="E67E22"/>
                </a:solidFill>
                <a:latin typeface="Calibri" pitchFamily="34" charset="0"/>
                <a:ea typeface="Calibri" pitchFamily="34" charset="-122"/>
                <a:cs typeface="Calibri" pitchFamily="34" charset="-120"/>
              </a:rPr>
              <a:t>TÁCTICA: Canal Transaccional Prioritario</a:t>
            </a:r>
            <a:endParaRPr lang="es-419" sz="1400" noProof="0" dirty="0"/>
          </a:p>
        </p:txBody>
      </p:sp>
      <p:sp>
        <p:nvSpPr>
          <p:cNvPr id="11" name="Text 9"/>
          <p:cNvSpPr/>
          <p:nvPr/>
        </p:nvSpPr>
        <p:spPr>
          <a:xfrm>
            <a:off x="5486400" y="2974822"/>
            <a:ext cx="3200400" cy="1780058"/>
          </a:xfrm>
          <a:prstGeom prst="rect">
            <a:avLst/>
          </a:prstGeom>
          <a:noFill/>
          <a:ln/>
        </p:spPr>
        <p:txBody>
          <a:bodyPr wrap="square" rtlCol="0" anchor="ctr"/>
          <a:lstStyle/>
          <a:p>
            <a:pPr marL="171450" indent="-171450">
              <a:buFont typeface="Arial" panose="020B0604020202020204" pitchFamily="34" charset="0"/>
              <a:buChar char="•"/>
            </a:pPr>
            <a:r>
              <a:rPr lang="es-419" sz="1200" noProof="0" dirty="0">
                <a:solidFill>
                  <a:srgbClr val="1A1A1A"/>
                </a:solidFill>
                <a:latin typeface="Calibri" pitchFamily="34" charset="0"/>
                <a:ea typeface="Calibri" pitchFamily="34" charset="-122"/>
                <a:cs typeface="Calibri" pitchFamily="34" charset="-120"/>
              </a:rPr>
              <a:t>Topic dedicado + </a:t>
            </a:r>
            <a:r>
              <a:rPr lang="es-419" sz="1200" noProof="0" dirty="0" err="1">
                <a:solidFill>
                  <a:srgbClr val="1A1A1A"/>
                </a:solidFill>
                <a:latin typeface="Calibri" pitchFamily="34" charset="0"/>
                <a:ea typeface="Calibri" pitchFamily="34" charset="-122"/>
                <a:cs typeface="Calibri" pitchFamily="34" charset="-120"/>
              </a:rPr>
              <a:t>WebSocket</a:t>
            </a:r>
            <a:endParaRPr lang="es-419" sz="1200" noProof="0" dirty="0"/>
          </a:p>
          <a:p>
            <a:pPr marL="171450" indent="-171450">
              <a:buFont typeface="Arial" panose="020B0604020202020204" pitchFamily="34" charset="0"/>
              <a:buChar char="•"/>
            </a:pPr>
            <a:r>
              <a:rPr lang="es-419" sz="1200" noProof="0" dirty="0" err="1">
                <a:solidFill>
                  <a:srgbClr val="1A1A1A"/>
                </a:solidFill>
                <a:latin typeface="Calibri" pitchFamily="34" charset="0"/>
                <a:ea typeface="Calibri" pitchFamily="34" charset="-122"/>
                <a:cs typeface="Calibri" pitchFamily="34" charset="-120"/>
              </a:rPr>
              <a:t>Confirmation</a:t>
            </a:r>
            <a:r>
              <a:rPr lang="es-419" sz="1200" noProof="0" dirty="0">
                <a:solidFill>
                  <a:srgbClr val="1A1A1A"/>
                </a:solidFill>
                <a:latin typeface="Calibri" pitchFamily="34" charset="0"/>
                <a:ea typeface="Calibri" pitchFamily="34" charset="-122"/>
                <a:cs typeface="Calibri" pitchFamily="34" charset="-120"/>
              </a:rPr>
              <a:t> </a:t>
            </a:r>
            <a:r>
              <a:rPr lang="es-419" sz="1200" noProof="0" dirty="0" err="1">
                <a:solidFill>
                  <a:srgbClr val="1A1A1A"/>
                </a:solidFill>
                <a:latin typeface="Calibri" pitchFamily="34" charset="0"/>
                <a:ea typeface="Calibri" pitchFamily="34" charset="-122"/>
                <a:cs typeface="Calibri" pitchFamily="34" charset="-120"/>
              </a:rPr>
              <a:t>Dispatcher</a:t>
            </a:r>
            <a:endParaRPr lang="es-419" sz="1200" noProof="0" dirty="0">
              <a:solidFill>
                <a:srgbClr val="1A1A1A"/>
              </a:solidFill>
              <a:latin typeface="Calibri" pitchFamily="34" charset="0"/>
              <a:ea typeface="Calibri" pitchFamily="34" charset="-122"/>
              <a:cs typeface="Calibri" pitchFamily="34" charset="-120"/>
            </a:endParaRPr>
          </a:p>
          <a:p>
            <a:pPr marL="171450" indent="-171450">
              <a:buFont typeface="Arial" panose="020B0604020202020204" pitchFamily="34" charset="0"/>
              <a:buChar char="•"/>
            </a:pPr>
            <a:r>
              <a:rPr lang="es-419" sz="1200" dirty="0">
                <a:solidFill>
                  <a:srgbClr val="1A1A1A"/>
                </a:solidFill>
                <a:latin typeface="Calibri" pitchFamily="34" charset="0"/>
                <a:ea typeface="Calibri" pitchFamily="34" charset="-122"/>
                <a:cs typeface="Calibri" pitchFamily="34" charset="-120"/>
              </a:rPr>
              <a:t>Hasta 5000 </a:t>
            </a:r>
            <a:r>
              <a:rPr lang="es-419" sz="1200" dirty="0" err="1">
                <a:solidFill>
                  <a:srgbClr val="1A1A1A"/>
                </a:solidFill>
                <a:latin typeface="Calibri" pitchFamily="34" charset="0"/>
                <a:ea typeface="Calibri" pitchFamily="34" charset="-122"/>
                <a:cs typeface="Calibri" pitchFamily="34" charset="-120"/>
              </a:rPr>
              <a:t>matching</a:t>
            </a:r>
            <a:r>
              <a:rPr lang="es-419" sz="1200" dirty="0">
                <a:solidFill>
                  <a:srgbClr val="1A1A1A"/>
                </a:solidFill>
                <a:latin typeface="Calibri" pitchFamily="34" charset="0"/>
                <a:ea typeface="Calibri" pitchFamily="34" charset="-122"/>
                <a:cs typeface="Calibri" pitchFamily="34" charset="-120"/>
              </a:rPr>
              <a:t>/min</a:t>
            </a:r>
          </a:p>
          <a:p>
            <a:pPr marL="171450" indent="-171450">
              <a:buFont typeface="Arial" panose="020B0604020202020204" pitchFamily="34" charset="0"/>
              <a:buChar char="•"/>
            </a:pPr>
            <a:r>
              <a:rPr lang="es-419" sz="1200" noProof="0" dirty="0">
                <a:solidFill>
                  <a:srgbClr val="1A1A1A"/>
                </a:solidFill>
                <a:latin typeface="Calibri" pitchFamily="34" charset="0"/>
                <a:ea typeface="Calibri" pitchFamily="34" charset="-122"/>
                <a:cs typeface="Calibri" pitchFamily="34" charset="-120"/>
              </a:rPr>
              <a:t>30 </a:t>
            </a:r>
            <a:r>
              <a:rPr lang="es-419" sz="1200" noProof="0" dirty="0" err="1">
                <a:solidFill>
                  <a:srgbClr val="1A1A1A"/>
                </a:solidFill>
                <a:latin typeface="Calibri" pitchFamily="34" charset="0"/>
                <a:ea typeface="Calibri" pitchFamily="34" charset="-122"/>
                <a:cs typeface="Calibri" pitchFamily="34" charset="-120"/>
              </a:rPr>
              <a:t>mins</a:t>
            </a:r>
            <a:endParaRPr lang="es-419" sz="1200" noProof="0" dirty="0">
              <a:solidFill>
                <a:srgbClr val="1A1A1A"/>
              </a:solidFill>
              <a:latin typeface="Calibri" pitchFamily="34" charset="0"/>
              <a:ea typeface="Calibri" pitchFamily="34" charset="-122"/>
              <a:cs typeface="Calibri" pitchFamily="34" charset="-120"/>
            </a:endParaRPr>
          </a:p>
          <a:p>
            <a:pPr marL="171450" indent="-171450">
              <a:buFont typeface="Arial" panose="020B0604020202020204" pitchFamily="34" charset="0"/>
              <a:buChar char="•"/>
            </a:pPr>
            <a:r>
              <a:rPr lang="es-419" sz="1200" dirty="0">
                <a:solidFill>
                  <a:srgbClr val="1A1A1A"/>
                </a:solidFill>
                <a:latin typeface="Calibri" pitchFamily="34" charset="0"/>
                <a:ea typeface="Calibri" pitchFamily="34" charset="-122"/>
                <a:cs typeface="Calibri" pitchFamily="34" charset="-120"/>
              </a:rPr>
              <a:t>Confirmación </a:t>
            </a:r>
            <a:r>
              <a:rPr lang="es-CO" sz="1200" dirty="0">
                <a:solidFill>
                  <a:srgbClr val="1A1A1A"/>
                </a:solidFill>
                <a:latin typeface="Calibri" pitchFamily="34" charset="0"/>
                <a:ea typeface="Calibri" pitchFamily="34" charset="-122"/>
                <a:cs typeface="Calibri" pitchFamily="34" charset="-120"/>
              </a:rPr>
              <a:t>≤ 350 ms p95</a:t>
            </a:r>
          </a:p>
          <a:p>
            <a:pPr marL="171450" indent="-171450">
              <a:buFont typeface="Arial" panose="020B0604020202020204" pitchFamily="34" charset="0"/>
              <a:buChar char="•"/>
            </a:pPr>
            <a:r>
              <a:rPr lang="es-CO" sz="1200" dirty="0">
                <a:solidFill>
                  <a:srgbClr val="1A1A1A"/>
                </a:solidFill>
                <a:latin typeface="Calibri" pitchFamily="34" charset="0"/>
                <a:ea typeface="Calibri" pitchFamily="34" charset="-122"/>
                <a:cs typeface="Calibri" pitchFamily="34" charset="-120"/>
              </a:rPr>
              <a:t>0% pérdidas</a:t>
            </a:r>
          </a:p>
          <a:p>
            <a:pPr marL="171450" indent="-171450">
              <a:buFont typeface="Arial" panose="020B0604020202020204" pitchFamily="34" charset="0"/>
              <a:buChar char="•"/>
            </a:pPr>
            <a:r>
              <a:rPr lang="es-CO" sz="1200" dirty="0">
                <a:solidFill>
                  <a:srgbClr val="1A1A1A"/>
                </a:solidFill>
                <a:latin typeface="Calibri" pitchFamily="34" charset="0"/>
                <a:ea typeface="Calibri" pitchFamily="34" charset="-122"/>
                <a:cs typeface="Calibri" pitchFamily="34" charset="-120"/>
              </a:rPr>
              <a:t>Aislar confirmaciones</a:t>
            </a:r>
          </a:p>
          <a:p>
            <a:pPr marL="171450" indent="-171450">
              <a:buFont typeface="Arial" panose="020B0604020202020204" pitchFamily="34" charset="0"/>
              <a:buChar char="•"/>
            </a:pPr>
            <a:endParaRPr lang="es-419" sz="1200" noProof="0" dirty="0"/>
          </a:p>
        </p:txBody>
      </p:sp>
      <p:sp>
        <p:nvSpPr>
          <p:cNvPr id="13" name="Text 5">
            <a:extLst>
              <a:ext uri="{FF2B5EF4-FFF2-40B4-BE49-F238E27FC236}">
                <a16:creationId xmlns:a16="http://schemas.microsoft.com/office/drawing/2014/main" id="{1C1272BD-C74F-5C48-4C33-29C2FF98AAF2}"/>
              </a:ext>
            </a:extLst>
          </p:cNvPr>
          <p:cNvSpPr/>
          <p:nvPr/>
        </p:nvSpPr>
        <p:spPr>
          <a:xfrm>
            <a:off x="640080" y="2319633"/>
            <a:ext cx="3657600" cy="320040"/>
          </a:xfrm>
          <a:prstGeom prst="rect">
            <a:avLst/>
          </a:prstGeom>
          <a:noFill/>
          <a:ln/>
        </p:spPr>
        <p:txBody>
          <a:bodyPr wrap="square" rtlCol="0" anchor="ctr"/>
          <a:lstStyle/>
          <a:p>
            <a:pPr marL="0" indent="0">
              <a:buNone/>
            </a:pPr>
            <a:r>
              <a:rPr lang="es-419" sz="1400" b="1" noProof="0" dirty="0">
                <a:solidFill>
                  <a:srgbClr val="0A4A7F"/>
                </a:solidFill>
                <a:latin typeface="Calibri" pitchFamily="34" charset="0"/>
                <a:ea typeface="Calibri" pitchFamily="34" charset="-122"/>
                <a:cs typeface="Calibri" pitchFamily="34" charset="-120"/>
              </a:rPr>
              <a:t>Problema: Pico extremos de órdenes</a:t>
            </a:r>
            <a:endParaRPr lang="es-419" sz="1400" noProof="0" dirty="0"/>
          </a:p>
        </p:txBody>
      </p:sp>
      <p:sp>
        <p:nvSpPr>
          <p:cNvPr id="15" name="Text 8">
            <a:extLst>
              <a:ext uri="{FF2B5EF4-FFF2-40B4-BE49-F238E27FC236}">
                <a16:creationId xmlns:a16="http://schemas.microsoft.com/office/drawing/2014/main" id="{3E70C2B1-11D3-BC2B-CE4C-40730BE419C6}"/>
              </a:ext>
            </a:extLst>
          </p:cNvPr>
          <p:cNvSpPr/>
          <p:nvPr/>
        </p:nvSpPr>
        <p:spPr>
          <a:xfrm>
            <a:off x="5486400" y="2319633"/>
            <a:ext cx="3657600" cy="320040"/>
          </a:xfrm>
          <a:prstGeom prst="rect">
            <a:avLst/>
          </a:prstGeom>
          <a:noFill/>
          <a:ln/>
        </p:spPr>
        <p:txBody>
          <a:bodyPr wrap="square" rtlCol="0" anchor="ctr"/>
          <a:lstStyle/>
          <a:p>
            <a:pPr marL="0" indent="0">
              <a:buNone/>
            </a:pPr>
            <a:r>
              <a:rPr lang="es-419" sz="1400" b="1" noProof="0" dirty="0">
                <a:solidFill>
                  <a:srgbClr val="E67E22"/>
                </a:solidFill>
                <a:latin typeface="Calibri" pitchFamily="34" charset="0"/>
                <a:ea typeface="Calibri" pitchFamily="34" charset="-122"/>
                <a:cs typeface="Calibri" pitchFamily="34" charset="-120"/>
              </a:rPr>
              <a:t>Problema: Entrega de confirmaciones</a:t>
            </a:r>
            <a:endParaRPr lang="es-419" sz="1400" noProof="0" dirty="0"/>
          </a:p>
        </p:txBody>
      </p:sp>
      <p:sp>
        <p:nvSpPr>
          <p:cNvPr id="17" name="Shape 4">
            <a:extLst>
              <a:ext uri="{FF2B5EF4-FFF2-40B4-BE49-F238E27FC236}">
                <a16:creationId xmlns:a16="http://schemas.microsoft.com/office/drawing/2014/main" id="{C0097A9E-0666-2679-44F7-35EC3753A35F}"/>
              </a:ext>
            </a:extLst>
          </p:cNvPr>
          <p:cNvSpPr/>
          <p:nvPr/>
        </p:nvSpPr>
        <p:spPr>
          <a:xfrm>
            <a:off x="3909845" y="2654782"/>
            <a:ext cx="1345327" cy="2191538"/>
          </a:xfrm>
          <a:prstGeom prst="roundRect">
            <a:avLst/>
          </a:prstGeom>
          <a:solidFill>
            <a:schemeClr val="accent6">
              <a:lumMod val="20000"/>
              <a:lumOff val="80000"/>
            </a:schemeClr>
          </a:solidFill>
          <a:ln w="25400">
            <a:solidFill>
              <a:schemeClr val="accent6">
                <a:lumMod val="60000"/>
                <a:lumOff val="40000"/>
              </a:schemeClr>
            </a:solidFill>
            <a:prstDash val="solid"/>
          </a:ln>
        </p:spPr>
        <p:txBody>
          <a:bodyPr/>
          <a:lstStyle/>
          <a:p>
            <a:endParaRPr lang="es-419" noProof="0" dirty="0"/>
          </a:p>
        </p:txBody>
      </p:sp>
      <p:sp>
        <p:nvSpPr>
          <p:cNvPr id="19" name="Text 9">
            <a:extLst>
              <a:ext uri="{FF2B5EF4-FFF2-40B4-BE49-F238E27FC236}">
                <a16:creationId xmlns:a16="http://schemas.microsoft.com/office/drawing/2014/main" id="{2C900BA3-7506-DDC1-86C3-AFA810B0E961}"/>
              </a:ext>
            </a:extLst>
          </p:cNvPr>
          <p:cNvSpPr/>
          <p:nvPr/>
        </p:nvSpPr>
        <p:spPr>
          <a:xfrm>
            <a:off x="3966604" y="2909659"/>
            <a:ext cx="1214996" cy="1963463"/>
          </a:xfrm>
          <a:prstGeom prst="rect">
            <a:avLst/>
          </a:prstGeom>
          <a:noFill/>
          <a:ln/>
        </p:spPr>
        <p:txBody>
          <a:bodyPr wrap="square" rtlCol="0" anchor="ctr"/>
          <a:lstStyle/>
          <a:p>
            <a:pPr marL="171450" indent="-171450">
              <a:buFont typeface="Arial" panose="020B0604020202020204" pitchFamily="34" charset="0"/>
              <a:buChar char="•"/>
            </a:pPr>
            <a:r>
              <a:rPr lang="es-419" sz="1050" dirty="0">
                <a:solidFill>
                  <a:srgbClr val="1A1A1A"/>
                </a:solidFill>
                <a:latin typeface="Calibri" pitchFamily="34" charset="0"/>
                <a:ea typeface="Calibri" pitchFamily="34" charset="-122"/>
                <a:cs typeface="Calibri" pitchFamily="34" charset="-120"/>
              </a:rPr>
              <a:t>Mecanismo</a:t>
            </a:r>
            <a:endParaRPr lang="es-419" sz="1050" noProof="0" dirty="0"/>
          </a:p>
          <a:p>
            <a:pPr marL="171450" indent="-171450">
              <a:buFont typeface="Arial" panose="020B0604020202020204" pitchFamily="34" charset="0"/>
              <a:buChar char="•"/>
            </a:pPr>
            <a:r>
              <a:rPr lang="es-419" sz="1050" noProof="0" dirty="0">
                <a:solidFill>
                  <a:srgbClr val="1A1A1A"/>
                </a:solidFill>
                <a:latin typeface="Calibri" pitchFamily="34" charset="0"/>
                <a:ea typeface="Calibri" pitchFamily="34" charset="-122"/>
                <a:cs typeface="Calibri" pitchFamily="34" charset="-120"/>
              </a:rPr>
              <a:t>Componente crítico</a:t>
            </a:r>
            <a:endParaRPr lang="es-419" sz="1050" noProof="0" dirty="0"/>
          </a:p>
          <a:p>
            <a:pPr marL="171450" indent="-171450">
              <a:buFont typeface="Arial" panose="020B0604020202020204" pitchFamily="34" charset="0"/>
              <a:buChar char="•"/>
            </a:pPr>
            <a:r>
              <a:rPr lang="es-419" sz="1050" dirty="0">
                <a:solidFill>
                  <a:srgbClr val="1A1A1A"/>
                </a:solidFill>
                <a:latin typeface="Calibri" pitchFamily="34" charset="0"/>
                <a:ea typeface="Calibri" pitchFamily="34" charset="-122"/>
                <a:cs typeface="Calibri" pitchFamily="34" charset="-120"/>
              </a:rPr>
              <a:t>Carga objetivo</a:t>
            </a:r>
          </a:p>
          <a:p>
            <a:pPr marL="171450" indent="-171450">
              <a:buFont typeface="Arial" panose="020B0604020202020204" pitchFamily="34" charset="0"/>
              <a:buChar char="•"/>
            </a:pPr>
            <a:r>
              <a:rPr lang="es-419" sz="1050" dirty="0">
                <a:solidFill>
                  <a:srgbClr val="1A1A1A"/>
                </a:solidFill>
                <a:latin typeface="Calibri" pitchFamily="34" charset="0"/>
                <a:ea typeface="Calibri" pitchFamily="34" charset="-122"/>
                <a:cs typeface="Calibri" pitchFamily="34" charset="-120"/>
              </a:rPr>
              <a:t>Duración crítica</a:t>
            </a:r>
          </a:p>
          <a:p>
            <a:pPr marL="171450" indent="-171450">
              <a:buFont typeface="Arial" panose="020B0604020202020204" pitchFamily="34" charset="0"/>
              <a:buChar char="•"/>
            </a:pPr>
            <a:r>
              <a:rPr lang="es-419" sz="1050" dirty="0">
                <a:solidFill>
                  <a:srgbClr val="1A1A1A"/>
                </a:solidFill>
                <a:latin typeface="Calibri" pitchFamily="34" charset="0"/>
                <a:ea typeface="Calibri" pitchFamily="34" charset="-122"/>
                <a:cs typeface="Calibri" pitchFamily="34" charset="-120"/>
              </a:rPr>
              <a:t>Métrica principal</a:t>
            </a:r>
          </a:p>
          <a:p>
            <a:pPr marL="171450" indent="-171450">
              <a:buFont typeface="Arial" panose="020B0604020202020204" pitchFamily="34" charset="0"/>
              <a:buChar char="•"/>
            </a:pPr>
            <a:r>
              <a:rPr lang="es-419" sz="1050" dirty="0">
                <a:solidFill>
                  <a:srgbClr val="1A1A1A"/>
                </a:solidFill>
                <a:latin typeface="Calibri" pitchFamily="34" charset="0"/>
                <a:ea typeface="Calibri" pitchFamily="34" charset="-122"/>
                <a:cs typeface="Calibri" pitchFamily="34" charset="-120"/>
              </a:rPr>
              <a:t>Disponibilidad</a:t>
            </a:r>
          </a:p>
          <a:p>
            <a:pPr marL="171450" indent="-171450">
              <a:buFont typeface="Arial" panose="020B0604020202020204" pitchFamily="34" charset="0"/>
              <a:buChar char="•"/>
            </a:pPr>
            <a:r>
              <a:rPr lang="es-419" sz="1050" dirty="0" err="1">
                <a:solidFill>
                  <a:srgbClr val="1A1A1A"/>
                </a:solidFill>
                <a:latin typeface="Calibri" pitchFamily="34" charset="0"/>
                <a:ea typeface="Calibri" pitchFamily="34" charset="-122"/>
                <a:cs typeface="Calibri" pitchFamily="34" charset="-120"/>
              </a:rPr>
              <a:t>Obj</a:t>
            </a:r>
            <a:r>
              <a:rPr lang="es-419" sz="1050" dirty="0">
                <a:solidFill>
                  <a:srgbClr val="1A1A1A"/>
                </a:solidFill>
                <a:latin typeface="Calibri" pitchFamily="34" charset="0"/>
                <a:ea typeface="Calibri" pitchFamily="34" charset="-122"/>
                <a:cs typeface="Calibri" pitchFamily="34" charset="-120"/>
              </a:rPr>
              <a:t>. arquitectónico</a:t>
            </a:r>
          </a:p>
          <a:p>
            <a:pPr marL="171450" indent="-171450">
              <a:buFont typeface="Arial" panose="020B0604020202020204" pitchFamily="34" charset="0"/>
              <a:buChar char="•"/>
            </a:pPr>
            <a:endParaRPr lang="es-419" sz="105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CC32C-ABA9-71EE-8233-22FDF0D7471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EC86923-BE91-4C5F-5F4E-98EFE3080E0B}"/>
              </a:ext>
            </a:extLst>
          </p:cNvPr>
          <p:cNvSpPr/>
          <p:nvPr/>
        </p:nvSpPr>
        <p:spPr>
          <a:xfrm>
            <a:off x="457200" y="365760"/>
            <a:ext cx="8229600" cy="548640"/>
          </a:xfrm>
          <a:prstGeom prst="rect">
            <a:avLst/>
          </a:prstGeom>
          <a:noFill/>
          <a:ln/>
        </p:spPr>
        <p:txBody>
          <a:bodyPr wrap="square" rtlCol="0" anchor="ctr"/>
          <a:lstStyle/>
          <a:p>
            <a:pPr marL="0" indent="0">
              <a:buNone/>
            </a:pPr>
            <a:r>
              <a:rPr lang="es-419" sz="4000" b="1" noProof="0" dirty="0">
                <a:solidFill>
                  <a:srgbClr val="0A4A7F"/>
                </a:solidFill>
                <a:latin typeface="Calibri" pitchFamily="34" charset="0"/>
                <a:ea typeface="Calibri" pitchFamily="34" charset="-122"/>
                <a:cs typeface="Calibri" pitchFamily="34" charset="-120"/>
              </a:rPr>
              <a:t>Flujo del Canal Transaccional</a:t>
            </a:r>
            <a:endParaRPr lang="es-419" sz="4000" noProof="0" dirty="0"/>
          </a:p>
        </p:txBody>
      </p:sp>
      <p:sp>
        <p:nvSpPr>
          <p:cNvPr id="3" name="Text 1">
            <a:extLst>
              <a:ext uri="{FF2B5EF4-FFF2-40B4-BE49-F238E27FC236}">
                <a16:creationId xmlns:a16="http://schemas.microsoft.com/office/drawing/2014/main" id="{35C73A0A-B8CE-3018-7062-12E334C27F54}"/>
              </a:ext>
            </a:extLst>
          </p:cNvPr>
          <p:cNvSpPr/>
          <p:nvPr/>
        </p:nvSpPr>
        <p:spPr>
          <a:xfrm>
            <a:off x="457200" y="960120"/>
            <a:ext cx="8229600" cy="320040"/>
          </a:xfrm>
          <a:prstGeom prst="rect">
            <a:avLst/>
          </a:prstGeom>
          <a:noFill/>
          <a:ln/>
        </p:spPr>
        <p:txBody>
          <a:bodyPr wrap="square" rtlCol="0" anchor="ctr"/>
          <a:lstStyle/>
          <a:p>
            <a:pPr marL="0" indent="0">
              <a:buNone/>
            </a:pPr>
            <a:r>
              <a:rPr lang="es-419" sz="1600" noProof="0" dirty="0">
                <a:solidFill>
                  <a:srgbClr val="666666"/>
                </a:solidFill>
                <a:latin typeface="Calibri" pitchFamily="34" charset="0"/>
                <a:ea typeface="Calibri" pitchFamily="34" charset="-122"/>
                <a:cs typeface="Calibri" pitchFamily="34" charset="-120"/>
              </a:rPr>
              <a:t>Cómo funciona el aislamiento y la entrega de confirmaciones</a:t>
            </a:r>
            <a:endParaRPr lang="es-419" sz="1600" noProof="0" dirty="0"/>
          </a:p>
        </p:txBody>
      </p:sp>
      <p:sp>
        <p:nvSpPr>
          <p:cNvPr id="4" name="Shape 2">
            <a:extLst>
              <a:ext uri="{FF2B5EF4-FFF2-40B4-BE49-F238E27FC236}">
                <a16:creationId xmlns:a16="http://schemas.microsoft.com/office/drawing/2014/main" id="{6DEFDF0D-4BC7-E73D-7D2C-5C88CF6E6826}"/>
              </a:ext>
            </a:extLst>
          </p:cNvPr>
          <p:cNvSpPr/>
          <p:nvPr/>
        </p:nvSpPr>
        <p:spPr>
          <a:xfrm>
            <a:off x="457200" y="1463040"/>
            <a:ext cx="2468880" cy="1645920"/>
          </a:xfrm>
          <a:prstGeom prst="roundRect">
            <a:avLst/>
          </a:prstGeom>
          <a:solidFill>
            <a:srgbClr val="E8F1F7"/>
          </a:solidFill>
          <a:ln/>
        </p:spPr>
        <p:txBody>
          <a:bodyPr/>
          <a:lstStyle/>
          <a:p>
            <a:endParaRPr lang="es-419" noProof="0" dirty="0"/>
          </a:p>
        </p:txBody>
      </p:sp>
      <p:sp>
        <p:nvSpPr>
          <p:cNvPr id="5" name="Text 3">
            <a:extLst>
              <a:ext uri="{FF2B5EF4-FFF2-40B4-BE49-F238E27FC236}">
                <a16:creationId xmlns:a16="http://schemas.microsoft.com/office/drawing/2014/main" id="{70A70C12-AA3A-C42F-4E88-3BF49A1ED2BC}"/>
              </a:ext>
            </a:extLst>
          </p:cNvPr>
          <p:cNvSpPr/>
          <p:nvPr/>
        </p:nvSpPr>
        <p:spPr>
          <a:xfrm>
            <a:off x="594360" y="1600200"/>
            <a:ext cx="2194560" cy="320040"/>
          </a:xfrm>
          <a:prstGeom prst="rect">
            <a:avLst/>
          </a:prstGeom>
          <a:noFill/>
          <a:ln/>
        </p:spPr>
        <p:txBody>
          <a:bodyPr wrap="square" rtlCol="0" anchor="ctr"/>
          <a:lstStyle/>
          <a:p>
            <a:pPr marL="0" indent="0">
              <a:buNone/>
            </a:pPr>
            <a:r>
              <a:rPr lang="es-419" sz="1400" b="1" noProof="0" dirty="0">
                <a:solidFill>
                  <a:srgbClr val="0A4A7F"/>
                </a:solidFill>
                <a:latin typeface="Calibri" pitchFamily="34" charset="0"/>
                <a:ea typeface="Calibri" pitchFamily="34" charset="-122"/>
                <a:cs typeface="Calibri" pitchFamily="34" charset="-120"/>
              </a:rPr>
              <a:t>1. MATCH</a:t>
            </a:r>
            <a:endParaRPr lang="es-419" sz="1400" noProof="0" dirty="0"/>
          </a:p>
        </p:txBody>
      </p:sp>
      <p:sp>
        <p:nvSpPr>
          <p:cNvPr id="6" name="Text 4">
            <a:extLst>
              <a:ext uri="{FF2B5EF4-FFF2-40B4-BE49-F238E27FC236}">
                <a16:creationId xmlns:a16="http://schemas.microsoft.com/office/drawing/2014/main" id="{8A609743-6A8C-87F3-99B3-C756D15A28E3}"/>
              </a:ext>
            </a:extLst>
          </p:cNvPr>
          <p:cNvSpPr/>
          <p:nvPr/>
        </p:nvSpPr>
        <p:spPr>
          <a:xfrm>
            <a:off x="594360" y="1965960"/>
            <a:ext cx="2194560" cy="1051560"/>
          </a:xfrm>
          <a:prstGeom prst="rect">
            <a:avLst/>
          </a:prstGeom>
          <a:noFill/>
          <a:ln/>
        </p:spPr>
        <p:txBody>
          <a:bodyPr wrap="square" rtlCol="0" anchor="ctr"/>
          <a:lstStyle/>
          <a:p>
            <a:pPr marL="0" indent="0">
              <a:buNone/>
            </a:pPr>
            <a:r>
              <a:rPr lang="es-419" sz="1100" noProof="0" dirty="0">
                <a:solidFill>
                  <a:srgbClr val="1A1A1A"/>
                </a:solidFill>
                <a:latin typeface="Calibri" pitchFamily="34" charset="0"/>
                <a:ea typeface="Calibri" pitchFamily="34" charset="-122"/>
                <a:cs typeface="Calibri" pitchFamily="34" charset="-120"/>
              </a:rPr>
              <a:t>Match en memoria (Motor)</a:t>
            </a:r>
            <a:endParaRPr lang="es-419" sz="1100" noProof="0" dirty="0"/>
          </a:p>
          <a:p>
            <a:pPr marL="0" indent="0">
              <a:buNone/>
            </a:pPr>
            <a:endParaRPr lang="es-419" sz="1100" noProof="0" dirty="0"/>
          </a:p>
          <a:p>
            <a:pPr marL="0" indent="0">
              <a:buNone/>
            </a:pPr>
            <a:r>
              <a:rPr lang="es-419" sz="1100" noProof="0" dirty="0">
                <a:solidFill>
                  <a:srgbClr val="1A1A1A"/>
                </a:solidFill>
                <a:latin typeface="Calibri" pitchFamily="34" charset="0"/>
                <a:ea typeface="Calibri" pitchFamily="34" charset="-122"/>
                <a:cs typeface="Calibri" pitchFamily="34" charset="-120"/>
              </a:rPr>
              <a:t>Sin tocar disco, procesamiento </a:t>
            </a:r>
            <a:r>
              <a:rPr lang="es-419" sz="1100" noProof="0" dirty="0" err="1">
                <a:solidFill>
                  <a:srgbClr val="1A1A1A"/>
                </a:solidFill>
                <a:latin typeface="Calibri" pitchFamily="34" charset="0"/>
                <a:ea typeface="Calibri" pitchFamily="34" charset="-122"/>
                <a:cs typeface="Calibri" pitchFamily="34" charset="-120"/>
              </a:rPr>
              <a:t>ultra-rápido</a:t>
            </a:r>
            <a:endParaRPr lang="es-419" sz="1100" noProof="0" dirty="0"/>
          </a:p>
        </p:txBody>
      </p:sp>
      <p:sp>
        <p:nvSpPr>
          <p:cNvPr id="7" name="Text 5">
            <a:extLst>
              <a:ext uri="{FF2B5EF4-FFF2-40B4-BE49-F238E27FC236}">
                <a16:creationId xmlns:a16="http://schemas.microsoft.com/office/drawing/2014/main" id="{466D0939-F44C-33DC-1B97-FEBC9996498E}"/>
              </a:ext>
            </a:extLst>
          </p:cNvPr>
          <p:cNvSpPr/>
          <p:nvPr/>
        </p:nvSpPr>
        <p:spPr>
          <a:xfrm>
            <a:off x="3108960" y="2103120"/>
            <a:ext cx="365760" cy="365760"/>
          </a:xfrm>
          <a:prstGeom prst="rect">
            <a:avLst/>
          </a:prstGeom>
          <a:noFill/>
          <a:ln/>
        </p:spPr>
        <p:txBody>
          <a:bodyPr wrap="square" rtlCol="0" anchor="ctr"/>
          <a:lstStyle/>
          <a:p>
            <a:pPr marL="0" indent="0" algn="ctr">
              <a:buNone/>
            </a:pPr>
            <a:r>
              <a:rPr lang="es-419" sz="3600" b="1" noProof="0" dirty="0">
                <a:solidFill>
                  <a:srgbClr val="666666"/>
                </a:solidFill>
                <a:latin typeface="Calibri" pitchFamily="34" charset="0"/>
                <a:ea typeface="Calibri" pitchFamily="34" charset="-122"/>
                <a:cs typeface="Calibri" pitchFamily="34" charset="-120"/>
              </a:rPr>
              <a:t>→</a:t>
            </a:r>
            <a:endParaRPr lang="es-419" sz="3600" noProof="0" dirty="0"/>
          </a:p>
        </p:txBody>
      </p:sp>
      <p:sp>
        <p:nvSpPr>
          <p:cNvPr id="8" name="Shape 6">
            <a:extLst>
              <a:ext uri="{FF2B5EF4-FFF2-40B4-BE49-F238E27FC236}">
                <a16:creationId xmlns:a16="http://schemas.microsoft.com/office/drawing/2014/main" id="{D4276891-2DE4-1990-1CEF-95B2EA4BA78E}"/>
              </a:ext>
            </a:extLst>
          </p:cNvPr>
          <p:cNvSpPr/>
          <p:nvPr/>
        </p:nvSpPr>
        <p:spPr>
          <a:xfrm>
            <a:off x="3566160" y="1463040"/>
            <a:ext cx="2468880" cy="1645920"/>
          </a:xfrm>
          <a:prstGeom prst="roundRect">
            <a:avLst/>
          </a:prstGeom>
          <a:solidFill>
            <a:srgbClr val="FFF3E0"/>
          </a:solidFill>
          <a:ln/>
        </p:spPr>
        <p:txBody>
          <a:bodyPr/>
          <a:lstStyle/>
          <a:p>
            <a:endParaRPr lang="es-419" noProof="0" dirty="0"/>
          </a:p>
        </p:txBody>
      </p:sp>
      <p:sp>
        <p:nvSpPr>
          <p:cNvPr id="9" name="Text 7">
            <a:extLst>
              <a:ext uri="{FF2B5EF4-FFF2-40B4-BE49-F238E27FC236}">
                <a16:creationId xmlns:a16="http://schemas.microsoft.com/office/drawing/2014/main" id="{124C8D80-1AFB-FD5E-8BBD-26612A9B17A8}"/>
              </a:ext>
            </a:extLst>
          </p:cNvPr>
          <p:cNvSpPr/>
          <p:nvPr/>
        </p:nvSpPr>
        <p:spPr>
          <a:xfrm>
            <a:off x="3703320" y="1600200"/>
            <a:ext cx="2194560" cy="320040"/>
          </a:xfrm>
          <a:prstGeom prst="rect">
            <a:avLst/>
          </a:prstGeom>
          <a:noFill/>
          <a:ln/>
        </p:spPr>
        <p:txBody>
          <a:bodyPr wrap="square" rtlCol="0" anchor="ctr"/>
          <a:lstStyle/>
          <a:p>
            <a:pPr marL="0" indent="0">
              <a:buNone/>
            </a:pPr>
            <a:r>
              <a:rPr lang="es-419" sz="1400" b="1" noProof="0" dirty="0">
                <a:solidFill>
                  <a:srgbClr val="E67E22"/>
                </a:solidFill>
                <a:latin typeface="Calibri" pitchFamily="34" charset="0"/>
                <a:ea typeface="Calibri" pitchFamily="34" charset="-122"/>
                <a:cs typeface="Calibri" pitchFamily="34" charset="-120"/>
              </a:rPr>
              <a:t>2. PUBLICAR</a:t>
            </a:r>
            <a:endParaRPr lang="es-419" sz="1400" noProof="0" dirty="0"/>
          </a:p>
        </p:txBody>
      </p:sp>
      <p:sp>
        <p:nvSpPr>
          <p:cNvPr id="10" name="Text 8">
            <a:extLst>
              <a:ext uri="{FF2B5EF4-FFF2-40B4-BE49-F238E27FC236}">
                <a16:creationId xmlns:a16="http://schemas.microsoft.com/office/drawing/2014/main" id="{594FD123-0DE9-C62A-C9B9-34C594B3166D}"/>
              </a:ext>
            </a:extLst>
          </p:cNvPr>
          <p:cNvSpPr/>
          <p:nvPr/>
        </p:nvSpPr>
        <p:spPr>
          <a:xfrm>
            <a:off x="3703320" y="1965960"/>
            <a:ext cx="2194560" cy="1051560"/>
          </a:xfrm>
          <a:prstGeom prst="rect">
            <a:avLst/>
          </a:prstGeom>
          <a:noFill/>
          <a:ln/>
        </p:spPr>
        <p:txBody>
          <a:bodyPr wrap="square" rtlCol="0" anchor="ctr"/>
          <a:lstStyle/>
          <a:p>
            <a:pPr marL="0" indent="0">
              <a:buNone/>
            </a:pPr>
            <a:r>
              <a:rPr lang="es-419" sz="1100" noProof="0" dirty="0">
                <a:solidFill>
                  <a:srgbClr val="1A1A1A"/>
                </a:solidFill>
                <a:latin typeface="Calibri" pitchFamily="34" charset="0"/>
                <a:ea typeface="Calibri" pitchFamily="34" charset="-122"/>
                <a:cs typeface="Calibri" pitchFamily="34" charset="-120"/>
              </a:rPr>
              <a:t>Canal transaccional dedicado</a:t>
            </a:r>
            <a:endParaRPr lang="es-419" sz="1100" noProof="0" dirty="0"/>
          </a:p>
          <a:p>
            <a:pPr marL="0" indent="0">
              <a:buNone/>
            </a:pPr>
            <a:endParaRPr lang="es-419" sz="1100" noProof="0" dirty="0"/>
          </a:p>
          <a:p>
            <a:pPr marL="0" indent="0">
              <a:buNone/>
            </a:pPr>
            <a:r>
              <a:rPr lang="es-419" sz="1100" noProof="0" dirty="0">
                <a:solidFill>
                  <a:srgbClr val="1A1A1A"/>
                </a:solidFill>
                <a:latin typeface="Calibri" pitchFamily="34" charset="0"/>
                <a:ea typeface="Calibri" pitchFamily="34" charset="-122"/>
                <a:cs typeface="Calibri" pitchFamily="34" charset="-120"/>
              </a:rPr>
              <a:t>Aislado del resto del tráfico</a:t>
            </a:r>
            <a:endParaRPr lang="es-419" sz="1100" noProof="0" dirty="0"/>
          </a:p>
        </p:txBody>
      </p:sp>
      <p:sp>
        <p:nvSpPr>
          <p:cNvPr id="11" name="Text 9">
            <a:extLst>
              <a:ext uri="{FF2B5EF4-FFF2-40B4-BE49-F238E27FC236}">
                <a16:creationId xmlns:a16="http://schemas.microsoft.com/office/drawing/2014/main" id="{8DE4FCA7-650F-16ED-FA24-8ED642B2C04B}"/>
              </a:ext>
            </a:extLst>
          </p:cNvPr>
          <p:cNvSpPr/>
          <p:nvPr/>
        </p:nvSpPr>
        <p:spPr>
          <a:xfrm>
            <a:off x="6217920" y="2103120"/>
            <a:ext cx="365760" cy="365760"/>
          </a:xfrm>
          <a:prstGeom prst="rect">
            <a:avLst/>
          </a:prstGeom>
          <a:noFill/>
          <a:ln/>
        </p:spPr>
        <p:txBody>
          <a:bodyPr wrap="square" rtlCol="0" anchor="ctr"/>
          <a:lstStyle/>
          <a:p>
            <a:pPr marL="0" indent="0" algn="ctr">
              <a:buNone/>
            </a:pPr>
            <a:r>
              <a:rPr lang="es-419" sz="3600" b="1" noProof="0" dirty="0">
                <a:solidFill>
                  <a:srgbClr val="666666"/>
                </a:solidFill>
                <a:latin typeface="Calibri" pitchFamily="34" charset="0"/>
                <a:ea typeface="Calibri" pitchFamily="34" charset="-122"/>
                <a:cs typeface="Calibri" pitchFamily="34" charset="-120"/>
              </a:rPr>
              <a:t>→</a:t>
            </a:r>
            <a:endParaRPr lang="es-419" sz="3600" noProof="0" dirty="0"/>
          </a:p>
        </p:txBody>
      </p:sp>
      <p:sp>
        <p:nvSpPr>
          <p:cNvPr id="12" name="Shape 10">
            <a:extLst>
              <a:ext uri="{FF2B5EF4-FFF2-40B4-BE49-F238E27FC236}">
                <a16:creationId xmlns:a16="http://schemas.microsoft.com/office/drawing/2014/main" id="{6E76AB38-CBA2-FFD4-33B6-EE027096177A}"/>
              </a:ext>
            </a:extLst>
          </p:cNvPr>
          <p:cNvSpPr/>
          <p:nvPr/>
        </p:nvSpPr>
        <p:spPr>
          <a:xfrm>
            <a:off x="6675120" y="1463040"/>
            <a:ext cx="2011680" cy="1645920"/>
          </a:xfrm>
          <a:prstGeom prst="roundRect">
            <a:avLst/>
          </a:prstGeom>
          <a:solidFill>
            <a:srgbClr val="F8F9FA"/>
          </a:solidFill>
          <a:ln/>
        </p:spPr>
        <p:txBody>
          <a:bodyPr/>
          <a:lstStyle/>
          <a:p>
            <a:endParaRPr lang="es-419" noProof="0" dirty="0"/>
          </a:p>
        </p:txBody>
      </p:sp>
      <p:sp>
        <p:nvSpPr>
          <p:cNvPr id="13" name="Text 11">
            <a:extLst>
              <a:ext uri="{FF2B5EF4-FFF2-40B4-BE49-F238E27FC236}">
                <a16:creationId xmlns:a16="http://schemas.microsoft.com/office/drawing/2014/main" id="{54F01C64-8916-1349-8E06-9D636D8E5A0D}"/>
              </a:ext>
            </a:extLst>
          </p:cNvPr>
          <p:cNvSpPr/>
          <p:nvPr/>
        </p:nvSpPr>
        <p:spPr>
          <a:xfrm>
            <a:off x="6812280" y="1600200"/>
            <a:ext cx="1737360" cy="320040"/>
          </a:xfrm>
          <a:prstGeom prst="rect">
            <a:avLst/>
          </a:prstGeom>
          <a:noFill/>
          <a:ln/>
        </p:spPr>
        <p:txBody>
          <a:bodyPr wrap="square" rtlCol="0" anchor="ctr"/>
          <a:lstStyle/>
          <a:p>
            <a:pPr marL="0" indent="0">
              <a:buNone/>
            </a:pPr>
            <a:r>
              <a:rPr lang="es-419" sz="1200" b="1" noProof="0" dirty="0">
                <a:solidFill>
                  <a:srgbClr val="0A4A7F"/>
                </a:solidFill>
                <a:latin typeface="Calibri" pitchFamily="34" charset="0"/>
                <a:ea typeface="Calibri" pitchFamily="34" charset="-122"/>
                <a:cs typeface="Calibri" pitchFamily="34" charset="-120"/>
              </a:rPr>
              <a:t>3. IDEMPOTENCIA</a:t>
            </a:r>
            <a:endParaRPr lang="es-419" sz="1200" noProof="0" dirty="0"/>
          </a:p>
        </p:txBody>
      </p:sp>
      <p:sp>
        <p:nvSpPr>
          <p:cNvPr id="14" name="Text 12">
            <a:extLst>
              <a:ext uri="{FF2B5EF4-FFF2-40B4-BE49-F238E27FC236}">
                <a16:creationId xmlns:a16="http://schemas.microsoft.com/office/drawing/2014/main" id="{F8DEDAA9-9365-787E-5FA1-175358E56272}"/>
              </a:ext>
            </a:extLst>
          </p:cNvPr>
          <p:cNvSpPr/>
          <p:nvPr/>
        </p:nvSpPr>
        <p:spPr>
          <a:xfrm>
            <a:off x="6812280" y="1965960"/>
            <a:ext cx="1737360" cy="1051560"/>
          </a:xfrm>
          <a:prstGeom prst="rect">
            <a:avLst/>
          </a:prstGeom>
          <a:noFill/>
          <a:ln/>
        </p:spPr>
        <p:txBody>
          <a:bodyPr wrap="square" rtlCol="0" anchor="ctr"/>
          <a:lstStyle/>
          <a:p>
            <a:pPr marL="0" indent="0">
              <a:buNone/>
            </a:pPr>
            <a:r>
              <a:rPr lang="es-419" sz="1000" noProof="0" dirty="0">
                <a:solidFill>
                  <a:srgbClr val="1A1A1A"/>
                </a:solidFill>
                <a:latin typeface="Calibri" pitchFamily="34" charset="0"/>
                <a:ea typeface="Calibri" pitchFamily="34" charset="-122"/>
                <a:cs typeface="Calibri" pitchFamily="34" charset="-120"/>
              </a:rPr>
              <a:t>Verificar en Redis</a:t>
            </a:r>
            <a:endParaRPr lang="es-419" sz="1000" noProof="0" dirty="0"/>
          </a:p>
          <a:p>
            <a:pPr marL="0" indent="0">
              <a:buNone/>
            </a:pPr>
            <a:endParaRPr lang="es-419" sz="1000" noProof="0" dirty="0"/>
          </a:p>
          <a:p>
            <a:pPr marL="0" indent="0">
              <a:buNone/>
            </a:pPr>
            <a:r>
              <a:rPr lang="es-419" sz="1000" noProof="0" dirty="0">
                <a:solidFill>
                  <a:srgbClr val="1A1A1A"/>
                </a:solidFill>
                <a:latin typeface="Calibri" pitchFamily="34" charset="0"/>
                <a:ea typeface="Calibri" pitchFamily="34" charset="-122"/>
                <a:cs typeface="Calibri" pitchFamily="34" charset="-120"/>
              </a:rPr>
              <a:t>&lt;1ms (misma red)</a:t>
            </a:r>
            <a:endParaRPr lang="es-419" sz="1000" noProof="0" dirty="0"/>
          </a:p>
        </p:txBody>
      </p:sp>
      <p:sp>
        <p:nvSpPr>
          <p:cNvPr id="15" name="Shape 13">
            <a:extLst>
              <a:ext uri="{FF2B5EF4-FFF2-40B4-BE49-F238E27FC236}">
                <a16:creationId xmlns:a16="http://schemas.microsoft.com/office/drawing/2014/main" id="{0517DAF0-F0DC-693F-0795-742EA4EC44CA}"/>
              </a:ext>
            </a:extLst>
          </p:cNvPr>
          <p:cNvSpPr/>
          <p:nvPr/>
        </p:nvSpPr>
        <p:spPr>
          <a:xfrm>
            <a:off x="457200" y="3291840"/>
            <a:ext cx="8229600" cy="1554480"/>
          </a:xfrm>
          <a:prstGeom prst="roundRect">
            <a:avLst/>
          </a:prstGeom>
          <a:solidFill>
            <a:srgbClr val="F8F9FA"/>
          </a:solidFill>
          <a:ln/>
        </p:spPr>
        <p:txBody>
          <a:bodyPr/>
          <a:lstStyle/>
          <a:p>
            <a:endParaRPr lang="es-419" noProof="0" dirty="0"/>
          </a:p>
        </p:txBody>
      </p:sp>
      <p:sp>
        <p:nvSpPr>
          <p:cNvPr id="16" name="Text 14">
            <a:extLst>
              <a:ext uri="{FF2B5EF4-FFF2-40B4-BE49-F238E27FC236}">
                <a16:creationId xmlns:a16="http://schemas.microsoft.com/office/drawing/2014/main" id="{5DB7A3C5-2DEB-8915-EF1B-B6B3351E795F}"/>
              </a:ext>
            </a:extLst>
          </p:cNvPr>
          <p:cNvSpPr/>
          <p:nvPr/>
        </p:nvSpPr>
        <p:spPr>
          <a:xfrm>
            <a:off x="640080" y="3429000"/>
            <a:ext cx="7863840" cy="274320"/>
          </a:xfrm>
          <a:prstGeom prst="rect">
            <a:avLst/>
          </a:prstGeom>
          <a:noFill/>
          <a:ln/>
        </p:spPr>
        <p:txBody>
          <a:bodyPr wrap="square" rtlCol="0" anchor="ctr"/>
          <a:lstStyle/>
          <a:p>
            <a:pPr marL="0" indent="0">
              <a:buNone/>
            </a:pPr>
            <a:r>
              <a:rPr lang="es-419" sz="1300" b="1" noProof="0" dirty="0">
                <a:solidFill>
                  <a:srgbClr val="0A4A7F"/>
                </a:solidFill>
                <a:latin typeface="Calibri" pitchFamily="34" charset="0"/>
                <a:ea typeface="Calibri" pitchFamily="34" charset="-122"/>
                <a:cs typeface="Calibri" pitchFamily="34" charset="-120"/>
              </a:rPr>
              <a:t>Por qué funciona el aislamiento:</a:t>
            </a:r>
            <a:endParaRPr lang="es-419" sz="1300" noProof="0" dirty="0"/>
          </a:p>
        </p:txBody>
      </p:sp>
      <p:sp>
        <p:nvSpPr>
          <p:cNvPr id="17" name="Text 15">
            <a:extLst>
              <a:ext uri="{FF2B5EF4-FFF2-40B4-BE49-F238E27FC236}">
                <a16:creationId xmlns:a16="http://schemas.microsoft.com/office/drawing/2014/main" id="{7C9517A1-F695-00E9-E7CF-D7B612568434}"/>
              </a:ext>
            </a:extLst>
          </p:cNvPr>
          <p:cNvSpPr/>
          <p:nvPr/>
        </p:nvSpPr>
        <p:spPr>
          <a:xfrm>
            <a:off x="640080" y="3749040"/>
            <a:ext cx="7863840" cy="1051560"/>
          </a:xfrm>
          <a:prstGeom prst="rect">
            <a:avLst/>
          </a:prstGeom>
          <a:noFill/>
          <a:ln/>
        </p:spPr>
        <p:txBody>
          <a:bodyPr wrap="square" rtlCol="0" anchor="ctr"/>
          <a:lstStyle/>
          <a:p>
            <a:pPr marL="0" indent="0">
              <a:buNone/>
            </a:pPr>
            <a:r>
              <a:rPr lang="es-419" sz="1100" noProof="0" dirty="0">
                <a:solidFill>
                  <a:srgbClr val="1A1A1A"/>
                </a:solidFill>
                <a:latin typeface="Calibri" pitchFamily="34" charset="0"/>
                <a:ea typeface="Calibri" pitchFamily="34" charset="-122"/>
                <a:cs typeface="Calibri" pitchFamily="34" charset="-120"/>
              </a:rPr>
              <a:t>El canal de confirmaciones NO comparte cola con </a:t>
            </a:r>
            <a:r>
              <a:rPr lang="es-419" sz="1100" noProof="0" dirty="0" err="1">
                <a:solidFill>
                  <a:srgbClr val="1A1A1A"/>
                </a:solidFill>
                <a:latin typeface="Calibri" pitchFamily="34" charset="0"/>
                <a:ea typeface="Calibri" pitchFamily="34" charset="-122"/>
                <a:cs typeface="Calibri" pitchFamily="34" charset="-120"/>
              </a:rPr>
              <a:t>orders_buffer</a:t>
            </a:r>
            <a:r>
              <a:rPr lang="es-419" sz="1100" noProof="0" dirty="0">
                <a:solidFill>
                  <a:srgbClr val="1A1A1A"/>
                </a:solidFill>
                <a:latin typeface="Calibri" pitchFamily="34" charset="0"/>
                <a:ea typeface="Calibri" pitchFamily="34" charset="-122"/>
                <a:cs typeface="Calibri" pitchFamily="34" charset="-120"/>
              </a:rPr>
              <a:t>. Esto significa que no hay contención de recursos entre la ingesta de órdenes y la entrega de confirmaciones. Cuando se publican en el canal transaccional dedicado, hay garantía de ancho de banda disponible. El </a:t>
            </a:r>
            <a:r>
              <a:rPr lang="es-419" sz="1100" noProof="0" dirty="0" err="1">
                <a:solidFill>
                  <a:srgbClr val="1A1A1A"/>
                </a:solidFill>
                <a:latin typeface="Calibri" pitchFamily="34" charset="0"/>
                <a:ea typeface="Calibri" pitchFamily="34" charset="-122"/>
                <a:cs typeface="Calibri" pitchFamily="34" charset="-120"/>
              </a:rPr>
              <a:t>dispatcher</a:t>
            </a:r>
            <a:r>
              <a:rPr lang="es-419" sz="1100" noProof="0" dirty="0">
                <a:solidFill>
                  <a:srgbClr val="1A1A1A"/>
                </a:solidFill>
                <a:latin typeface="Calibri" pitchFamily="34" charset="0"/>
                <a:ea typeface="Calibri" pitchFamily="34" charset="-122"/>
                <a:cs typeface="Calibri" pitchFamily="34" charset="-120"/>
              </a:rPr>
              <a:t> revisa idempotencia en Redis (operación atómica, típicamente &lt;1ms) y empuja por </a:t>
            </a:r>
            <a:r>
              <a:rPr lang="es-419" sz="1100" noProof="0" dirty="0" err="1">
                <a:solidFill>
                  <a:srgbClr val="1A1A1A"/>
                </a:solidFill>
                <a:latin typeface="Calibri" pitchFamily="34" charset="0"/>
                <a:ea typeface="Calibri" pitchFamily="34" charset="-122"/>
                <a:cs typeface="Calibri" pitchFamily="34" charset="-120"/>
              </a:rPr>
              <a:t>WebSocket</a:t>
            </a:r>
            <a:r>
              <a:rPr lang="es-419" sz="1100" noProof="0" dirty="0">
                <a:solidFill>
                  <a:srgbClr val="1A1A1A"/>
                </a:solidFill>
                <a:latin typeface="Calibri" pitchFamily="34" charset="0"/>
                <a:ea typeface="Calibri" pitchFamily="34" charset="-122"/>
                <a:cs typeface="Calibri" pitchFamily="34" charset="-120"/>
              </a:rPr>
              <a:t>, que ya está conectado y esperando — no hay que abrir conexión nueva ni esperar un ciclo de </a:t>
            </a:r>
            <a:r>
              <a:rPr lang="es-419" sz="1100" noProof="0" dirty="0" err="1">
                <a:solidFill>
                  <a:srgbClr val="1A1A1A"/>
                </a:solidFill>
                <a:latin typeface="Calibri" pitchFamily="34" charset="0"/>
                <a:ea typeface="Calibri" pitchFamily="34" charset="-122"/>
                <a:cs typeface="Calibri" pitchFamily="34" charset="-120"/>
              </a:rPr>
              <a:t>polling</a:t>
            </a:r>
            <a:r>
              <a:rPr lang="es-419" sz="1100" noProof="0" dirty="0">
                <a:solidFill>
                  <a:srgbClr val="1A1A1A"/>
                </a:solidFill>
                <a:latin typeface="Calibri" pitchFamily="34" charset="0"/>
                <a:ea typeface="Calibri" pitchFamily="34" charset="-122"/>
                <a:cs typeface="Calibri" pitchFamily="34" charset="-120"/>
              </a:rPr>
              <a:t>.</a:t>
            </a:r>
            <a:endParaRPr lang="es-419" sz="1100" noProof="0" dirty="0"/>
          </a:p>
        </p:txBody>
      </p:sp>
    </p:spTree>
    <p:extLst>
      <p:ext uri="{BB962C8B-B14F-4D97-AF65-F5344CB8AC3E}">
        <p14:creationId xmlns:p14="http://schemas.microsoft.com/office/powerpoint/2010/main" val="1639399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s-419" sz="4000" b="1" dirty="0" err="1">
                <a:solidFill>
                  <a:srgbClr val="0A4A7F"/>
                </a:solidFill>
                <a:latin typeface="Calibri" pitchFamily="34" charset="0"/>
                <a:ea typeface="Calibri" pitchFamily="34" charset="-122"/>
                <a:cs typeface="Calibri" pitchFamily="34" charset="-120"/>
              </a:rPr>
              <a:t>Setup</a:t>
            </a:r>
            <a:r>
              <a:rPr lang="es-419" sz="4000" b="1" dirty="0">
                <a:solidFill>
                  <a:srgbClr val="0A4A7F"/>
                </a:solidFill>
                <a:latin typeface="Calibri" pitchFamily="34" charset="0"/>
                <a:ea typeface="Calibri" pitchFamily="34" charset="-122"/>
                <a:cs typeface="Calibri" pitchFamily="34" charset="-120"/>
              </a:rPr>
              <a:t> y configuración</a:t>
            </a:r>
            <a:endParaRPr lang="es-419" sz="4000" noProof="0" dirty="0"/>
          </a:p>
        </p:txBody>
      </p:sp>
      <p:sp>
        <p:nvSpPr>
          <p:cNvPr id="3" name="Text 1"/>
          <p:cNvSpPr/>
          <p:nvPr/>
        </p:nvSpPr>
        <p:spPr>
          <a:xfrm>
            <a:off x="457200" y="960120"/>
            <a:ext cx="8229600" cy="320040"/>
          </a:xfrm>
          <a:prstGeom prst="rect">
            <a:avLst/>
          </a:prstGeom>
          <a:noFill/>
          <a:ln/>
        </p:spPr>
        <p:txBody>
          <a:bodyPr wrap="square" rtlCol="0" anchor="ctr"/>
          <a:lstStyle/>
          <a:p>
            <a:pPr marL="0" indent="0">
              <a:buNone/>
            </a:pPr>
            <a:r>
              <a:rPr lang="es-419" sz="1600" noProof="0" dirty="0">
                <a:solidFill>
                  <a:srgbClr val="666666"/>
                </a:solidFill>
                <a:latin typeface="Calibri" pitchFamily="34" charset="0"/>
                <a:ea typeface="Calibri" pitchFamily="34" charset="-122"/>
                <a:cs typeface="Calibri" pitchFamily="34" charset="-120"/>
              </a:rPr>
              <a:t>Guía de ejecución</a:t>
            </a:r>
            <a:endParaRPr lang="es-419" sz="1600" noProof="0" dirty="0"/>
          </a:p>
        </p:txBody>
      </p:sp>
      <p:sp>
        <p:nvSpPr>
          <p:cNvPr id="4" name="Shape 2"/>
          <p:cNvSpPr/>
          <p:nvPr/>
        </p:nvSpPr>
        <p:spPr>
          <a:xfrm>
            <a:off x="457200" y="1463040"/>
            <a:ext cx="2011680" cy="1645920"/>
          </a:xfrm>
          <a:prstGeom prst="roundRect">
            <a:avLst/>
          </a:prstGeom>
          <a:solidFill>
            <a:srgbClr val="E8F1F7"/>
          </a:solidFill>
          <a:ln/>
        </p:spPr>
        <p:txBody>
          <a:bodyPr/>
          <a:lstStyle/>
          <a:p>
            <a:endParaRPr lang="es-419" noProof="0" dirty="0"/>
          </a:p>
        </p:txBody>
      </p:sp>
      <p:sp>
        <p:nvSpPr>
          <p:cNvPr id="5" name="Text 3"/>
          <p:cNvSpPr/>
          <p:nvPr/>
        </p:nvSpPr>
        <p:spPr>
          <a:xfrm>
            <a:off x="594360" y="1600200"/>
            <a:ext cx="1761534" cy="320040"/>
          </a:xfrm>
          <a:prstGeom prst="rect">
            <a:avLst/>
          </a:prstGeom>
          <a:noFill/>
          <a:ln/>
        </p:spPr>
        <p:txBody>
          <a:bodyPr wrap="square" rtlCol="0" anchor="ctr"/>
          <a:lstStyle/>
          <a:p>
            <a:r>
              <a:rPr lang="es-419" sz="1050" b="1" dirty="0">
                <a:solidFill>
                  <a:srgbClr val="0A4A7F"/>
                </a:solidFill>
                <a:latin typeface="Calibri" pitchFamily="34" charset="0"/>
                <a:ea typeface="Calibri" pitchFamily="34" charset="-122"/>
                <a:cs typeface="Calibri" pitchFamily="34" charset="-120"/>
              </a:rPr>
              <a:t>Terminal 1: </a:t>
            </a:r>
            <a:r>
              <a:rPr lang="es-CO" sz="1050" kern="100" dirty="0">
                <a:latin typeface="Aptos" panose="020B0004020202020204" pitchFamily="34" charset="0"/>
                <a:ea typeface="Aptos" panose="020B0004020202020204" pitchFamily="34" charset="0"/>
                <a:cs typeface="Times New Roman" panose="02020603050405020304" pitchFamily="18" charset="0"/>
              </a:rPr>
              <a:t>levantamiento de contenedor</a:t>
            </a:r>
            <a:endParaRPr lang="es-419" sz="1050" noProof="0" dirty="0"/>
          </a:p>
        </p:txBody>
      </p:sp>
      <p:sp>
        <p:nvSpPr>
          <p:cNvPr id="6" name="Text 4"/>
          <p:cNvSpPr/>
          <p:nvPr/>
        </p:nvSpPr>
        <p:spPr>
          <a:xfrm>
            <a:off x="457200" y="1965960"/>
            <a:ext cx="2011680" cy="1051560"/>
          </a:xfrm>
          <a:prstGeom prst="rect">
            <a:avLst/>
          </a:prstGeom>
          <a:noFill/>
          <a:ln/>
        </p:spPr>
        <p:txBody>
          <a:bodyPr wrap="square" rtlCol="0" anchor="ctr"/>
          <a:lstStyle/>
          <a:p>
            <a:pPr marL="171450" indent="-171450">
              <a:buFont typeface="Arial" panose="020B0604020202020204" pitchFamily="34" charset="0"/>
              <a:buChar char="•"/>
            </a:pPr>
            <a:r>
              <a:rPr lang="es-CO" sz="800" kern="100" dirty="0" err="1">
                <a:latin typeface="Aptos" panose="020B0004020202020204" pitchFamily="34" charset="0"/>
                <a:ea typeface="Aptos" panose="020B0004020202020204" pitchFamily="34" charset="0"/>
                <a:cs typeface="Times New Roman" panose="02020603050405020304" pitchFamily="18" charset="0"/>
              </a:rPr>
              <a:t>docker</a:t>
            </a:r>
            <a:r>
              <a:rPr lang="es-CO" sz="800" kern="100" dirty="0">
                <a:latin typeface="Aptos" panose="020B0004020202020204" pitchFamily="34" charset="0"/>
                <a:ea typeface="Aptos" panose="020B0004020202020204" pitchFamily="34" charset="0"/>
                <a:cs typeface="Times New Roman" panose="02020603050405020304" pitchFamily="18" charset="0"/>
              </a:rPr>
              <a:t> </a:t>
            </a:r>
            <a:r>
              <a:rPr lang="es-CO" sz="800" kern="100" dirty="0" err="1">
                <a:latin typeface="Aptos" panose="020B0004020202020204" pitchFamily="34" charset="0"/>
                <a:ea typeface="Aptos" panose="020B0004020202020204" pitchFamily="34" charset="0"/>
                <a:cs typeface="Times New Roman" panose="02020603050405020304" pitchFamily="18" charset="0"/>
              </a:rPr>
              <a:t>compose</a:t>
            </a:r>
            <a:r>
              <a:rPr lang="es-CO" sz="800" kern="100" dirty="0">
                <a:latin typeface="Aptos" panose="020B0004020202020204" pitchFamily="34" charset="0"/>
                <a:ea typeface="Aptos" panose="020B0004020202020204" pitchFamily="34" charset="0"/>
                <a:cs typeface="Times New Roman" panose="02020603050405020304" pitchFamily="18" charset="0"/>
              </a:rPr>
              <a:t> </a:t>
            </a:r>
            <a:r>
              <a:rPr lang="es-CO" sz="800" kern="100" dirty="0" err="1">
                <a:latin typeface="Aptos" panose="020B0004020202020204" pitchFamily="34" charset="0"/>
                <a:ea typeface="Aptos" panose="020B0004020202020204" pitchFamily="34" charset="0"/>
                <a:cs typeface="Times New Roman" panose="02020603050405020304" pitchFamily="18" charset="0"/>
              </a:rPr>
              <a:t>down</a:t>
            </a:r>
            <a:r>
              <a:rPr lang="es-CO" sz="800" kern="100" dirty="0">
                <a:latin typeface="Aptos" panose="020B0004020202020204" pitchFamily="34" charset="0"/>
                <a:ea typeface="Aptos" panose="020B0004020202020204" pitchFamily="34" charset="0"/>
                <a:cs typeface="Times New Roman" panose="02020603050405020304" pitchFamily="18" charset="0"/>
              </a:rPr>
              <a:t> --</a:t>
            </a:r>
            <a:r>
              <a:rPr lang="es-CO" sz="800" kern="100" dirty="0" err="1">
                <a:latin typeface="Aptos" panose="020B0004020202020204" pitchFamily="34" charset="0"/>
                <a:ea typeface="Aptos" panose="020B0004020202020204" pitchFamily="34" charset="0"/>
                <a:cs typeface="Times New Roman" panose="02020603050405020304" pitchFamily="18" charset="0"/>
              </a:rPr>
              <a:t>rmi</a:t>
            </a:r>
            <a:r>
              <a:rPr lang="es-CO" sz="800" kern="100" dirty="0">
                <a:latin typeface="Aptos" panose="020B0004020202020204" pitchFamily="34" charset="0"/>
                <a:ea typeface="Aptos" panose="020B0004020202020204" pitchFamily="34" charset="0"/>
                <a:cs typeface="Times New Roman" panose="02020603050405020304" pitchFamily="18" charset="0"/>
              </a:rPr>
              <a:t> </a:t>
            </a:r>
            <a:r>
              <a:rPr lang="es-CO" sz="800" kern="100" dirty="0" err="1">
                <a:latin typeface="Aptos" panose="020B0004020202020204" pitchFamily="34" charset="0"/>
                <a:ea typeface="Aptos" panose="020B0004020202020204" pitchFamily="34" charset="0"/>
                <a:cs typeface="Times New Roman" panose="02020603050405020304" pitchFamily="18" charset="0"/>
              </a:rPr>
              <a:t>all</a:t>
            </a:r>
            <a:r>
              <a:rPr lang="es-CO" sz="800" kern="100" dirty="0">
                <a:latin typeface="Aptos" panose="020B0004020202020204" pitchFamily="34" charset="0"/>
                <a:ea typeface="Aptos" panose="020B0004020202020204" pitchFamily="34" charset="0"/>
                <a:cs typeface="Times New Roman" panose="02020603050405020304" pitchFamily="18" charset="0"/>
              </a:rPr>
              <a:t> -v --</a:t>
            </a:r>
            <a:r>
              <a:rPr lang="es-CO" sz="800" kern="100" dirty="0" err="1">
                <a:latin typeface="Aptos" panose="020B0004020202020204" pitchFamily="34" charset="0"/>
                <a:ea typeface="Aptos" panose="020B0004020202020204" pitchFamily="34" charset="0"/>
                <a:cs typeface="Times New Roman" panose="02020603050405020304" pitchFamily="18" charset="0"/>
              </a:rPr>
              <a:t>remove-orphans</a:t>
            </a:r>
            <a:endParaRPr lang="es-CO" sz="800" kern="100" dirty="0">
              <a:latin typeface="Aptos" panose="020B0004020202020204" pitchFamily="34" charset="0"/>
              <a:ea typeface="Aptos" panose="020B0004020202020204" pitchFamily="34" charset="0"/>
              <a:cs typeface="Times New Roman" panose="02020603050405020304" pitchFamily="18" charset="0"/>
            </a:endParaRPr>
          </a:p>
          <a:p>
            <a:pPr marL="171450" indent="-171450">
              <a:buFont typeface="Arial" panose="020B0604020202020204" pitchFamily="34" charset="0"/>
              <a:buChar char="•"/>
            </a:pPr>
            <a:r>
              <a:rPr lang="es-CO" sz="800" kern="100" dirty="0" err="1">
                <a:latin typeface="Aptos" panose="020B0004020202020204" pitchFamily="34" charset="0"/>
                <a:ea typeface="Aptos" panose="020B0004020202020204" pitchFamily="34" charset="0"/>
                <a:cs typeface="Times New Roman" panose="02020603050405020304" pitchFamily="18" charset="0"/>
              </a:rPr>
              <a:t>docker</a:t>
            </a:r>
            <a:r>
              <a:rPr lang="es-CO" sz="800" kern="100" dirty="0">
                <a:latin typeface="Aptos" panose="020B0004020202020204" pitchFamily="34" charset="0"/>
                <a:ea typeface="Aptos" panose="020B0004020202020204" pitchFamily="34" charset="0"/>
                <a:cs typeface="Times New Roman" panose="02020603050405020304" pitchFamily="18" charset="0"/>
              </a:rPr>
              <a:t> </a:t>
            </a:r>
            <a:r>
              <a:rPr lang="es-CO" sz="800" kern="100" dirty="0" err="1">
                <a:latin typeface="Aptos" panose="020B0004020202020204" pitchFamily="34" charset="0"/>
                <a:ea typeface="Aptos" panose="020B0004020202020204" pitchFamily="34" charset="0"/>
                <a:cs typeface="Times New Roman" panose="02020603050405020304" pitchFamily="18" charset="0"/>
              </a:rPr>
              <a:t>compose</a:t>
            </a:r>
            <a:r>
              <a:rPr lang="es-CO" sz="800" kern="100" dirty="0">
                <a:latin typeface="Aptos" panose="020B0004020202020204" pitchFamily="34" charset="0"/>
                <a:ea typeface="Aptos" panose="020B0004020202020204" pitchFamily="34" charset="0"/>
                <a:cs typeface="Times New Roman" panose="02020603050405020304" pitchFamily="18" charset="0"/>
              </a:rPr>
              <a:t> </a:t>
            </a:r>
            <a:r>
              <a:rPr lang="es-CO" sz="800" kern="100" dirty="0" err="1">
                <a:latin typeface="Aptos" panose="020B0004020202020204" pitchFamily="34" charset="0"/>
                <a:ea typeface="Aptos" panose="020B0004020202020204" pitchFamily="34" charset="0"/>
                <a:cs typeface="Times New Roman" panose="02020603050405020304" pitchFamily="18" charset="0"/>
              </a:rPr>
              <a:t>down</a:t>
            </a:r>
            <a:r>
              <a:rPr lang="es-CO" sz="800" kern="100" dirty="0">
                <a:latin typeface="Aptos" panose="020B0004020202020204" pitchFamily="34" charset="0"/>
                <a:ea typeface="Aptos" panose="020B0004020202020204" pitchFamily="34" charset="0"/>
                <a:cs typeface="Times New Roman" panose="02020603050405020304" pitchFamily="18" charset="0"/>
              </a:rPr>
              <a:t> –v</a:t>
            </a:r>
          </a:p>
          <a:p>
            <a:pPr marL="171450" indent="-171450">
              <a:buFont typeface="Arial" panose="020B0604020202020204" pitchFamily="34" charset="0"/>
              <a:buChar char="•"/>
            </a:pPr>
            <a:r>
              <a:rPr lang="es-CO" sz="800" kern="100" dirty="0" err="1">
                <a:latin typeface="Aptos" panose="020B0004020202020204" pitchFamily="34" charset="0"/>
                <a:ea typeface="Aptos" panose="020B0004020202020204" pitchFamily="34" charset="0"/>
                <a:cs typeface="Times New Roman" panose="02020603050405020304" pitchFamily="18" charset="0"/>
              </a:rPr>
              <a:t>docker</a:t>
            </a:r>
            <a:r>
              <a:rPr lang="es-CO" sz="800" kern="100" dirty="0">
                <a:latin typeface="Aptos" panose="020B0004020202020204" pitchFamily="34" charset="0"/>
                <a:ea typeface="Aptos" panose="020B0004020202020204" pitchFamily="34" charset="0"/>
                <a:cs typeface="Times New Roman" panose="02020603050405020304" pitchFamily="18" charset="0"/>
              </a:rPr>
              <a:t> </a:t>
            </a:r>
            <a:r>
              <a:rPr lang="es-CO" sz="800" kern="100" dirty="0" err="1">
                <a:latin typeface="Aptos" panose="020B0004020202020204" pitchFamily="34" charset="0"/>
                <a:ea typeface="Aptos" panose="020B0004020202020204" pitchFamily="34" charset="0"/>
                <a:cs typeface="Times New Roman" panose="02020603050405020304" pitchFamily="18" charset="0"/>
              </a:rPr>
              <a:t>compose</a:t>
            </a:r>
            <a:r>
              <a:rPr lang="es-CO" sz="800" kern="100" dirty="0">
                <a:latin typeface="Aptos" panose="020B0004020202020204" pitchFamily="34" charset="0"/>
                <a:ea typeface="Aptos" panose="020B0004020202020204" pitchFamily="34" charset="0"/>
                <a:cs typeface="Times New Roman" panose="02020603050405020304" pitchFamily="18" charset="0"/>
              </a:rPr>
              <a:t> </a:t>
            </a:r>
            <a:r>
              <a:rPr lang="es-CO" sz="800" kern="100" dirty="0" err="1">
                <a:latin typeface="Aptos" panose="020B0004020202020204" pitchFamily="34" charset="0"/>
                <a:ea typeface="Aptos" panose="020B0004020202020204" pitchFamily="34" charset="0"/>
                <a:cs typeface="Times New Roman" panose="02020603050405020304" pitchFamily="18" charset="0"/>
              </a:rPr>
              <a:t>build</a:t>
            </a:r>
            <a:r>
              <a:rPr lang="es-CO" sz="800" kern="100" dirty="0">
                <a:latin typeface="Aptos" panose="020B0004020202020204" pitchFamily="34" charset="0"/>
                <a:ea typeface="Aptos" panose="020B0004020202020204" pitchFamily="34" charset="0"/>
                <a:cs typeface="Times New Roman" panose="02020603050405020304" pitchFamily="18" charset="0"/>
              </a:rPr>
              <a:t> --no-cache</a:t>
            </a:r>
          </a:p>
          <a:p>
            <a:pPr marL="171450" indent="-171450">
              <a:buFont typeface="Arial" panose="020B0604020202020204" pitchFamily="34" charset="0"/>
              <a:buChar char="•"/>
            </a:pPr>
            <a:r>
              <a:rPr lang="es-CO" sz="800" kern="100" dirty="0" err="1">
                <a:latin typeface="Aptos" panose="020B0004020202020204" pitchFamily="34" charset="0"/>
                <a:ea typeface="Aptos" panose="020B0004020202020204" pitchFamily="34" charset="0"/>
                <a:cs typeface="Times New Roman" panose="02020603050405020304" pitchFamily="18" charset="0"/>
              </a:rPr>
              <a:t>docker</a:t>
            </a:r>
            <a:r>
              <a:rPr lang="es-CO" sz="800" kern="100" dirty="0">
                <a:latin typeface="Aptos" panose="020B0004020202020204" pitchFamily="34" charset="0"/>
                <a:ea typeface="Aptos" panose="020B0004020202020204" pitchFamily="34" charset="0"/>
                <a:cs typeface="Times New Roman" panose="02020603050405020304" pitchFamily="18" charset="0"/>
              </a:rPr>
              <a:t> </a:t>
            </a:r>
            <a:r>
              <a:rPr lang="es-CO" sz="800" kern="100" dirty="0" err="1">
                <a:latin typeface="Aptos" panose="020B0004020202020204" pitchFamily="34" charset="0"/>
                <a:ea typeface="Aptos" panose="020B0004020202020204" pitchFamily="34" charset="0"/>
                <a:cs typeface="Times New Roman" panose="02020603050405020304" pitchFamily="18" charset="0"/>
              </a:rPr>
              <a:t>compose</a:t>
            </a:r>
            <a:r>
              <a:rPr lang="es-CO" sz="800" kern="100" dirty="0">
                <a:latin typeface="Aptos" panose="020B0004020202020204" pitchFamily="34" charset="0"/>
                <a:ea typeface="Aptos" panose="020B0004020202020204" pitchFamily="34" charset="0"/>
                <a:cs typeface="Times New Roman" panose="02020603050405020304" pitchFamily="18" charset="0"/>
              </a:rPr>
              <a:t> up –d</a:t>
            </a:r>
          </a:p>
          <a:p>
            <a:pPr marL="171450" indent="-171450">
              <a:buFont typeface="Arial" panose="020B0604020202020204" pitchFamily="34" charset="0"/>
              <a:buChar char="•"/>
            </a:pPr>
            <a:r>
              <a:rPr lang="es-CO" sz="800" kern="100" dirty="0" err="1">
                <a:latin typeface="Aptos" panose="020B0004020202020204" pitchFamily="34" charset="0"/>
                <a:ea typeface="Aptos" panose="020B0004020202020204" pitchFamily="34" charset="0"/>
                <a:cs typeface="Times New Roman" panose="02020603050405020304" pitchFamily="18" charset="0"/>
              </a:rPr>
              <a:t>docker</a:t>
            </a:r>
            <a:r>
              <a:rPr lang="es-CO" sz="800" kern="100" dirty="0">
                <a:latin typeface="Aptos" panose="020B0004020202020204" pitchFamily="34" charset="0"/>
                <a:ea typeface="Aptos" panose="020B0004020202020204" pitchFamily="34" charset="0"/>
                <a:cs typeface="Times New Roman" panose="02020603050405020304" pitchFamily="18" charset="0"/>
              </a:rPr>
              <a:t> </a:t>
            </a:r>
            <a:r>
              <a:rPr lang="es-CO" sz="800" kern="100" dirty="0" err="1">
                <a:latin typeface="Aptos" panose="020B0004020202020204" pitchFamily="34" charset="0"/>
                <a:ea typeface="Aptos" panose="020B0004020202020204" pitchFamily="34" charset="0"/>
                <a:cs typeface="Times New Roman" panose="02020603050405020304" pitchFamily="18" charset="0"/>
              </a:rPr>
              <a:t>compose</a:t>
            </a:r>
            <a:r>
              <a:rPr lang="es-CO" sz="800" kern="100" dirty="0">
                <a:latin typeface="Aptos" panose="020B0004020202020204" pitchFamily="34" charset="0"/>
                <a:ea typeface="Aptos" panose="020B0004020202020204" pitchFamily="34" charset="0"/>
                <a:cs typeface="Times New Roman" panose="02020603050405020304" pitchFamily="18" charset="0"/>
              </a:rPr>
              <a:t> logs </a:t>
            </a:r>
            <a:r>
              <a:rPr lang="es-CO" sz="800" kern="100" dirty="0" err="1">
                <a:latin typeface="Aptos" panose="020B0004020202020204" pitchFamily="34" charset="0"/>
                <a:ea typeface="Aptos" panose="020B0004020202020204" pitchFamily="34" charset="0"/>
                <a:cs typeface="Times New Roman" panose="02020603050405020304" pitchFamily="18" charset="0"/>
              </a:rPr>
              <a:t>confirmation-dispatcher</a:t>
            </a:r>
            <a:r>
              <a:rPr lang="es-CO" sz="800" kern="100" dirty="0">
                <a:latin typeface="Aptos" panose="020B0004020202020204" pitchFamily="34" charset="0"/>
                <a:ea typeface="Aptos" panose="020B0004020202020204" pitchFamily="34" charset="0"/>
                <a:cs typeface="Times New Roman" panose="02020603050405020304" pitchFamily="18" charset="0"/>
              </a:rPr>
              <a:t> | </a:t>
            </a:r>
            <a:r>
              <a:rPr lang="es-CO" sz="800" kern="100" dirty="0" err="1">
                <a:latin typeface="Aptos" panose="020B0004020202020204" pitchFamily="34" charset="0"/>
                <a:ea typeface="Aptos" panose="020B0004020202020204" pitchFamily="34" charset="0"/>
                <a:cs typeface="Times New Roman" panose="02020603050405020304" pitchFamily="18" charset="0"/>
              </a:rPr>
              <a:t>Select</a:t>
            </a:r>
            <a:r>
              <a:rPr lang="es-CO" sz="800" kern="100" dirty="0">
                <a:latin typeface="Aptos" panose="020B0004020202020204" pitchFamily="34" charset="0"/>
                <a:ea typeface="Aptos" panose="020B0004020202020204" pitchFamily="34" charset="0"/>
                <a:cs typeface="Times New Roman" panose="02020603050405020304" pitchFamily="18" charset="0"/>
              </a:rPr>
              <a:t>-String -i </a:t>
            </a:r>
            <a:r>
              <a:rPr lang="es-CO" sz="800" kern="100" dirty="0" err="1">
                <a:latin typeface="Aptos" panose="020B0004020202020204" pitchFamily="34" charset="0"/>
                <a:ea typeface="Aptos" panose="020B0004020202020204" pitchFamily="34" charset="0"/>
                <a:cs typeface="Times New Roman" panose="02020603050405020304" pitchFamily="18" charset="0"/>
              </a:rPr>
              <a:t>websocket</a:t>
            </a:r>
            <a:r>
              <a:rPr lang="es-CO" sz="800" kern="100" dirty="0">
                <a:latin typeface="Aptos" panose="020B0004020202020204" pitchFamily="34" charset="0"/>
                <a:ea typeface="Aptos" panose="020B0004020202020204" pitchFamily="34" charset="0"/>
                <a:cs typeface="Times New Roman" panose="02020603050405020304" pitchFamily="18" charset="0"/>
              </a:rPr>
              <a:t> </a:t>
            </a:r>
          </a:p>
        </p:txBody>
      </p:sp>
      <p:sp>
        <p:nvSpPr>
          <p:cNvPr id="8" name="Shape 6"/>
          <p:cNvSpPr/>
          <p:nvPr/>
        </p:nvSpPr>
        <p:spPr>
          <a:xfrm>
            <a:off x="2606040" y="1463040"/>
            <a:ext cx="1965960" cy="1645920"/>
          </a:xfrm>
          <a:prstGeom prst="roundRect">
            <a:avLst/>
          </a:prstGeom>
          <a:solidFill>
            <a:srgbClr val="FFF3E0"/>
          </a:solidFill>
          <a:ln/>
        </p:spPr>
        <p:txBody>
          <a:bodyPr/>
          <a:lstStyle/>
          <a:p>
            <a:endParaRPr lang="es-419" noProof="0" dirty="0"/>
          </a:p>
        </p:txBody>
      </p:sp>
      <p:sp>
        <p:nvSpPr>
          <p:cNvPr id="9" name="Text 7"/>
          <p:cNvSpPr/>
          <p:nvPr/>
        </p:nvSpPr>
        <p:spPr>
          <a:xfrm>
            <a:off x="2606040" y="1561837"/>
            <a:ext cx="1852974" cy="320040"/>
          </a:xfrm>
          <a:prstGeom prst="rect">
            <a:avLst/>
          </a:prstGeom>
          <a:noFill/>
          <a:ln/>
        </p:spPr>
        <p:txBody>
          <a:bodyPr wrap="square" rtlCol="0" anchor="ctr"/>
          <a:lstStyle/>
          <a:p>
            <a:r>
              <a:rPr lang="es-419" sz="1100" b="1" noProof="0" dirty="0">
                <a:solidFill>
                  <a:srgbClr val="E67E22"/>
                </a:solidFill>
                <a:latin typeface="Calibri" pitchFamily="34" charset="0"/>
                <a:ea typeface="Calibri" pitchFamily="34" charset="-122"/>
                <a:cs typeface="Calibri" pitchFamily="34" charset="-120"/>
              </a:rPr>
              <a:t>Terminal 2: </a:t>
            </a:r>
            <a:r>
              <a:rPr lang="es-CO" sz="1100" kern="100" dirty="0">
                <a:latin typeface="Aptos" panose="020B0004020202020204" pitchFamily="34" charset="0"/>
                <a:ea typeface="Aptos" panose="020B0004020202020204" pitchFamily="34" charset="0"/>
                <a:cs typeface="Times New Roman" panose="02020603050405020304" pitchFamily="18" charset="0"/>
              </a:rPr>
              <a:t>levantamiento </a:t>
            </a:r>
            <a:r>
              <a:rPr lang="es-CO" sz="1100" kern="100" dirty="0" err="1">
                <a:latin typeface="Aptos" panose="020B0004020202020204" pitchFamily="34" charset="0"/>
                <a:ea typeface="Aptos" panose="020B0004020202020204" pitchFamily="34" charset="0"/>
                <a:cs typeface="Times New Roman" panose="02020603050405020304" pitchFamily="18" charset="0"/>
              </a:rPr>
              <a:t>latency</a:t>
            </a:r>
            <a:r>
              <a:rPr lang="es-CO" sz="1100" kern="100" dirty="0">
                <a:latin typeface="Aptos" panose="020B0004020202020204" pitchFamily="34" charset="0"/>
                <a:ea typeface="Aptos" panose="020B0004020202020204" pitchFamily="34" charset="0"/>
                <a:cs typeface="Times New Roman" panose="02020603050405020304" pitchFamily="18" charset="0"/>
              </a:rPr>
              <a:t> </a:t>
            </a:r>
            <a:endParaRPr lang="es-419" sz="1100" noProof="0" dirty="0"/>
          </a:p>
        </p:txBody>
      </p:sp>
      <p:sp>
        <p:nvSpPr>
          <p:cNvPr id="10" name="Text 8"/>
          <p:cNvSpPr/>
          <p:nvPr/>
        </p:nvSpPr>
        <p:spPr>
          <a:xfrm>
            <a:off x="2606040" y="1965960"/>
            <a:ext cx="1965960" cy="1051560"/>
          </a:xfrm>
          <a:prstGeom prst="rect">
            <a:avLst/>
          </a:prstGeom>
          <a:noFill/>
          <a:ln/>
        </p:spPr>
        <p:txBody>
          <a:bodyPr wrap="square" rtlCol="0" anchor="ctr"/>
          <a:lstStyle/>
          <a:p>
            <a:pPr marL="171450" indent="-171450">
              <a:buFont typeface="Arial" panose="020B0604020202020204" pitchFamily="34" charset="0"/>
              <a:buChar char="•"/>
            </a:pPr>
            <a:r>
              <a:rPr lang="en-US" sz="1100" dirty="0"/>
              <a:t>docker compose --profile test run --rm latency-probe</a:t>
            </a:r>
            <a:endParaRPr lang="es-419" sz="1100" noProof="0" dirty="0"/>
          </a:p>
        </p:txBody>
      </p:sp>
      <p:sp>
        <p:nvSpPr>
          <p:cNvPr id="12" name="Shape 10"/>
          <p:cNvSpPr/>
          <p:nvPr/>
        </p:nvSpPr>
        <p:spPr>
          <a:xfrm>
            <a:off x="4709160" y="1463040"/>
            <a:ext cx="2011680" cy="1645920"/>
          </a:xfrm>
          <a:prstGeom prst="roundRect">
            <a:avLst/>
          </a:prstGeom>
          <a:solidFill>
            <a:srgbClr val="F8F9FA"/>
          </a:solidFill>
          <a:ln/>
        </p:spPr>
        <p:txBody>
          <a:bodyPr/>
          <a:lstStyle/>
          <a:p>
            <a:endParaRPr lang="es-419" noProof="0" dirty="0"/>
          </a:p>
        </p:txBody>
      </p:sp>
      <p:sp>
        <p:nvSpPr>
          <p:cNvPr id="13" name="Text 11"/>
          <p:cNvSpPr/>
          <p:nvPr/>
        </p:nvSpPr>
        <p:spPr>
          <a:xfrm>
            <a:off x="4846320" y="1600200"/>
            <a:ext cx="1737360" cy="320040"/>
          </a:xfrm>
          <a:prstGeom prst="rect">
            <a:avLst/>
          </a:prstGeom>
          <a:noFill/>
          <a:ln/>
        </p:spPr>
        <p:txBody>
          <a:bodyPr wrap="square" rtlCol="0" anchor="ctr"/>
          <a:lstStyle/>
          <a:p>
            <a:r>
              <a:rPr lang="es-419" sz="1100" b="1" dirty="0">
                <a:solidFill>
                  <a:srgbClr val="0A4A7F"/>
                </a:solidFill>
                <a:latin typeface="Calibri" pitchFamily="34" charset="0"/>
                <a:ea typeface="Calibri" pitchFamily="34" charset="-122"/>
                <a:cs typeface="Calibri" pitchFamily="34" charset="-120"/>
              </a:rPr>
              <a:t>Terminal 3: </a:t>
            </a:r>
            <a:r>
              <a:rPr lang="es-CO" sz="1100" kern="100" dirty="0">
                <a:latin typeface="Aptos" panose="020B0004020202020204" pitchFamily="34" charset="0"/>
                <a:ea typeface="Aptos" panose="020B0004020202020204" pitchFamily="34" charset="0"/>
                <a:cs typeface="Times New Roman" panose="02020603050405020304" pitchFamily="18" charset="0"/>
              </a:rPr>
              <a:t>ver emparejamientos al finalizar</a:t>
            </a:r>
            <a:endParaRPr lang="es-419" sz="1100" b="1" dirty="0">
              <a:solidFill>
                <a:srgbClr val="0A4A7F"/>
              </a:solidFill>
              <a:latin typeface="Calibri" pitchFamily="34" charset="0"/>
              <a:ea typeface="Calibri" pitchFamily="34" charset="-122"/>
              <a:cs typeface="Calibri" pitchFamily="34" charset="-120"/>
            </a:endParaRPr>
          </a:p>
        </p:txBody>
      </p:sp>
      <p:sp>
        <p:nvSpPr>
          <p:cNvPr id="14" name="Text 12"/>
          <p:cNvSpPr/>
          <p:nvPr/>
        </p:nvSpPr>
        <p:spPr>
          <a:xfrm>
            <a:off x="4846320" y="1965960"/>
            <a:ext cx="1737360" cy="1051560"/>
          </a:xfrm>
          <a:prstGeom prst="rect">
            <a:avLst/>
          </a:prstGeom>
          <a:noFill/>
          <a:ln/>
        </p:spPr>
        <p:txBody>
          <a:bodyPr wrap="square" rtlCol="0" anchor="ctr"/>
          <a:lstStyle/>
          <a:p>
            <a:pPr marL="171450" indent="-171450">
              <a:buFont typeface="Arial" panose="020B0604020202020204" pitchFamily="34" charset="0"/>
              <a:buChar char="•"/>
            </a:pPr>
            <a:r>
              <a:rPr lang="es-CO" sz="900" kern="100" dirty="0" err="1">
                <a:latin typeface="Aptos" panose="020B0004020202020204" pitchFamily="34" charset="0"/>
                <a:ea typeface="Aptos" panose="020B0004020202020204" pitchFamily="34" charset="0"/>
                <a:cs typeface="Times New Roman" panose="02020603050405020304" pitchFamily="18" charset="0"/>
              </a:rPr>
              <a:t>docker</a:t>
            </a:r>
            <a:r>
              <a:rPr lang="es-CO" sz="900" kern="100" dirty="0">
                <a:latin typeface="Aptos" panose="020B0004020202020204" pitchFamily="34" charset="0"/>
                <a:ea typeface="Aptos" panose="020B0004020202020204" pitchFamily="34" charset="0"/>
                <a:cs typeface="Times New Roman" panose="02020603050405020304" pitchFamily="18" charset="0"/>
              </a:rPr>
              <a:t> </a:t>
            </a:r>
            <a:r>
              <a:rPr lang="es-CO" sz="900" kern="100" dirty="0" err="1">
                <a:latin typeface="Aptos" panose="020B0004020202020204" pitchFamily="34" charset="0"/>
                <a:ea typeface="Aptos" panose="020B0004020202020204" pitchFamily="34" charset="0"/>
                <a:cs typeface="Times New Roman" panose="02020603050405020304" pitchFamily="18" charset="0"/>
              </a:rPr>
              <a:t>compose</a:t>
            </a:r>
            <a:r>
              <a:rPr lang="es-CO" sz="900" kern="100" dirty="0">
                <a:latin typeface="Aptos" panose="020B0004020202020204" pitchFamily="34" charset="0"/>
                <a:ea typeface="Aptos" panose="020B0004020202020204" pitchFamily="34" charset="0"/>
                <a:cs typeface="Times New Roman" panose="02020603050405020304" pitchFamily="18" charset="0"/>
              </a:rPr>
              <a:t> logs </a:t>
            </a:r>
            <a:r>
              <a:rPr lang="es-CO" sz="900" kern="100" dirty="0" err="1">
                <a:latin typeface="Aptos" panose="020B0004020202020204" pitchFamily="34" charset="0"/>
                <a:ea typeface="Aptos" panose="020B0004020202020204" pitchFamily="34" charset="0"/>
                <a:cs typeface="Times New Roman" panose="02020603050405020304" pitchFamily="18" charset="0"/>
              </a:rPr>
              <a:t>matching-engine</a:t>
            </a:r>
            <a:r>
              <a:rPr lang="es-CO" sz="900" kern="100" dirty="0">
                <a:latin typeface="Aptos" panose="020B0004020202020204" pitchFamily="34" charset="0"/>
                <a:ea typeface="Aptos" panose="020B0004020202020204" pitchFamily="34" charset="0"/>
                <a:cs typeface="Times New Roman" panose="02020603050405020304" pitchFamily="18" charset="0"/>
              </a:rPr>
              <a:t> | </a:t>
            </a:r>
            <a:r>
              <a:rPr lang="es-CO" sz="900" kern="100" dirty="0" err="1">
                <a:latin typeface="Aptos" panose="020B0004020202020204" pitchFamily="34" charset="0"/>
                <a:ea typeface="Aptos" panose="020B0004020202020204" pitchFamily="34" charset="0"/>
                <a:cs typeface="Times New Roman" panose="02020603050405020304" pitchFamily="18" charset="0"/>
              </a:rPr>
              <a:t>Select</a:t>
            </a:r>
            <a:r>
              <a:rPr lang="es-CO" sz="900" kern="100" dirty="0">
                <a:latin typeface="Aptos" panose="020B0004020202020204" pitchFamily="34" charset="0"/>
                <a:ea typeface="Aptos" panose="020B0004020202020204" pitchFamily="34" charset="0"/>
                <a:cs typeface="Times New Roman" panose="02020603050405020304" pitchFamily="18" charset="0"/>
              </a:rPr>
              <a:t>-String "1MIN“</a:t>
            </a:r>
          </a:p>
          <a:p>
            <a:pPr marL="171450" indent="-171450">
              <a:buFont typeface="Arial" panose="020B0604020202020204" pitchFamily="34" charset="0"/>
              <a:buChar char="•"/>
            </a:pPr>
            <a:r>
              <a:rPr lang="en-US" sz="900" dirty="0"/>
              <a:t>docker compose logs matching-engine &gt; engine_fase2_completa.log</a:t>
            </a:r>
            <a:endParaRPr lang="es-CO" sz="900" kern="100" dirty="0">
              <a:latin typeface="Aptos" panose="020B0004020202020204" pitchFamily="34" charset="0"/>
              <a:ea typeface="Aptos" panose="020B0004020202020204" pitchFamily="34" charset="0"/>
              <a:cs typeface="Times New Roman" panose="02020603050405020304" pitchFamily="18" charset="0"/>
            </a:endParaRPr>
          </a:p>
        </p:txBody>
      </p:sp>
      <p:sp>
        <p:nvSpPr>
          <p:cNvPr id="15" name="Shape 13"/>
          <p:cNvSpPr/>
          <p:nvPr/>
        </p:nvSpPr>
        <p:spPr>
          <a:xfrm>
            <a:off x="457200" y="3291840"/>
            <a:ext cx="8455572" cy="1554480"/>
          </a:xfrm>
          <a:prstGeom prst="roundRect">
            <a:avLst/>
          </a:prstGeom>
          <a:solidFill>
            <a:srgbClr val="F8F9FA"/>
          </a:solidFill>
          <a:ln/>
        </p:spPr>
        <p:txBody>
          <a:bodyPr/>
          <a:lstStyle/>
          <a:p>
            <a:endParaRPr lang="es-419" noProof="0" dirty="0"/>
          </a:p>
        </p:txBody>
      </p:sp>
      <p:sp>
        <p:nvSpPr>
          <p:cNvPr id="16" name="Text 14"/>
          <p:cNvSpPr/>
          <p:nvPr/>
        </p:nvSpPr>
        <p:spPr>
          <a:xfrm>
            <a:off x="640080" y="3429000"/>
            <a:ext cx="7863840" cy="274320"/>
          </a:xfrm>
          <a:prstGeom prst="rect">
            <a:avLst/>
          </a:prstGeom>
          <a:noFill/>
          <a:ln/>
        </p:spPr>
        <p:txBody>
          <a:bodyPr wrap="square" rtlCol="0" anchor="ctr"/>
          <a:lstStyle/>
          <a:p>
            <a:pPr marL="0" indent="0">
              <a:buNone/>
            </a:pPr>
            <a:r>
              <a:rPr lang="es-419" sz="1300" b="1" noProof="0" dirty="0">
                <a:solidFill>
                  <a:srgbClr val="0A4A7F"/>
                </a:solidFill>
                <a:latin typeface="Calibri" pitchFamily="34" charset="0"/>
                <a:ea typeface="Calibri" pitchFamily="34" charset="-122"/>
                <a:cs typeface="Calibri" pitchFamily="34" charset="-120"/>
              </a:rPr>
              <a:t>Ejemplo:</a:t>
            </a:r>
            <a:endParaRPr lang="es-419" sz="1300" noProof="0" dirty="0"/>
          </a:p>
        </p:txBody>
      </p:sp>
      <p:sp>
        <p:nvSpPr>
          <p:cNvPr id="17" name="Text 15"/>
          <p:cNvSpPr/>
          <p:nvPr/>
        </p:nvSpPr>
        <p:spPr>
          <a:xfrm>
            <a:off x="640080" y="3749040"/>
            <a:ext cx="6080760" cy="1051560"/>
          </a:xfrm>
          <a:prstGeom prst="rect">
            <a:avLst/>
          </a:prstGeom>
          <a:noFill/>
          <a:ln/>
        </p:spPr>
        <p:txBody>
          <a:bodyPr wrap="square" rtlCol="0" anchor="ctr"/>
          <a:lstStyle/>
          <a:p>
            <a:pPr>
              <a:lnSpc>
                <a:spcPct val="115000"/>
              </a:lnSpc>
              <a:spcAft>
                <a:spcPts val="800"/>
              </a:spcAft>
            </a:pPr>
            <a:r>
              <a:rPr lang="es-CO" sz="1050" kern="100" dirty="0">
                <a:latin typeface="Aptos" panose="020B0004020202020204" pitchFamily="34" charset="0"/>
                <a:ea typeface="Aptos" panose="020B0004020202020204" pitchFamily="34" charset="0"/>
                <a:cs typeface="Times New Roman" panose="02020603050405020304" pitchFamily="18" charset="0"/>
              </a:rPr>
              <a:t>prueba de 15 minutos totales (5 min Fase 1 + 10 min Fase 2)</a:t>
            </a:r>
            <a:r>
              <a:rPr lang="es-CO" sz="1050" kern="100" dirty="0" err="1">
                <a:latin typeface="Aptos" panose="020B0004020202020204" pitchFamily="34" charset="0"/>
                <a:ea typeface="Aptos" panose="020B0004020202020204" pitchFamily="34" charset="0"/>
                <a:cs typeface="Times New Roman" panose="02020603050405020304" pitchFamily="18" charset="0"/>
              </a:rPr>
              <a:t>docker</a:t>
            </a:r>
            <a:r>
              <a:rPr lang="es-CO" sz="1050" kern="100" dirty="0">
                <a:latin typeface="Aptos" panose="020B0004020202020204" pitchFamily="34" charset="0"/>
                <a:ea typeface="Aptos" panose="020B0004020202020204" pitchFamily="34" charset="0"/>
                <a:cs typeface="Times New Roman" panose="02020603050405020304" pitchFamily="18" charset="0"/>
              </a:rPr>
              <a:t> </a:t>
            </a:r>
            <a:r>
              <a:rPr lang="es-CO" sz="1050" kern="100" dirty="0" err="1">
                <a:latin typeface="Aptos" panose="020B0004020202020204" pitchFamily="34" charset="0"/>
                <a:ea typeface="Aptos" panose="020B0004020202020204" pitchFamily="34" charset="0"/>
                <a:cs typeface="Times New Roman" panose="02020603050405020304" pitchFamily="18" charset="0"/>
              </a:rPr>
              <a:t>compose</a:t>
            </a:r>
            <a:r>
              <a:rPr lang="es-CO" sz="1050" kern="100" dirty="0">
                <a:latin typeface="Aptos" panose="020B0004020202020204" pitchFamily="34" charset="0"/>
                <a:ea typeface="Aptos" panose="020B0004020202020204" pitchFamily="34" charset="0"/>
                <a:cs typeface="Times New Roman" panose="02020603050405020304" pitchFamily="18" charset="0"/>
              </a:rPr>
              <a:t> --</a:t>
            </a:r>
            <a:r>
              <a:rPr lang="es-CO" sz="1050" kern="100" dirty="0" err="1">
                <a:latin typeface="Aptos" panose="020B0004020202020204" pitchFamily="34" charset="0"/>
                <a:ea typeface="Aptos" panose="020B0004020202020204" pitchFamily="34" charset="0"/>
                <a:cs typeface="Times New Roman" panose="02020603050405020304" pitchFamily="18" charset="0"/>
              </a:rPr>
              <a:t>profile</a:t>
            </a:r>
            <a:r>
              <a:rPr lang="es-CO" sz="1050" kern="100" dirty="0">
                <a:latin typeface="Aptos" panose="020B0004020202020204" pitchFamily="34" charset="0"/>
                <a:ea typeface="Aptos" panose="020B0004020202020204" pitchFamily="34" charset="0"/>
                <a:cs typeface="Times New Roman" panose="02020603050405020304" pitchFamily="18" charset="0"/>
              </a:rPr>
              <a:t> test run --</a:t>
            </a:r>
            <a:r>
              <a:rPr lang="es-CO" sz="1050" kern="100" dirty="0" err="1">
                <a:latin typeface="Aptos" panose="020B0004020202020204" pitchFamily="34" charset="0"/>
                <a:ea typeface="Aptos" panose="020B0004020202020204" pitchFamily="34" charset="0"/>
                <a:cs typeface="Times New Roman" panose="02020603050405020304" pitchFamily="18" charset="0"/>
              </a:rPr>
              <a:t>rm</a:t>
            </a:r>
            <a:r>
              <a:rPr lang="es-CO" sz="1050" kern="100" dirty="0">
                <a:latin typeface="Aptos" panose="020B0004020202020204" pitchFamily="34" charset="0"/>
                <a:ea typeface="Aptos" panose="020B0004020202020204" pitchFamily="34" charset="0"/>
                <a:cs typeface="Times New Roman" panose="02020603050405020304" pitchFamily="18" charset="0"/>
              </a:rPr>
              <a:t> -e PROBE_DURATION=900 -e PROBE_FASE1_DURATION=300 </a:t>
            </a:r>
            <a:r>
              <a:rPr lang="es-CO" sz="1050" kern="100" dirty="0" err="1">
                <a:latin typeface="Aptos" panose="020B0004020202020204" pitchFamily="34" charset="0"/>
                <a:ea typeface="Aptos" panose="020B0004020202020204" pitchFamily="34" charset="0"/>
                <a:cs typeface="Times New Roman" panose="02020603050405020304" pitchFamily="18" charset="0"/>
              </a:rPr>
              <a:t>latency</a:t>
            </a:r>
            <a:r>
              <a:rPr lang="es-CO" sz="1050" kern="100" dirty="0">
                <a:latin typeface="Aptos" panose="020B0004020202020204" pitchFamily="34" charset="0"/>
                <a:ea typeface="Aptos" panose="020B0004020202020204" pitchFamily="34" charset="0"/>
                <a:cs typeface="Times New Roman" panose="02020603050405020304" pitchFamily="18" charset="0"/>
              </a:rPr>
              <a:t>-probe</a:t>
            </a:r>
          </a:p>
          <a:p>
            <a:pPr>
              <a:lnSpc>
                <a:spcPct val="115000"/>
              </a:lnSpc>
              <a:spcAft>
                <a:spcPts val="800"/>
              </a:spcAft>
            </a:pPr>
            <a:r>
              <a:rPr lang="es-CO" sz="1050" kern="100" dirty="0">
                <a:latin typeface="Aptos" panose="020B0004020202020204" pitchFamily="34" charset="0"/>
                <a:ea typeface="Aptos" panose="020B0004020202020204" pitchFamily="34" charset="0"/>
                <a:cs typeface="Times New Roman" panose="02020603050405020304" pitchFamily="18" charset="0"/>
              </a:rPr>
              <a:t>PROBE_DURATION: segundos TOTALES que el probe escucha (hoy 2400 = 40 min)</a:t>
            </a:r>
          </a:p>
          <a:p>
            <a:pPr>
              <a:lnSpc>
                <a:spcPct val="115000"/>
              </a:lnSpc>
              <a:spcAft>
                <a:spcPts val="800"/>
              </a:spcAft>
            </a:pPr>
            <a:r>
              <a:rPr lang="es-CO" sz="1050" kern="100" dirty="0">
                <a:latin typeface="Aptos" panose="020B0004020202020204" pitchFamily="34" charset="0"/>
                <a:ea typeface="Aptos" panose="020B0004020202020204" pitchFamily="34" charset="0"/>
                <a:cs typeface="Times New Roman" panose="02020603050405020304" pitchFamily="18" charset="0"/>
              </a:rPr>
              <a:t>PROBE_FASE1_DURATION: en qué segundo corta el reporte entre Fase 1 y Fase 2 (hoy 600 = 10 min)</a:t>
            </a:r>
          </a:p>
        </p:txBody>
      </p:sp>
      <p:sp>
        <p:nvSpPr>
          <p:cNvPr id="19" name="Shape 6">
            <a:extLst>
              <a:ext uri="{FF2B5EF4-FFF2-40B4-BE49-F238E27FC236}">
                <a16:creationId xmlns:a16="http://schemas.microsoft.com/office/drawing/2014/main" id="{CD78403F-D8D8-5D29-3EB6-C9781CC02A60}"/>
              </a:ext>
            </a:extLst>
          </p:cNvPr>
          <p:cNvSpPr/>
          <p:nvPr/>
        </p:nvSpPr>
        <p:spPr>
          <a:xfrm>
            <a:off x="6858000" y="1463040"/>
            <a:ext cx="1965960" cy="1645920"/>
          </a:xfrm>
          <a:prstGeom prst="roundRect">
            <a:avLst/>
          </a:prstGeom>
          <a:solidFill>
            <a:srgbClr val="FFF3E0"/>
          </a:solidFill>
          <a:ln/>
        </p:spPr>
        <p:txBody>
          <a:bodyPr/>
          <a:lstStyle/>
          <a:p>
            <a:endParaRPr lang="es-419" noProof="0" dirty="0"/>
          </a:p>
        </p:txBody>
      </p:sp>
      <p:sp>
        <p:nvSpPr>
          <p:cNvPr id="21" name="Text 8">
            <a:extLst>
              <a:ext uri="{FF2B5EF4-FFF2-40B4-BE49-F238E27FC236}">
                <a16:creationId xmlns:a16="http://schemas.microsoft.com/office/drawing/2014/main" id="{BCD69E5A-D8A2-3EDC-F8F5-441F9AEFBB6C}"/>
              </a:ext>
            </a:extLst>
          </p:cNvPr>
          <p:cNvSpPr/>
          <p:nvPr/>
        </p:nvSpPr>
        <p:spPr>
          <a:xfrm>
            <a:off x="6858000" y="1965960"/>
            <a:ext cx="1965960" cy="1051560"/>
          </a:xfrm>
          <a:prstGeom prst="rect">
            <a:avLst/>
          </a:prstGeom>
          <a:noFill/>
          <a:ln/>
        </p:spPr>
        <p:txBody>
          <a:bodyPr wrap="square" rtlCol="0" anchor="ctr"/>
          <a:lstStyle/>
          <a:p>
            <a:pPr marL="171450" indent="-171450">
              <a:buFont typeface="Arial" panose="020B0604020202020204" pitchFamily="34" charset="0"/>
              <a:buChar char="•"/>
            </a:pPr>
            <a:r>
              <a:rPr lang="es-CO" sz="1100" kern="100" dirty="0" err="1">
                <a:latin typeface="Aptos" panose="020B0004020202020204" pitchFamily="34" charset="0"/>
                <a:ea typeface="Aptos" panose="020B0004020202020204" pitchFamily="34" charset="0"/>
                <a:cs typeface="Times New Roman" panose="02020603050405020304" pitchFamily="18" charset="0"/>
              </a:rPr>
              <a:t>docker</a:t>
            </a:r>
            <a:r>
              <a:rPr lang="es-CO" sz="1100" kern="100" dirty="0">
                <a:latin typeface="Aptos" panose="020B0004020202020204" pitchFamily="34" charset="0"/>
                <a:ea typeface="Aptos" panose="020B0004020202020204" pitchFamily="34" charset="0"/>
                <a:cs typeface="Times New Roman" panose="02020603050405020304" pitchFamily="18" charset="0"/>
              </a:rPr>
              <a:t> </a:t>
            </a:r>
            <a:r>
              <a:rPr lang="es-CO" sz="1100" kern="100" dirty="0" err="1">
                <a:latin typeface="Aptos" panose="020B0004020202020204" pitchFamily="34" charset="0"/>
                <a:ea typeface="Aptos" panose="020B0004020202020204" pitchFamily="34" charset="0"/>
                <a:cs typeface="Times New Roman" panose="02020603050405020304" pitchFamily="18" charset="0"/>
              </a:rPr>
              <a:t>compose</a:t>
            </a:r>
            <a:r>
              <a:rPr lang="es-CO" sz="1100" kern="100" dirty="0">
                <a:latin typeface="Aptos" panose="020B0004020202020204" pitchFamily="34" charset="0"/>
                <a:ea typeface="Aptos" panose="020B0004020202020204" pitchFamily="34" charset="0"/>
                <a:cs typeface="Times New Roman" panose="02020603050405020304" pitchFamily="18" charset="0"/>
              </a:rPr>
              <a:t> logs </a:t>
            </a:r>
            <a:r>
              <a:rPr lang="es-CO" sz="1100" kern="100" dirty="0" err="1">
                <a:latin typeface="Aptos" panose="020B0004020202020204" pitchFamily="34" charset="0"/>
                <a:ea typeface="Aptos" panose="020B0004020202020204" pitchFamily="34" charset="0"/>
                <a:cs typeface="Times New Roman" panose="02020603050405020304" pitchFamily="18" charset="0"/>
              </a:rPr>
              <a:t>confirmation-dispatcher</a:t>
            </a:r>
            <a:r>
              <a:rPr lang="es-CO" sz="1100" kern="100" dirty="0">
                <a:latin typeface="Aptos" panose="020B0004020202020204" pitchFamily="34" charset="0"/>
                <a:ea typeface="Aptos" panose="020B0004020202020204" pitchFamily="34" charset="0"/>
                <a:cs typeface="Times New Roman" panose="02020603050405020304" pitchFamily="18" charset="0"/>
              </a:rPr>
              <a:t> | </a:t>
            </a:r>
            <a:r>
              <a:rPr lang="es-CO" sz="1100" kern="100" dirty="0" err="1">
                <a:latin typeface="Aptos" panose="020B0004020202020204" pitchFamily="34" charset="0"/>
                <a:ea typeface="Aptos" panose="020B0004020202020204" pitchFamily="34" charset="0"/>
                <a:cs typeface="Times New Roman" panose="02020603050405020304" pitchFamily="18" charset="0"/>
              </a:rPr>
              <a:t>Select</a:t>
            </a:r>
            <a:r>
              <a:rPr lang="es-CO" sz="1100" kern="100" dirty="0">
                <a:latin typeface="Aptos" panose="020B0004020202020204" pitchFamily="34" charset="0"/>
                <a:ea typeface="Aptos" panose="020B0004020202020204" pitchFamily="34" charset="0"/>
                <a:cs typeface="Times New Roman" panose="02020603050405020304" pitchFamily="18" charset="0"/>
              </a:rPr>
              <a:t>-String "DISPATCH"</a:t>
            </a:r>
          </a:p>
        </p:txBody>
      </p:sp>
      <p:sp>
        <p:nvSpPr>
          <p:cNvPr id="23" name="Text 7">
            <a:extLst>
              <a:ext uri="{FF2B5EF4-FFF2-40B4-BE49-F238E27FC236}">
                <a16:creationId xmlns:a16="http://schemas.microsoft.com/office/drawing/2014/main" id="{C1E46CDC-518F-DCDC-5C28-E9B0EE69F3A9}"/>
              </a:ext>
            </a:extLst>
          </p:cNvPr>
          <p:cNvSpPr/>
          <p:nvPr/>
        </p:nvSpPr>
        <p:spPr>
          <a:xfrm>
            <a:off x="6879546" y="1561837"/>
            <a:ext cx="1944414" cy="320040"/>
          </a:xfrm>
          <a:prstGeom prst="rect">
            <a:avLst/>
          </a:prstGeom>
          <a:noFill/>
          <a:ln/>
        </p:spPr>
        <p:txBody>
          <a:bodyPr wrap="square" rtlCol="0" anchor="ctr"/>
          <a:lstStyle/>
          <a:p>
            <a:r>
              <a:rPr lang="es-419" sz="1050" b="1" dirty="0">
                <a:solidFill>
                  <a:srgbClr val="E67E22"/>
                </a:solidFill>
                <a:latin typeface="Calibri" pitchFamily="34" charset="0"/>
                <a:ea typeface="Calibri" pitchFamily="34" charset="-122"/>
                <a:cs typeface="Calibri" pitchFamily="34" charset="-120"/>
              </a:rPr>
              <a:t>Terminal 4: </a:t>
            </a:r>
            <a:r>
              <a:rPr lang="es-CO" sz="1050" kern="100" dirty="0">
                <a:latin typeface="Aptos" panose="020B0004020202020204" pitchFamily="34" charset="0"/>
                <a:ea typeface="Aptos" panose="020B0004020202020204" pitchFamily="34" charset="0"/>
                <a:cs typeface="Times New Roman" panose="02020603050405020304" pitchFamily="18" charset="0"/>
              </a:rPr>
              <a:t>ver funcionamiento </a:t>
            </a:r>
            <a:r>
              <a:rPr lang="es-CO" sz="1050" kern="100" dirty="0" err="1">
                <a:latin typeface="Aptos" panose="020B0004020202020204" pitchFamily="34" charset="0"/>
                <a:ea typeface="Aptos" panose="020B0004020202020204" pitchFamily="34" charset="0"/>
                <a:cs typeface="Times New Roman" panose="02020603050405020304" pitchFamily="18" charset="0"/>
              </a:rPr>
              <a:t>websockets</a:t>
            </a:r>
            <a:endParaRPr lang="es-419" sz="1050" noProof="0" dirty="0"/>
          </a:p>
        </p:txBody>
      </p:sp>
      <p:sp>
        <p:nvSpPr>
          <p:cNvPr id="25" name="Text 15">
            <a:extLst>
              <a:ext uri="{FF2B5EF4-FFF2-40B4-BE49-F238E27FC236}">
                <a16:creationId xmlns:a16="http://schemas.microsoft.com/office/drawing/2014/main" id="{2F50E79D-A52C-2581-EA2A-9AEC4F0E4D69}"/>
              </a:ext>
            </a:extLst>
          </p:cNvPr>
          <p:cNvSpPr/>
          <p:nvPr/>
        </p:nvSpPr>
        <p:spPr>
          <a:xfrm>
            <a:off x="6720840" y="3723552"/>
            <a:ext cx="2286000" cy="1051560"/>
          </a:xfrm>
          <a:prstGeom prst="rect">
            <a:avLst/>
          </a:prstGeom>
          <a:noFill/>
          <a:ln/>
        </p:spPr>
        <p:txBody>
          <a:bodyPr wrap="square" rtlCol="0" anchor="ctr"/>
          <a:lstStyle/>
          <a:p>
            <a:r>
              <a:rPr lang="en-US" sz="1050" b="1" dirty="0"/>
              <a:t>URLs de </a:t>
            </a:r>
            <a:r>
              <a:rPr lang="en-US" sz="1050" b="1" dirty="0" err="1"/>
              <a:t>Acceso</a:t>
            </a:r>
            <a:r>
              <a:rPr lang="en-US" sz="1050" b="1" dirty="0"/>
              <a:t>:</a:t>
            </a:r>
            <a:endParaRPr lang="en-US" sz="1050" dirty="0"/>
          </a:p>
          <a:p>
            <a:pPr lvl="0"/>
            <a:r>
              <a:rPr lang="en-US" sz="1050" dirty="0"/>
              <a:t>RabbitMQ: </a:t>
            </a:r>
            <a:r>
              <a:rPr lang="en-US" sz="1050" dirty="0">
                <a:hlinkClick r:id="rId3"/>
              </a:rPr>
              <a:t>http://localhost:15672</a:t>
            </a:r>
            <a:endParaRPr lang="en-US" sz="1050" dirty="0"/>
          </a:p>
          <a:p>
            <a:pPr lvl="0"/>
            <a:r>
              <a:rPr lang="en-US" sz="1050" dirty="0"/>
              <a:t>Locust (carga): </a:t>
            </a:r>
            <a:r>
              <a:rPr lang="en-US" sz="1050" dirty="0">
                <a:hlinkClick r:id="rId4"/>
              </a:rPr>
              <a:t>http://localhost:8089</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3">
            <a:extLst>
              <a:ext uri="{FF2B5EF4-FFF2-40B4-BE49-F238E27FC236}">
                <a16:creationId xmlns:a16="http://schemas.microsoft.com/office/drawing/2014/main" id="{5ED3089E-514B-A8B3-C785-26F6107493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081" y="1669782"/>
            <a:ext cx="4171029" cy="2533877"/>
          </a:xfrm>
          <a:prstGeom prst="rect">
            <a:avLst/>
          </a:prstGeom>
        </p:spPr>
      </p:pic>
      <p:pic>
        <p:nvPicPr>
          <p:cNvPr id="9" name="Imagen 4">
            <a:extLst>
              <a:ext uri="{FF2B5EF4-FFF2-40B4-BE49-F238E27FC236}">
                <a16:creationId xmlns:a16="http://schemas.microsoft.com/office/drawing/2014/main" id="{5D394A8B-EA6C-3617-0365-9C4A633FF6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8124" y="1669781"/>
            <a:ext cx="4398795" cy="2533877"/>
          </a:xfrm>
          <a:prstGeom prst="rect">
            <a:avLst/>
          </a:prstGeom>
        </p:spPr>
      </p:pic>
      <p:sp>
        <p:nvSpPr>
          <p:cNvPr id="11" name="Text 0">
            <a:extLst>
              <a:ext uri="{FF2B5EF4-FFF2-40B4-BE49-F238E27FC236}">
                <a16:creationId xmlns:a16="http://schemas.microsoft.com/office/drawing/2014/main" id="{AD6D5108-7B07-5B3D-312B-15D263E8ED4F}"/>
              </a:ext>
            </a:extLst>
          </p:cNvPr>
          <p:cNvSpPr/>
          <p:nvPr/>
        </p:nvSpPr>
        <p:spPr>
          <a:xfrm>
            <a:off x="457200" y="565457"/>
            <a:ext cx="8229600" cy="548640"/>
          </a:xfrm>
          <a:prstGeom prst="rect">
            <a:avLst/>
          </a:prstGeom>
          <a:noFill/>
          <a:ln/>
        </p:spPr>
        <p:txBody>
          <a:bodyPr wrap="square" rtlCol="0" anchor="ctr"/>
          <a:lstStyle/>
          <a:p>
            <a:pPr marL="0" indent="0">
              <a:buNone/>
            </a:pPr>
            <a:r>
              <a:rPr lang="es-419" sz="4000" b="1" dirty="0">
                <a:solidFill>
                  <a:srgbClr val="0A4A7F"/>
                </a:solidFill>
                <a:latin typeface="Calibri" pitchFamily="34" charset="0"/>
                <a:ea typeface="Calibri" pitchFamily="34" charset="-122"/>
                <a:cs typeface="Calibri" pitchFamily="34" charset="-120"/>
              </a:rPr>
              <a:t>Configuración de carga en Locust</a:t>
            </a:r>
            <a:endParaRPr lang="es-419" sz="4000" noProof="0" dirty="0"/>
          </a:p>
        </p:txBody>
      </p:sp>
    </p:spTree>
    <p:extLst>
      <p:ext uri="{BB962C8B-B14F-4D97-AF65-F5344CB8AC3E}">
        <p14:creationId xmlns:p14="http://schemas.microsoft.com/office/powerpoint/2010/main" val="3735238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C9263-235E-3081-EE12-C81B34E9AFA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877D762-ADA3-D8CD-1C6F-38653881AB5F}"/>
              </a:ext>
            </a:extLst>
          </p:cNvPr>
          <p:cNvSpPr/>
          <p:nvPr/>
        </p:nvSpPr>
        <p:spPr>
          <a:xfrm>
            <a:off x="457200" y="365760"/>
            <a:ext cx="8229600" cy="548640"/>
          </a:xfrm>
          <a:prstGeom prst="rect">
            <a:avLst/>
          </a:prstGeom>
          <a:noFill/>
          <a:ln/>
        </p:spPr>
        <p:txBody>
          <a:bodyPr wrap="square" rtlCol="0" anchor="ctr"/>
          <a:lstStyle/>
          <a:p>
            <a:pPr marL="0" indent="0">
              <a:buNone/>
            </a:pPr>
            <a:r>
              <a:rPr lang="es-419" sz="3600" b="1" dirty="0">
                <a:solidFill>
                  <a:srgbClr val="0A4A7F"/>
                </a:solidFill>
                <a:latin typeface="Calibri" pitchFamily="34" charset="0"/>
                <a:ea typeface="Calibri" pitchFamily="34" charset="-122"/>
                <a:cs typeface="Calibri" pitchFamily="34" charset="-120"/>
              </a:rPr>
              <a:t>Mecanismo de Entrega de Confirmaciones</a:t>
            </a:r>
            <a:endParaRPr lang="es-419" sz="3600" noProof="0" dirty="0"/>
          </a:p>
        </p:txBody>
      </p:sp>
      <p:sp>
        <p:nvSpPr>
          <p:cNvPr id="3" name="Text 1">
            <a:extLst>
              <a:ext uri="{FF2B5EF4-FFF2-40B4-BE49-F238E27FC236}">
                <a16:creationId xmlns:a16="http://schemas.microsoft.com/office/drawing/2014/main" id="{76FA0850-16D5-30AB-EAD3-271662C4031A}"/>
              </a:ext>
            </a:extLst>
          </p:cNvPr>
          <p:cNvSpPr/>
          <p:nvPr/>
        </p:nvSpPr>
        <p:spPr>
          <a:xfrm>
            <a:off x="457200" y="960120"/>
            <a:ext cx="4325007" cy="320040"/>
          </a:xfrm>
          <a:prstGeom prst="rect">
            <a:avLst/>
          </a:prstGeom>
          <a:noFill/>
          <a:ln/>
        </p:spPr>
        <p:txBody>
          <a:bodyPr wrap="square" rtlCol="0" anchor="ctr"/>
          <a:lstStyle/>
          <a:p>
            <a:pPr marL="0" indent="0">
              <a:buNone/>
            </a:pPr>
            <a:r>
              <a:rPr lang="es-ES" sz="1600" noProof="0" dirty="0">
                <a:solidFill>
                  <a:srgbClr val="666666"/>
                </a:solidFill>
                <a:latin typeface="Calibri" pitchFamily="34" charset="0"/>
                <a:ea typeface="Calibri" pitchFamily="34" charset="-122"/>
                <a:cs typeface="Calibri" pitchFamily="34" charset="-120"/>
              </a:rPr>
              <a:t>Cómo Funciona el Aislamiento y la Idempotencia</a:t>
            </a:r>
            <a:endParaRPr lang="es-419" sz="1600" noProof="0" dirty="0"/>
          </a:p>
        </p:txBody>
      </p:sp>
      <p:sp>
        <p:nvSpPr>
          <p:cNvPr id="4" name="Shape 2">
            <a:extLst>
              <a:ext uri="{FF2B5EF4-FFF2-40B4-BE49-F238E27FC236}">
                <a16:creationId xmlns:a16="http://schemas.microsoft.com/office/drawing/2014/main" id="{75C3B99E-A8FA-5C8F-BA41-C8E245B7B128}"/>
              </a:ext>
            </a:extLst>
          </p:cNvPr>
          <p:cNvSpPr/>
          <p:nvPr/>
        </p:nvSpPr>
        <p:spPr>
          <a:xfrm>
            <a:off x="457200" y="1463040"/>
            <a:ext cx="2011680" cy="3476822"/>
          </a:xfrm>
          <a:prstGeom prst="roundRect">
            <a:avLst/>
          </a:prstGeom>
          <a:solidFill>
            <a:schemeClr val="accent1">
              <a:lumMod val="60000"/>
              <a:lumOff val="40000"/>
            </a:schemeClr>
          </a:solidFill>
          <a:ln/>
        </p:spPr>
        <p:txBody>
          <a:bodyPr/>
          <a:lstStyle/>
          <a:p>
            <a:endParaRPr lang="es-419" noProof="0" dirty="0"/>
          </a:p>
        </p:txBody>
      </p:sp>
      <p:sp>
        <p:nvSpPr>
          <p:cNvPr id="15" name="Shape 13">
            <a:extLst>
              <a:ext uri="{FF2B5EF4-FFF2-40B4-BE49-F238E27FC236}">
                <a16:creationId xmlns:a16="http://schemas.microsoft.com/office/drawing/2014/main" id="{D7C3437F-1ABC-49F0-C5B7-386E58F3A619}"/>
              </a:ext>
            </a:extLst>
          </p:cNvPr>
          <p:cNvSpPr/>
          <p:nvPr/>
        </p:nvSpPr>
        <p:spPr>
          <a:xfrm>
            <a:off x="6033598" y="1097280"/>
            <a:ext cx="2879173" cy="3749040"/>
          </a:xfrm>
          <a:prstGeom prst="roundRect">
            <a:avLst/>
          </a:prstGeom>
          <a:solidFill>
            <a:schemeClr val="accent4">
              <a:lumMod val="40000"/>
              <a:lumOff val="60000"/>
            </a:schemeClr>
          </a:solidFill>
          <a:ln/>
        </p:spPr>
        <p:txBody>
          <a:bodyPr/>
          <a:lstStyle/>
          <a:p>
            <a:endParaRPr lang="es-419" noProof="0" dirty="0"/>
          </a:p>
        </p:txBody>
      </p:sp>
      <p:sp>
        <p:nvSpPr>
          <p:cNvPr id="17" name="Text 15">
            <a:extLst>
              <a:ext uri="{FF2B5EF4-FFF2-40B4-BE49-F238E27FC236}">
                <a16:creationId xmlns:a16="http://schemas.microsoft.com/office/drawing/2014/main" id="{28167F3C-9AE3-78E2-E826-424A814A910E}"/>
              </a:ext>
            </a:extLst>
          </p:cNvPr>
          <p:cNvSpPr/>
          <p:nvPr/>
        </p:nvSpPr>
        <p:spPr>
          <a:xfrm>
            <a:off x="6190593" y="1097280"/>
            <a:ext cx="2585402" cy="3698328"/>
          </a:xfrm>
          <a:prstGeom prst="rect">
            <a:avLst/>
          </a:prstGeom>
          <a:noFill/>
          <a:ln/>
        </p:spPr>
        <p:txBody>
          <a:bodyPr wrap="square" rtlCol="0" anchor="ctr"/>
          <a:lstStyle/>
          <a:p>
            <a:pPr marL="228600" indent="-228600">
              <a:lnSpc>
                <a:spcPct val="115000"/>
              </a:lnSpc>
              <a:spcAft>
                <a:spcPts val="800"/>
              </a:spcAft>
              <a:buFont typeface="+mj-lt"/>
              <a:buAutoNum type="arabicPeriod"/>
            </a:pPr>
            <a:r>
              <a:rPr lang="es-ES" sz="1000" kern="100" dirty="0">
                <a:latin typeface="Aptos" panose="020B0004020202020204" pitchFamily="34" charset="0"/>
                <a:ea typeface="Aptos" panose="020B0004020202020204" pitchFamily="34" charset="0"/>
                <a:cs typeface="Times New Roman" panose="02020603050405020304" pitchFamily="18" charset="0"/>
              </a:rPr>
              <a:t>El match ocurre en el motor (en memoria, sin tocar disco).</a:t>
            </a:r>
          </a:p>
          <a:p>
            <a:pPr marL="228600" indent="-228600">
              <a:lnSpc>
                <a:spcPct val="115000"/>
              </a:lnSpc>
              <a:spcAft>
                <a:spcPts val="800"/>
              </a:spcAft>
              <a:buFont typeface="+mj-lt"/>
              <a:buAutoNum type="arabicPeriod"/>
            </a:pPr>
            <a:r>
              <a:rPr lang="es-ES" sz="1000" kern="100" dirty="0">
                <a:latin typeface="Aptos" panose="020B0004020202020204" pitchFamily="34" charset="0"/>
                <a:ea typeface="Aptos" panose="020B0004020202020204" pitchFamily="34" charset="0"/>
                <a:cs typeface="Times New Roman" panose="02020603050405020304" pitchFamily="18" charset="0"/>
              </a:rPr>
              <a:t>Se publica al canal transaccional dedicado — como está aislado del resto del tráfico (no comparte cola con </a:t>
            </a:r>
            <a:r>
              <a:rPr lang="es-ES" sz="1000" kern="100" dirty="0" err="1">
                <a:latin typeface="Aptos" panose="020B0004020202020204" pitchFamily="34" charset="0"/>
                <a:ea typeface="Aptos" panose="020B0004020202020204" pitchFamily="34" charset="0"/>
                <a:cs typeface="Times New Roman" panose="02020603050405020304" pitchFamily="18" charset="0"/>
              </a:rPr>
              <a:t>orders_buffer</a:t>
            </a:r>
            <a:r>
              <a:rPr lang="es-ES" sz="1000" kern="100" dirty="0">
                <a:latin typeface="Aptos" panose="020B0004020202020204" pitchFamily="34" charset="0"/>
                <a:ea typeface="Aptos" panose="020B0004020202020204" pitchFamily="34" charset="0"/>
                <a:cs typeface="Times New Roman" panose="02020603050405020304" pitchFamily="18" charset="0"/>
              </a:rPr>
              <a:t>), no hay nadie compitiendo por ese ancho de banda.</a:t>
            </a:r>
          </a:p>
          <a:p>
            <a:pPr marL="228600" indent="-228600">
              <a:lnSpc>
                <a:spcPct val="115000"/>
              </a:lnSpc>
              <a:spcAft>
                <a:spcPts val="800"/>
              </a:spcAft>
              <a:buFont typeface="+mj-lt"/>
              <a:buAutoNum type="arabicPeriod"/>
            </a:pPr>
            <a:r>
              <a:rPr lang="es-ES" sz="1000" kern="100" dirty="0">
                <a:latin typeface="Aptos" panose="020B0004020202020204" pitchFamily="34" charset="0"/>
                <a:ea typeface="Aptos" panose="020B0004020202020204" pitchFamily="34" charset="0"/>
                <a:cs typeface="Times New Roman" panose="02020603050405020304" pitchFamily="18" charset="0"/>
              </a:rPr>
              <a:t>El </a:t>
            </a:r>
            <a:r>
              <a:rPr lang="es-ES" sz="1000" kern="100" dirty="0" err="1">
                <a:latin typeface="Aptos" panose="020B0004020202020204" pitchFamily="34" charset="0"/>
                <a:ea typeface="Aptos" panose="020B0004020202020204" pitchFamily="34" charset="0"/>
                <a:cs typeface="Times New Roman" panose="02020603050405020304" pitchFamily="18" charset="0"/>
              </a:rPr>
              <a:t>dispatcher</a:t>
            </a:r>
            <a:r>
              <a:rPr lang="es-ES" sz="1000" kern="100" dirty="0">
                <a:latin typeface="Aptos" panose="020B0004020202020204" pitchFamily="34" charset="0"/>
                <a:ea typeface="Aptos" panose="020B0004020202020204" pitchFamily="34" charset="0"/>
                <a:cs typeface="Times New Roman" panose="02020603050405020304" pitchFamily="18" charset="0"/>
              </a:rPr>
              <a:t> revisa idempotencia en Redis (operación atómica, típicamente &lt;1ms en la misma red de Docker) y empuja por </a:t>
            </a:r>
            <a:r>
              <a:rPr lang="es-ES" sz="1000" kern="100" dirty="0" err="1">
                <a:latin typeface="Aptos" panose="020B0004020202020204" pitchFamily="34" charset="0"/>
                <a:ea typeface="Aptos" panose="020B0004020202020204" pitchFamily="34" charset="0"/>
                <a:cs typeface="Times New Roman" panose="02020603050405020304" pitchFamily="18" charset="0"/>
              </a:rPr>
              <a:t>WebSocket</a:t>
            </a:r>
            <a:r>
              <a:rPr lang="es-ES" sz="1000" kern="100" dirty="0">
                <a:latin typeface="Aptos" panose="020B0004020202020204" pitchFamily="34" charset="0"/>
                <a:ea typeface="Aptos" panose="020B0004020202020204" pitchFamily="34" charset="0"/>
                <a:cs typeface="Times New Roman" panose="02020603050405020304" pitchFamily="18" charset="0"/>
              </a:rPr>
              <a:t>, que ya está conectado y esperando — no hay que abrir conexión nueva ni esperar un ciclo de </a:t>
            </a:r>
            <a:r>
              <a:rPr lang="es-ES" sz="1000" kern="100" dirty="0" err="1">
                <a:latin typeface="Aptos" panose="020B0004020202020204" pitchFamily="34" charset="0"/>
                <a:ea typeface="Aptos" panose="020B0004020202020204" pitchFamily="34" charset="0"/>
                <a:cs typeface="Times New Roman" panose="02020603050405020304" pitchFamily="18" charset="0"/>
              </a:rPr>
              <a:t>polling</a:t>
            </a:r>
            <a:r>
              <a:rPr lang="es-ES" sz="1000" kern="100" dirty="0">
                <a:latin typeface="Aptos" panose="020B0004020202020204" pitchFamily="34" charset="0"/>
                <a:ea typeface="Aptos" panose="020B0004020202020204" pitchFamily="34" charset="0"/>
                <a:cs typeface="Times New Roman" panose="02020603050405020304" pitchFamily="18" charset="0"/>
              </a:rPr>
              <a:t>.</a:t>
            </a:r>
          </a:p>
        </p:txBody>
      </p:sp>
      <p:pic>
        <p:nvPicPr>
          <p:cNvPr id="11" name="Picture 10">
            <a:extLst>
              <a:ext uri="{FF2B5EF4-FFF2-40B4-BE49-F238E27FC236}">
                <a16:creationId xmlns:a16="http://schemas.microsoft.com/office/drawing/2014/main" id="{2413D4C7-F196-6EC7-2281-1868E08848E0}"/>
              </a:ext>
            </a:extLst>
          </p:cNvPr>
          <p:cNvPicPr>
            <a:picLocks noChangeAspect="1"/>
          </p:cNvPicPr>
          <p:nvPr/>
        </p:nvPicPr>
        <p:blipFill>
          <a:blip r:embed="rId3"/>
          <a:stretch>
            <a:fillRect/>
          </a:stretch>
        </p:blipFill>
        <p:spPr>
          <a:xfrm>
            <a:off x="549335" y="1556450"/>
            <a:ext cx="1827410" cy="3290001"/>
          </a:xfrm>
          <a:prstGeom prst="rect">
            <a:avLst/>
          </a:prstGeom>
        </p:spPr>
      </p:pic>
      <p:pic>
        <p:nvPicPr>
          <p:cNvPr id="20" name="Imagen 11">
            <a:extLst>
              <a:ext uri="{FF2B5EF4-FFF2-40B4-BE49-F238E27FC236}">
                <a16:creationId xmlns:a16="http://schemas.microsoft.com/office/drawing/2014/main" id="{D4CC07B1-5CA2-0087-7796-580B95A854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4533" y="1900182"/>
            <a:ext cx="3093411" cy="2143235"/>
          </a:xfrm>
          <a:prstGeom prst="rect">
            <a:avLst/>
          </a:prstGeom>
        </p:spPr>
      </p:pic>
    </p:spTree>
    <p:extLst>
      <p:ext uri="{BB962C8B-B14F-4D97-AF65-F5344CB8AC3E}">
        <p14:creationId xmlns:p14="http://schemas.microsoft.com/office/powerpoint/2010/main" val="3864163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s-419" sz="4000" b="1" noProof="0" dirty="0">
                <a:solidFill>
                  <a:srgbClr val="0A4A7F"/>
                </a:solidFill>
                <a:latin typeface="Calibri" pitchFamily="34" charset="0"/>
                <a:ea typeface="Calibri" pitchFamily="34" charset="-122"/>
                <a:cs typeface="Calibri" pitchFamily="34" charset="-120"/>
              </a:rPr>
              <a:t>Experimento 2 - FASE 1: Línea Base</a:t>
            </a:r>
            <a:endParaRPr lang="es-419" sz="4000" noProof="0" dirty="0"/>
          </a:p>
        </p:txBody>
      </p:sp>
      <p:sp>
        <p:nvSpPr>
          <p:cNvPr id="3" name="Text 1"/>
          <p:cNvSpPr/>
          <p:nvPr/>
        </p:nvSpPr>
        <p:spPr>
          <a:xfrm>
            <a:off x="457200" y="960120"/>
            <a:ext cx="8229600" cy="320040"/>
          </a:xfrm>
          <a:prstGeom prst="rect">
            <a:avLst/>
          </a:prstGeom>
          <a:noFill/>
          <a:ln/>
        </p:spPr>
        <p:txBody>
          <a:bodyPr wrap="square" rtlCol="0" anchor="ctr"/>
          <a:lstStyle/>
          <a:p>
            <a:pPr marL="0" indent="0">
              <a:buNone/>
            </a:pPr>
            <a:r>
              <a:rPr lang="es-419" sz="1600" noProof="0" dirty="0">
                <a:solidFill>
                  <a:srgbClr val="666666"/>
                </a:solidFill>
                <a:latin typeface="Calibri" pitchFamily="34" charset="0"/>
                <a:ea typeface="Calibri" pitchFamily="34" charset="-122"/>
                <a:cs typeface="Calibri" pitchFamily="34" charset="-120"/>
              </a:rPr>
              <a:t>15 minutos (5 min línea base)</a:t>
            </a:r>
            <a:endParaRPr lang="es-419" sz="1600" noProof="0" dirty="0"/>
          </a:p>
        </p:txBody>
      </p:sp>
      <p:sp>
        <p:nvSpPr>
          <p:cNvPr id="4" name="Text 2"/>
          <p:cNvSpPr/>
          <p:nvPr/>
        </p:nvSpPr>
        <p:spPr>
          <a:xfrm>
            <a:off x="457200" y="1463040"/>
            <a:ext cx="2011680" cy="914400"/>
          </a:xfrm>
          <a:prstGeom prst="rect">
            <a:avLst/>
          </a:prstGeom>
          <a:noFill/>
          <a:ln/>
        </p:spPr>
        <p:txBody>
          <a:bodyPr wrap="square" rtlCol="0" anchor="ctr"/>
          <a:lstStyle/>
          <a:p>
            <a:pPr marL="0" indent="0">
              <a:buNone/>
            </a:pPr>
            <a:r>
              <a:rPr lang="es-419" sz="6000" b="1" noProof="0" dirty="0">
                <a:solidFill>
                  <a:srgbClr val="0A4A7F"/>
                </a:solidFill>
                <a:latin typeface="Calibri" pitchFamily="34" charset="0"/>
                <a:ea typeface="Calibri" pitchFamily="34" charset="-122"/>
                <a:cs typeface="Calibri" pitchFamily="34" charset="-120"/>
              </a:rPr>
              <a:t>6.01</a:t>
            </a:r>
            <a:endParaRPr lang="es-419" sz="6000" noProof="0" dirty="0"/>
          </a:p>
        </p:txBody>
      </p:sp>
      <p:sp>
        <p:nvSpPr>
          <p:cNvPr id="5" name="Text 3"/>
          <p:cNvSpPr/>
          <p:nvPr/>
        </p:nvSpPr>
        <p:spPr>
          <a:xfrm>
            <a:off x="457200" y="2331720"/>
            <a:ext cx="2011680" cy="365760"/>
          </a:xfrm>
          <a:prstGeom prst="rect">
            <a:avLst/>
          </a:prstGeom>
          <a:noFill/>
          <a:ln/>
        </p:spPr>
        <p:txBody>
          <a:bodyPr wrap="square" rtlCol="0" anchor="ctr"/>
          <a:lstStyle/>
          <a:p>
            <a:pPr marL="0" indent="0">
              <a:buNone/>
            </a:pPr>
            <a:r>
              <a:rPr lang="es-419" sz="1200" b="1" noProof="0" dirty="0">
                <a:solidFill>
                  <a:srgbClr val="666666"/>
                </a:solidFill>
                <a:latin typeface="Calibri" pitchFamily="34" charset="0"/>
                <a:ea typeface="Calibri" pitchFamily="34" charset="-122"/>
                <a:cs typeface="Calibri" pitchFamily="34" charset="-120"/>
              </a:rPr>
              <a:t>ms (p95)</a:t>
            </a:r>
            <a:endParaRPr lang="es-419" sz="1200" noProof="0" dirty="0"/>
          </a:p>
        </p:txBody>
      </p:sp>
      <p:sp>
        <p:nvSpPr>
          <p:cNvPr id="6" name="Shape 4"/>
          <p:cNvSpPr/>
          <p:nvPr/>
        </p:nvSpPr>
        <p:spPr>
          <a:xfrm>
            <a:off x="457200" y="2811780"/>
            <a:ext cx="1089923" cy="320040"/>
          </a:xfrm>
          <a:prstGeom prst="roundRect">
            <a:avLst/>
          </a:prstGeom>
          <a:solidFill>
            <a:srgbClr val="27AE60"/>
          </a:solidFill>
          <a:ln/>
        </p:spPr>
        <p:txBody>
          <a:bodyPr/>
          <a:lstStyle/>
          <a:p>
            <a:endParaRPr lang="es-419" noProof="0" dirty="0"/>
          </a:p>
        </p:txBody>
      </p:sp>
      <p:sp>
        <p:nvSpPr>
          <p:cNvPr id="7" name="Text 5"/>
          <p:cNvSpPr/>
          <p:nvPr/>
        </p:nvSpPr>
        <p:spPr>
          <a:xfrm>
            <a:off x="457200" y="2811780"/>
            <a:ext cx="1089923" cy="320040"/>
          </a:xfrm>
          <a:prstGeom prst="rect">
            <a:avLst/>
          </a:prstGeom>
          <a:noFill/>
          <a:ln/>
        </p:spPr>
        <p:txBody>
          <a:bodyPr wrap="square" rtlCol="0" anchor="ctr"/>
          <a:lstStyle/>
          <a:p>
            <a:pPr marL="0" indent="0" algn="ctr">
              <a:buNone/>
            </a:pPr>
            <a:r>
              <a:rPr lang="es-419" sz="1400" b="1" noProof="0" dirty="0">
                <a:solidFill>
                  <a:srgbClr val="FFFFFF"/>
                </a:solidFill>
                <a:latin typeface="Calibri" pitchFamily="34" charset="0"/>
                <a:ea typeface="Calibri" pitchFamily="34" charset="-122"/>
                <a:cs typeface="Calibri" pitchFamily="34" charset="-120"/>
              </a:rPr>
              <a:t>✓ CUMPLE</a:t>
            </a:r>
            <a:endParaRPr lang="es-419" sz="1400" noProof="0" dirty="0"/>
          </a:p>
        </p:txBody>
      </p:sp>
      <p:sp>
        <p:nvSpPr>
          <p:cNvPr id="8" name="Shape 6"/>
          <p:cNvSpPr/>
          <p:nvPr/>
        </p:nvSpPr>
        <p:spPr>
          <a:xfrm>
            <a:off x="2743200" y="1463040"/>
            <a:ext cx="5943600" cy="1737360"/>
          </a:xfrm>
          <a:prstGeom prst="roundRect">
            <a:avLst/>
          </a:prstGeom>
          <a:solidFill>
            <a:srgbClr val="F8F9FA"/>
          </a:solidFill>
          <a:ln/>
        </p:spPr>
        <p:txBody>
          <a:bodyPr/>
          <a:lstStyle/>
          <a:p>
            <a:endParaRPr lang="es-419" noProof="0" dirty="0"/>
          </a:p>
        </p:txBody>
      </p:sp>
      <p:sp>
        <p:nvSpPr>
          <p:cNvPr id="9" name="Text 7"/>
          <p:cNvSpPr/>
          <p:nvPr/>
        </p:nvSpPr>
        <p:spPr>
          <a:xfrm>
            <a:off x="2926080" y="1645920"/>
            <a:ext cx="2011680" cy="256032"/>
          </a:xfrm>
          <a:prstGeom prst="rect">
            <a:avLst/>
          </a:prstGeom>
          <a:noFill/>
          <a:ln/>
        </p:spPr>
        <p:txBody>
          <a:bodyPr wrap="square" rtlCol="0" anchor="ctr"/>
          <a:lstStyle/>
          <a:p>
            <a:pPr marL="0" indent="0">
              <a:buNone/>
            </a:pPr>
            <a:r>
              <a:rPr lang="es-419" sz="1100" b="1" noProof="0" dirty="0">
                <a:solidFill>
                  <a:srgbClr val="666666"/>
                </a:solidFill>
                <a:latin typeface="Calibri" pitchFamily="34" charset="0"/>
                <a:ea typeface="Calibri" pitchFamily="34" charset="-122"/>
                <a:cs typeface="Calibri" pitchFamily="34" charset="-120"/>
              </a:rPr>
              <a:t>Muestras (n):</a:t>
            </a:r>
            <a:endParaRPr lang="es-419" sz="1100" noProof="0" dirty="0"/>
          </a:p>
        </p:txBody>
      </p:sp>
      <p:sp>
        <p:nvSpPr>
          <p:cNvPr id="10" name="Text 8"/>
          <p:cNvSpPr/>
          <p:nvPr/>
        </p:nvSpPr>
        <p:spPr>
          <a:xfrm>
            <a:off x="5029200" y="1645920"/>
            <a:ext cx="3474720" cy="256032"/>
          </a:xfrm>
          <a:prstGeom prst="rect">
            <a:avLst/>
          </a:prstGeom>
          <a:noFill/>
          <a:ln/>
        </p:spPr>
        <p:txBody>
          <a:bodyPr wrap="square" rtlCol="0" anchor="ctr"/>
          <a:lstStyle/>
          <a:p>
            <a:pPr marL="0" indent="0">
              <a:buNone/>
            </a:pPr>
            <a:r>
              <a:rPr lang="es-419" sz="1100" b="1" noProof="0" dirty="0">
                <a:solidFill>
                  <a:srgbClr val="0A4A7F"/>
                </a:solidFill>
                <a:latin typeface="Calibri" pitchFamily="34" charset="0"/>
                <a:ea typeface="Calibri" pitchFamily="34" charset="-122"/>
                <a:cs typeface="Calibri" pitchFamily="34" charset="-120"/>
              </a:rPr>
              <a:t>7,418</a:t>
            </a:r>
            <a:endParaRPr lang="es-419" sz="1100" noProof="0" dirty="0"/>
          </a:p>
        </p:txBody>
      </p:sp>
      <p:sp>
        <p:nvSpPr>
          <p:cNvPr id="11" name="Text 9"/>
          <p:cNvSpPr/>
          <p:nvPr/>
        </p:nvSpPr>
        <p:spPr>
          <a:xfrm>
            <a:off x="2926080" y="1911096"/>
            <a:ext cx="2011680" cy="256032"/>
          </a:xfrm>
          <a:prstGeom prst="rect">
            <a:avLst/>
          </a:prstGeom>
          <a:noFill/>
          <a:ln/>
        </p:spPr>
        <p:txBody>
          <a:bodyPr wrap="square" rtlCol="0" anchor="ctr"/>
          <a:lstStyle/>
          <a:p>
            <a:pPr marL="0" indent="0">
              <a:buNone/>
            </a:pPr>
            <a:r>
              <a:rPr lang="es-419" sz="1100" b="1" noProof="0" dirty="0">
                <a:solidFill>
                  <a:srgbClr val="666666"/>
                </a:solidFill>
                <a:latin typeface="Calibri" pitchFamily="34" charset="0"/>
                <a:ea typeface="Calibri" pitchFamily="34" charset="-122"/>
                <a:cs typeface="Calibri" pitchFamily="34" charset="-120"/>
              </a:rPr>
              <a:t>p50:</a:t>
            </a:r>
            <a:endParaRPr lang="es-419" sz="1100" noProof="0" dirty="0"/>
          </a:p>
        </p:txBody>
      </p:sp>
      <p:sp>
        <p:nvSpPr>
          <p:cNvPr id="12" name="Text 10"/>
          <p:cNvSpPr/>
          <p:nvPr/>
        </p:nvSpPr>
        <p:spPr>
          <a:xfrm>
            <a:off x="5029200" y="1911096"/>
            <a:ext cx="3474720" cy="256032"/>
          </a:xfrm>
          <a:prstGeom prst="rect">
            <a:avLst/>
          </a:prstGeom>
          <a:noFill/>
          <a:ln/>
        </p:spPr>
        <p:txBody>
          <a:bodyPr wrap="square" rtlCol="0" anchor="ctr"/>
          <a:lstStyle/>
          <a:p>
            <a:pPr marL="0" indent="0">
              <a:buNone/>
            </a:pPr>
            <a:r>
              <a:rPr lang="es-419" sz="1100" b="1" noProof="0" dirty="0">
                <a:solidFill>
                  <a:srgbClr val="0A4A7F"/>
                </a:solidFill>
                <a:latin typeface="Calibri" pitchFamily="34" charset="0"/>
                <a:ea typeface="Calibri" pitchFamily="34" charset="-122"/>
                <a:cs typeface="Calibri" pitchFamily="34" charset="-120"/>
              </a:rPr>
              <a:t>3.31 ms</a:t>
            </a:r>
            <a:endParaRPr lang="es-419" sz="1100" noProof="0" dirty="0"/>
          </a:p>
        </p:txBody>
      </p:sp>
      <p:sp>
        <p:nvSpPr>
          <p:cNvPr id="13" name="Text 11"/>
          <p:cNvSpPr/>
          <p:nvPr/>
        </p:nvSpPr>
        <p:spPr>
          <a:xfrm>
            <a:off x="2926080" y="2176272"/>
            <a:ext cx="2011680" cy="256032"/>
          </a:xfrm>
          <a:prstGeom prst="rect">
            <a:avLst/>
          </a:prstGeom>
          <a:noFill/>
          <a:ln/>
        </p:spPr>
        <p:txBody>
          <a:bodyPr wrap="square" rtlCol="0" anchor="ctr"/>
          <a:lstStyle/>
          <a:p>
            <a:pPr marL="0" indent="0">
              <a:buNone/>
            </a:pPr>
            <a:r>
              <a:rPr lang="es-419" sz="1100" b="1" noProof="0" dirty="0">
                <a:solidFill>
                  <a:srgbClr val="666666"/>
                </a:solidFill>
                <a:latin typeface="Calibri" pitchFamily="34" charset="0"/>
                <a:ea typeface="Calibri" pitchFamily="34" charset="-122"/>
                <a:cs typeface="Calibri" pitchFamily="34" charset="-120"/>
              </a:rPr>
              <a:t>p95:</a:t>
            </a:r>
            <a:endParaRPr lang="es-419" sz="1100" noProof="0" dirty="0"/>
          </a:p>
        </p:txBody>
      </p:sp>
      <p:sp>
        <p:nvSpPr>
          <p:cNvPr id="14" name="Text 12"/>
          <p:cNvSpPr/>
          <p:nvPr/>
        </p:nvSpPr>
        <p:spPr>
          <a:xfrm>
            <a:off x="5029200" y="2176272"/>
            <a:ext cx="3474720" cy="256032"/>
          </a:xfrm>
          <a:prstGeom prst="rect">
            <a:avLst/>
          </a:prstGeom>
          <a:noFill/>
          <a:ln/>
        </p:spPr>
        <p:txBody>
          <a:bodyPr wrap="square" rtlCol="0" anchor="ctr"/>
          <a:lstStyle/>
          <a:p>
            <a:pPr marL="0" indent="0">
              <a:buNone/>
            </a:pPr>
            <a:r>
              <a:rPr lang="es-419" sz="1100" b="1" noProof="0" dirty="0">
                <a:solidFill>
                  <a:srgbClr val="0A4A7F"/>
                </a:solidFill>
                <a:latin typeface="Calibri" pitchFamily="34" charset="0"/>
                <a:ea typeface="Calibri" pitchFamily="34" charset="-122"/>
                <a:cs typeface="Calibri" pitchFamily="34" charset="-120"/>
              </a:rPr>
              <a:t>6.01 ms (58x mejor)</a:t>
            </a:r>
            <a:endParaRPr lang="es-419" sz="1100" noProof="0" dirty="0"/>
          </a:p>
        </p:txBody>
      </p:sp>
      <p:sp>
        <p:nvSpPr>
          <p:cNvPr id="15" name="Text 13"/>
          <p:cNvSpPr/>
          <p:nvPr/>
        </p:nvSpPr>
        <p:spPr>
          <a:xfrm>
            <a:off x="2926080" y="2441448"/>
            <a:ext cx="2011680" cy="256032"/>
          </a:xfrm>
          <a:prstGeom prst="rect">
            <a:avLst/>
          </a:prstGeom>
          <a:noFill/>
          <a:ln/>
        </p:spPr>
        <p:txBody>
          <a:bodyPr wrap="square" rtlCol="0" anchor="ctr"/>
          <a:lstStyle/>
          <a:p>
            <a:pPr marL="0" indent="0">
              <a:buNone/>
            </a:pPr>
            <a:r>
              <a:rPr lang="es-419" sz="1100" b="1" noProof="0" dirty="0">
                <a:solidFill>
                  <a:srgbClr val="666666"/>
                </a:solidFill>
                <a:latin typeface="Calibri" pitchFamily="34" charset="0"/>
                <a:ea typeface="Calibri" pitchFamily="34" charset="-122"/>
                <a:cs typeface="Calibri" pitchFamily="34" charset="-120"/>
              </a:rPr>
              <a:t>p99:</a:t>
            </a:r>
            <a:endParaRPr lang="es-419" sz="1100" noProof="0" dirty="0"/>
          </a:p>
        </p:txBody>
      </p:sp>
      <p:sp>
        <p:nvSpPr>
          <p:cNvPr id="16" name="Text 14"/>
          <p:cNvSpPr/>
          <p:nvPr/>
        </p:nvSpPr>
        <p:spPr>
          <a:xfrm>
            <a:off x="5029200" y="2441448"/>
            <a:ext cx="3474720" cy="256032"/>
          </a:xfrm>
          <a:prstGeom prst="rect">
            <a:avLst/>
          </a:prstGeom>
          <a:noFill/>
          <a:ln/>
        </p:spPr>
        <p:txBody>
          <a:bodyPr wrap="square" rtlCol="0" anchor="ctr"/>
          <a:lstStyle/>
          <a:p>
            <a:pPr marL="0" indent="0">
              <a:buNone/>
            </a:pPr>
            <a:r>
              <a:rPr lang="es-419" sz="1100" b="1" noProof="0" dirty="0">
                <a:solidFill>
                  <a:srgbClr val="0A4A7F"/>
                </a:solidFill>
                <a:latin typeface="Calibri" pitchFamily="34" charset="0"/>
                <a:ea typeface="Calibri" pitchFamily="34" charset="-122"/>
                <a:cs typeface="Calibri" pitchFamily="34" charset="-120"/>
              </a:rPr>
              <a:t>9.27 ms</a:t>
            </a:r>
            <a:endParaRPr lang="es-419" sz="1100" noProof="0" dirty="0"/>
          </a:p>
        </p:txBody>
      </p:sp>
      <p:sp>
        <p:nvSpPr>
          <p:cNvPr id="17" name="Text 15"/>
          <p:cNvSpPr/>
          <p:nvPr/>
        </p:nvSpPr>
        <p:spPr>
          <a:xfrm>
            <a:off x="2926080" y="2706624"/>
            <a:ext cx="2011680" cy="256032"/>
          </a:xfrm>
          <a:prstGeom prst="rect">
            <a:avLst/>
          </a:prstGeom>
          <a:noFill/>
          <a:ln/>
        </p:spPr>
        <p:txBody>
          <a:bodyPr wrap="square" rtlCol="0" anchor="ctr"/>
          <a:lstStyle/>
          <a:p>
            <a:pPr marL="0" indent="0">
              <a:buNone/>
            </a:pPr>
            <a:r>
              <a:rPr lang="es-419" sz="1100" b="1" noProof="0" dirty="0">
                <a:solidFill>
                  <a:srgbClr val="666666"/>
                </a:solidFill>
                <a:latin typeface="Calibri" pitchFamily="34" charset="0"/>
                <a:ea typeface="Calibri" pitchFamily="34" charset="-122"/>
                <a:cs typeface="Calibri" pitchFamily="34" charset="-120"/>
              </a:rPr>
              <a:t>Max:</a:t>
            </a:r>
            <a:endParaRPr lang="es-419" sz="1100" noProof="0" dirty="0"/>
          </a:p>
        </p:txBody>
      </p:sp>
      <p:sp>
        <p:nvSpPr>
          <p:cNvPr id="18" name="Text 16"/>
          <p:cNvSpPr/>
          <p:nvPr/>
        </p:nvSpPr>
        <p:spPr>
          <a:xfrm>
            <a:off x="5029200" y="2706624"/>
            <a:ext cx="3474720" cy="256032"/>
          </a:xfrm>
          <a:prstGeom prst="rect">
            <a:avLst/>
          </a:prstGeom>
          <a:noFill/>
          <a:ln/>
        </p:spPr>
        <p:txBody>
          <a:bodyPr wrap="square" rtlCol="0" anchor="ctr"/>
          <a:lstStyle/>
          <a:p>
            <a:pPr marL="0" indent="0">
              <a:buNone/>
            </a:pPr>
            <a:r>
              <a:rPr lang="es-419" sz="1100" b="1" noProof="0" dirty="0">
                <a:solidFill>
                  <a:srgbClr val="0A4A7F"/>
                </a:solidFill>
                <a:latin typeface="Calibri" pitchFamily="34" charset="0"/>
                <a:ea typeface="Calibri" pitchFamily="34" charset="-122"/>
                <a:cs typeface="Calibri" pitchFamily="34" charset="-120"/>
              </a:rPr>
              <a:t>401.33 ms</a:t>
            </a:r>
            <a:endParaRPr lang="es-419" sz="1100" noProof="0" dirty="0"/>
          </a:p>
        </p:txBody>
      </p:sp>
      <p:sp>
        <p:nvSpPr>
          <p:cNvPr id="19" name="Text 17"/>
          <p:cNvSpPr/>
          <p:nvPr/>
        </p:nvSpPr>
        <p:spPr>
          <a:xfrm>
            <a:off x="2926080" y="2971800"/>
            <a:ext cx="2011680" cy="256032"/>
          </a:xfrm>
          <a:prstGeom prst="rect">
            <a:avLst/>
          </a:prstGeom>
          <a:noFill/>
          <a:ln/>
        </p:spPr>
        <p:txBody>
          <a:bodyPr wrap="square" rtlCol="0" anchor="ctr"/>
          <a:lstStyle/>
          <a:p>
            <a:pPr marL="0" indent="0">
              <a:buNone/>
            </a:pPr>
            <a:r>
              <a:rPr lang="es-419" sz="1100" b="1" noProof="0" dirty="0">
                <a:solidFill>
                  <a:srgbClr val="666666"/>
                </a:solidFill>
                <a:latin typeface="Calibri" pitchFamily="34" charset="0"/>
                <a:ea typeface="Calibri" pitchFamily="34" charset="-122"/>
                <a:cs typeface="Calibri" pitchFamily="34" charset="-120"/>
              </a:rPr>
              <a:t>Confirmaciones/s:</a:t>
            </a:r>
            <a:endParaRPr lang="es-419" sz="1100" noProof="0" dirty="0"/>
          </a:p>
        </p:txBody>
      </p:sp>
      <p:sp>
        <p:nvSpPr>
          <p:cNvPr id="20" name="Text 18"/>
          <p:cNvSpPr/>
          <p:nvPr/>
        </p:nvSpPr>
        <p:spPr>
          <a:xfrm>
            <a:off x="5029200" y="2971800"/>
            <a:ext cx="3474720" cy="256032"/>
          </a:xfrm>
          <a:prstGeom prst="rect">
            <a:avLst/>
          </a:prstGeom>
          <a:noFill/>
          <a:ln/>
        </p:spPr>
        <p:txBody>
          <a:bodyPr wrap="square" rtlCol="0" anchor="ctr"/>
          <a:lstStyle/>
          <a:p>
            <a:pPr marL="0" indent="0">
              <a:buNone/>
            </a:pPr>
            <a:r>
              <a:rPr lang="es-419" sz="1100" b="1" noProof="0" dirty="0">
                <a:solidFill>
                  <a:srgbClr val="0A4A7F"/>
                </a:solidFill>
                <a:latin typeface="Calibri" pitchFamily="34" charset="0"/>
                <a:ea typeface="Calibri" pitchFamily="34" charset="-122"/>
                <a:cs typeface="Calibri" pitchFamily="34" charset="-120"/>
              </a:rPr>
              <a:t>~22-25</a:t>
            </a:r>
            <a:endParaRPr lang="es-419" sz="1100" noProof="0" dirty="0"/>
          </a:p>
        </p:txBody>
      </p:sp>
      <p:sp>
        <p:nvSpPr>
          <p:cNvPr id="21" name="Shape 19"/>
          <p:cNvSpPr/>
          <p:nvPr/>
        </p:nvSpPr>
        <p:spPr>
          <a:xfrm>
            <a:off x="457200" y="3383280"/>
            <a:ext cx="8229600" cy="1463040"/>
          </a:xfrm>
          <a:prstGeom prst="roundRect">
            <a:avLst/>
          </a:prstGeom>
          <a:solidFill>
            <a:srgbClr val="E8F1F7"/>
          </a:solidFill>
          <a:ln/>
        </p:spPr>
        <p:txBody>
          <a:bodyPr/>
          <a:lstStyle/>
          <a:p>
            <a:endParaRPr lang="es-419" noProof="0" dirty="0"/>
          </a:p>
        </p:txBody>
      </p:sp>
      <p:sp>
        <p:nvSpPr>
          <p:cNvPr id="22" name="Text 20"/>
          <p:cNvSpPr/>
          <p:nvPr/>
        </p:nvSpPr>
        <p:spPr>
          <a:xfrm>
            <a:off x="640080" y="3520440"/>
            <a:ext cx="7863840" cy="274320"/>
          </a:xfrm>
          <a:prstGeom prst="rect">
            <a:avLst/>
          </a:prstGeom>
          <a:noFill/>
          <a:ln/>
        </p:spPr>
        <p:txBody>
          <a:bodyPr wrap="square" rtlCol="0" anchor="ctr"/>
          <a:lstStyle/>
          <a:p>
            <a:pPr marL="0" indent="0">
              <a:buNone/>
            </a:pPr>
            <a:r>
              <a:rPr lang="es-419" sz="1200" b="1" noProof="0" dirty="0">
                <a:solidFill>
                  <a:srgbClr val="0A4A7F"/>
                </a:solidFill>
                <a:latin typeface="Calibri" pitchFamily="34" charset="0"/>
                <a:ea typeface="Calibri" pitchFamily="34" charset="-122"/>
                <a:cs typeface="Calibri" pitchFamily="34" charset="-120"/>
              </a:rPr>
              <a:t>Distribución de Latencias - FASE 1</a:t>
            </a:r>
            <a:endParaRPr lang="es-419" sz="1200" noProof="0" dirty="0"/>
          </a:p>
        </p:txBody>
      </p:sp>
      <p:sp>
        <p:nvSpPr>
          <p:cNvPr id="23" name="Shape 21"/>
          <p:cNvSpPr/>
          <p:nvPr/>
        </p:nvSpPr>
        <p:spPr>
          <a:xfrm>
            <a:off x="2286000" y="3840480"/>
            <a:ext cx="1600200" cy="201168"/>
          </a:xfrm>
          <a:prstGeom prst="rect">
            <a:avLst/>
          </a:prstGeom>
          <a:solidFill>
            <a:srgbClr val="27AE60"/>
          </a:solidFill>
          <a:ln/>
        </p:spPr>
        <p:txBody>
          <a:bodyPr/>
          <a:lstStyle/>
          <a:p>
            <a:endParaRPr lang="es-419" noProof="0" dirty="0"/>
          </a:p>
        </p:txBody>
      </p:sp>
      <p:sp>
        <p:nvSpPr>
          <p:cNvPr id="24" name="Text 22"/>
          <p:cNvSpPr/>
          <p:nvPr/>
        </p:nvSpPr>
        <p:spPr>
          <a:xfrm>
            <a:off x="640080" y="3794760"/>
            <a:ext cx="1554480" cy="228600"/>
          </a:xfrm>
          <a:prstGeom prst="rect">
            <a:avLst/>
          </a:prstGeom>
          <a:noFill/>
          <a:ln/>
        </p:spPr>
        <p:txBody>
          <a:bodyPr wrap="square" rtlCol="0" anchor="ctr"/>
          <a:lstStyle/>
          <a:p>
            <a:pPr marL="0" indent="0">
              <a:buNone/>
            </a:pPr>
            <a:r>
              <a:rPr lang="es-419" sz="1000" noProof="0" dirty="0">
                <a:solidFill>
                  <a:srgbClr val="1A1A1A"/>
                </a:solidFill>
                <a:latin typeface="Calibri" pitchFamily="34" charset="0"/>
                <a:ea typeface="Calibri" pitchFamily="34" charset="-122"/>
                <a:cs typeface="Calibri" pitchFamily="34" charset="-120"/>
              </a:rPr>
              <a:t>p50 (3.31ms)</a:t>
            </a:r>
            <a:endParaRPr lang="es-419" sz="1000" noProof="0" dirty="0"/>
          </a:p>
        </p:txBody>
      </p:sp>
      <p:sp>
        <p:nvSpPr>
          <p:cNvPr id="25" name="Shape 23"/>
          <p:cNvSpPr/>
          <p:nvPr/>
        </p:nvSpPr>
        <p:spPr>
          <a:xfrm>
            <a:off x="2286000" y="4114800"/>
            <a:ext cx="2971800" cy="201168"/>
          </a:xfrm>
          <a:prstGeom prst="rect">
            <a:avLst/>
          </a:prstGeom>
          <a:solidFill>
            <a:srgbClr val="3498DB"/>
          </a:solidFill>
          <a:ln/>
        </p:spPr>
        <p:txBody>
          <a:bodyPr/>
          <a:lstStyle/>
          <a:p>
            <a:endParaRPr lang="es-419" noProof="0" dirty="0"/>
          </a:p>
        </p:txBody>
      </p:sp>
      <p:sp>
        <p:nvSpPr>
          <p:cNvPr id="26" name="Text 24"/>
          <p:cNvSpPr/>
          <p:nvPr/>
        </p:nvSpPr>
        <p:spPr>
          <a:xfrm>
            <a:off x="640080" y="4069080"/>
            <a:ext cx="1554480" cy="228600"/>
          </a:xfrm>
          <a:prstGeom prst="rect">
            <a:avLst/>
          </a:prstGeom>
          <a:noFill/>
          <a:ln/>
        </p:spPr>
        <p:txBody>
          <a:bodyPr wrap="square" rtlCol="0" anchor="ctr"/>
          <a:lstStyle/>
          <a:p>
            <a:pPr marL="0" indent="0">
              <a:buNone/>
            </a:pPr>
            <a:r>
              <a:rPr lang="es-419" sz="1000" noProof="0" dirty="0">
                <a:solidFill>
                  <a:srgbClr val="1A1A1A"/>
                </a:solidFill>
                <a:latin typeface="Calibri" pitchFamily="34" charset="0"/>
                <a:ea typeface="Calibri" pitchFamily="34" charset="-122"/>
                <a:cs typeface="Calibri" pitchFamily="34" charset="-120"/>
              </a:rPr>
              <a:t>p95 (6.01ms)</a:t>
            </a:r>
            <a:endParaRPr lang="es-419" sz="1000" noProof="0" dirty="0"/>
          </a:p>
        </p:txBody>
      </p:sp>
      <p:sp>
        <p:nvSpPr>
          <p:cNvPr id="27" name="Shape 25"/>
          <p:cNvSpPr/>
          <p:nvPr/>
        </p:nvSpPr>
        <p:spPr>
          <a:xfrm>
            <a:off x="2286000" y="4389120"/>
            <a:ext cx="4206240" cy="201168"/>
          </a:xfrm>
          <a:prstGeom prst="rect">
            <a:avLst/>
          </a:prstGeom>
          <a:solidFill>
            <a:srgbClr val="E67E22"/>
          </a:solidFill>
          <a:ln/>
        </p:spPr>
        <p:txBody>
          <a:bodyPr/>
          <a:lstStyle/>
          <a:p>
            <a:endParaRPr lang="es-419" noProof="0" dirty="0"/>
          </a:p>
        </p:txBody>
      </p:sp>
      <p:sp>
        <p:nvSpPr>
          <p:cNvPr id="28" name="Text 26"/>
          <p:cNvSpPr/>
          <p:nvPr/>
        </p:nvSpPr>
        <p:spPr>
          <a:xfrm>
            <a:off x="640080" y="4343400"/>
            <a:ext cx="1554480" cy="228600"/>
          </a:xfrm>
          <a:prstGeom prst="rect">
            <a:avLst/>
          </a:prstGeom>
          <a:noFill/>
          <a:ln/>
        </p:spPr>
        <p:txBody>
          <a:bodyPr wrap="square" rtlCol="0" anchor="ctr"/>
          <a:lstStyle/>
          <a:p>
            <a:pPr marL="0" indent="0">
              <a:buNone/>
            </a:pPr>
            <a:r>
              <a:rPr lang="es-419" sz="1000" noProof="0" dirty="0">
                <a:solidFill>
                  <a:srgbClr val="1A1A1A"/>
                </a:solidFill>
                <a:latin typeface="Calibri" pitchFamily="34" charset="0"/>
                <a:ea typeface="Calibri" pitchFamily="34" charset="-122"/>
                <a:cs typeface="Calibri" pitchFamily="34" charset="-120"/>
              </a:rPr>
              <a:t>p99 (9.27ms)</a:t>
            </a:r>
            <a:endParaRPr lang="es-419" sz="1000" noProof="0" dirty="0"/>
          </a:p>
        </p:txBody>
      </p:sp>
      <p:sp>
        <p:nvSpPr>
          <p:cNvPr id="29" name="Shape 27"/>
          <p:cNvSpPr/>
          <p:nvPr/>
        </p:nvSpPr>
        <p:spPr>
          <a:xfrm>
            <a:off x="2286000" y="4663440"/>
            <a:ext cx="6217920" cy="182880"/>
          </a:xfrm>
          <a:prstGeom prst="rect">
            <a:avLst/>
          </a:prstGeom>
          <a:solidFill>
            <a:srgbClr val="0A4A7F"/>
          </a:solidFill>
          <a:ln/>
        </p:spPr>
        <p:txBody>
          <a:bodyPr/>
          <a:lstStyle/>
          <a:p>
            <a:endParaRPr lang="es-419" noProof="0" dirty="0"/>
          </a:p>
        </p:txBody>
      </p:sp>
      <p:sp>
        <p:nvSpPr>
          <p:cNvPr id="30" name="Text 28"/>
          <p:cNvSpPr/>
          <p:nvPr/>
        </p:nvSpPr>
        <p:spPr>
          <a:xfrm>
            <a:off x="640080" y="4617720"/>
            <a:ext cx="1554480" cy="228600"/>
          </a:xfrm>
          <a:prstGeom prst="rect">
            <a:avLst/>
          </a:prstGeom>
          <a:noFill/>
          <a:ln/>
        </p:spPr>
        <p:txBody>
          <a:bodyPr wrap="square" rtlCol="0" anchor="ctr"/>
          <a:lstStyle/>
          <a:p>
            <a:pPr marL="0" indent="0">
              <a:buNone/>
            </a:pPr>
            <a:r>
              <a:rPr lang="es-419" sz="1000" noProof="0" dirty="0">
                <a:solidFill>
                  <a:srgbClr val="1A1A1A"/>
                </a:solidFill>
                <a:latin typeface="Calibri" pitchFamily="34" charset="0"/>
                <a:ea typeface="Calibri" pitchFamily="34" charset="-122"/>
                <a:cs typeface="Calibri" pitchFamily="34" charset="-120"/>
              </a:rPr>
              <a:t>Objetivo (350ms)</a:t>
            </a:r>
            <a:endParaRPr lang="es-419" sz="10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05B45-38F1-59A0-32D3-020E310D172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ECDD9A8-87EC-50DB-C9A0-3A219E972C0F}"/>
              </a:ext>
            </a:extLst>
          </p:cNvPr>
          <p:cNvSpPr/>
          <p:nvPr/>
        </p:nvSpPr>
        <p:spPr>
          <a:xfrm>
            <a:off x="457200" y="365760"/>
            <a:ext cx="8229600" cy="548640"/>
          </a:xfrm>
          <a:prstGeom prst="rect">
            <a:avLst/>
          </a:prstGeom>
          <a:noFill/>
          <a:ln/>
        </p:spPr>
        <p:txBody>
          <a:bodyPr wrap="square" rtlCol="0" anchor="ctr"/>
          <a:lstStyle/>
          <a:p>
            <a:pPr marL="0" indent="0">
              <a:buNone/>
            </a:pPr>
            <a:r>
              <a:rPr lang="es-419" sz="4000" b="1" noProof="0" dirty="0">
                <a:solidFill>
                  <a:srgbClr val="0A4A7F"/>
                </a:solidFill>
                <a:latin typeface="Calibri" pitchFamily="34" charset="0"/>
                <a:ea typeface="Calibri" pitchFamily="34" charset="-122"/>
                <a:cs typeface="Calibri" pitchFamily="34" charset="-120"/>
              </a:rPr>
              <a:t>Experimento 2 - FASE 2: Bajo Pico</a:t>
            </a:r>
            <a:endParaRPr lang="es-419" sz="4000" noProof="0" dirty="0"/>
          </a:p>
        </p:txBody>
      </p:sp>
      <p:sp>
        <p:nvSpPr>
          <p:cNvPr id="3" name="Text 1">
            <a:extLst>
              <a:ext uri="{FF2B5EF4-FFF2-40B4-BE49-F238E27FC236}">
                <a16:creationId xmlns:a16="http://schemas.microsoft.com/office/drawing/2014/main" id="{14EC53DF-62D3-D70B-F93F-40243FAE42FC}"/>
              </a:ext>
            </a:extLst>
          </p:cNvPr>
          <p:cNvSpPr/>
          <p:nvPr/>
        </p:nvSpPr>
        <p:spPr>
          <a:xfrm>
            <a:off x="457200" y="960120"/>
            <a:ext cx="8229600" cy="320040"/>
          </a:xfrm>
          <a:prstGeom prst="rect">
            <a:avLst/>
          </a:prstGeom>
          <a:noFill/>
          <a:ln/>
        </p:spPr>
        <p:txBody>
          <a:bodyPr wrap="square" rtlCol="0" anchor="ctr"/>
          <a:lstStyle/>
          <a:p>
            <a:pPr marL="0" indent="0">
              <a:buNone/>
            </a:pPr>
            <a:r>
              <a:rPr lang="es-419" sz="1600" noProof="0" dirty="0">
                <a:solidFill>
                  <a:srgbClr val="666666"/>
                </a:solidFill>
                <a:latin typeface="Calibri" pitchFamily="34" charset="0"/>
                <a:ea typeface="Calibri" pitchFamily="34" charset="-122"/>
                <a:cs typeface="Calibri" pitchFamily="34" charset="-120"/>
              </a:rPr>
              <a:t>40 minutos (10 min línea base + 30 min pico)</a:t>
            </a:r>
            <a:endParaRPr lang="es-419" sz="1600" noProof="0" dirty="0"/>
          </a:p>
        </p:txBody>
      </p:sp>
      <p:pic>
        <p:nvPicPr>
          <p:cNvPr id="22" name="Imagen 4">
            <a:extLst>
              <a:ext uri="{FF2B5EF4-FFF2-40B4-BE49-F238E27FC236}">
                <a16:creationId xmlns:a16="http://schemas.microsoft.com/office/drawing/2014/main" id="{90708723-78DE-24AA-0731-52C5F71EAB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508" y="1325880"/>
            <a:ext cx="3728515" cy="2009578"/>
          </a:xfrm>
          <a:prstGeom prst="rect">
            <a:avLst/>
          </a:prstGeom>
        </p:spPr>
      </p:pic>
      <p:pic>
        <p:nvPicPr>
          <p:cNvPr id="24" name="Imagen 10">
            <a:extLst>
              <a:ext uri="{FF2B5EF4-FFF2-40B4-BE49-F238E27FC236}">
                <a16:creationId xmlns:a16="http://schemas.microsoft.com/office/drawing/2014/main" id="{E9E961D8-F548-DD20-6A15-6F8ADA652E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82815" y="2284099"/>
            <a:ext cx="4414344" cy="693223"/>
          </a:xfrm>
          <a:prstGeom prst="rect">
            <a:avLst/>
          </a:prstGeom>
        </p:spPr>
      </p:pic>
      <p:pic>
        <p:nvPicPr>
          <p:cNvPr id="26" name="Imagen 12">
            <a:extLst>
              <a:ext uri="{FF2B5EF4-FFF2-40B4-BE49-F238E27FC236}">
                <a16:creationId xmlns:a16="http://schemas.microsoft.com/office/drawing/2014/main" id="{AFD7C6AE-E346-547D-F4FC-3A230A6FBF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82815" y="1938968"/>
            <a:ext cx="4414344" cy="290701"/>
          </a:xfrm>
          <a:prstGeom prst="rect">
            <a:avLst/>
          </a:prstGeom>
        </p:spPr>
      </p:pic>
      <p:pic>
        <p:nvPicPr>
          <p:cNvPr id="28" name="Imagen 6">
            <a:extLst>
              <a:ext uri="{FF2B5EF4-FFF2-40B4-BE49-F238E27FC236}">
                <a16:creationId xmlns:a16="http://schemas.microsoft.com/office/drawing/2014/main" id="{0CC916A1-19FB-60B6-9F94-AE0A5F35B13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00353" y="3381178"/>
            <a:ext cx="5764924" cy="698679"/>
          </a:xfrm>
          <a:prstGeom prst="rect">
            <a:avLst/>
          </a:prstGeom>
        </p:spPr>
      </p:pic>
      <p:pic>
        <p:nvPicPr>
          <p:cNvPr id="30" name="Imagen 8">
            <a:extLst>
              <a:ext uri="{FF2B5EF4-FFF2-40B4-BE49-F238E27FC236}">
                <a16:creationId xmlns:a16="http://schemas.microsoft.com/office/drawing/2014/main" id="{F770F17C-798E-BF1D-7751-784FF951987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01660" y="4147945"/>
            <a:ext cx="5763617" cy="749898"/>
          </a:xfrm>
          <a:prstGeom prst="rect">
            <a:avLst/>
          </a:prstGeom>
        </p:spPr>
      </p:pic>
    </p:spTree>
    <p:extLst>
      <p:ext uri="{BB962C8B-B14F-4D97-AF65-F5344CB8AC3E}">
        <p14:creationId xmlns:p14="http://schemas.microsoft.com/office/powerpoint/2010/main" val="4006465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s-419" sz="4000" b="1" noProof="0" dirty="0">
                <a:solidFill>
                  <a:srgbClr val="0A4A7F"/>
                </a:solidFill>
                <a:latin typeface="Calibri" pitchFamily="34" charset="0"/>
                <a:ea typeface="Calibri" pitchFamily="34" charset="-122"/>
                <a:cs typeface="Calibri" pitchFamily="34" charset="-120"/>
              </a:rPr>
              <a:t>Experimento 2 - FASE 2: Bajo Pico</a:t>
            </a:r>
            <a:endParaRPr lang="es-419" sz="4000" noProof="0" dirty="0"/>
          </a:p>
        </p:txBody>
      </p:sp>
      <p:sp>
        <p:nvSpPr>
          <p:cNvPr id="3" name="Text 1"/>
          <p:cNvSpPr/>
          <p:nvPr/>
        </p:nvSpPr>
        <p:spPr>
          <a:xfrm>
            <a:off x="457200" y="960120"/>
            <a:ext cx="8229600" cy="320040"/>
          </a:xfrm>
          <a:prstGeom prst="rect">
            <a:avLst/>
          </a:prstGeom>
          <a:noFill/>
          <a:ln/>
        </p:spPr>
        <p:txBody>
          <a:bodyPr wrap="square" rtlCol="0" anchor="ctr"/>
          <a:lstStyle/>
          <a:p>
            <a:pPr marL="0" indent="0">
              <a:buNone/>
            </a:pPr>
            <a:r>
              <a:rPr lang="es-419" sz="1600" noProof="0" dirty="0">
                <a:solidFill>
                  <a:srgbClr val="666666"/>
                </a:solidFill>
                <a:latin typeface="Calibri" pitchFamily="34" charset="0"/>
                <a:ea typeface="Calibri" pitchFamily="34" charset="-122"/>
                <a:cs typeface="Calibri" pitchFamily="34" charset="-120"/>
              </a:rPr>
              <a:t>40 minutos (10 min línea base + 30 min pico)</a:t>
            </a:r>
            <a:endParaRPr lang="es-419" sz="1600" noProof="0" dirty="0"/>
          </a:p>
        </p:txBody>
      </p:sp>
      <p:sp>
        <p:nvSpPr>
          <p:cNvPr id="4" name="Text 2"/>
          <p:cNvSpPr/>
          <p:nvPr/>
        </p:nvSpPr>
        <p:spPr>
          <a:xfrm>
            <a:off x="457200" y="1631100"/>
            <a:ext cx="1828800" cy="731520"/>
          </a:xfrm>
          <a:prstGeom prst="rect">
            <a:avLst/>
          </a:prstGeom>
          <a:noFill/>
          <a:ln/>
        </p:spPr>
        <p:txBody>
          <a:bodyPr wrap="square" rtlCol="0" anchor="ctr"/>
          <a:lstStyle/>
          <a:p>
            <a:pPr marL="0" indent="0">
              <a:buNone/>
            </a:pPr>
            <a:r>
              <a:rPr lang="es-419" sz="4000" b="1" noProof="0" dirty="0">
                <a:solidFill>
                  <a:srgbClr val="0A4A7F"/>
                </a:solidFill>
                <a:latin typeface="Calibri" pitchFamily="34" charset="0"/>
                <a:ea typeface="Calibri" pitchFamily="34" charset="-122"/>
                <a:cs typeface="Calibri" pitchFamily="34" charset="-120"/>
              </a:rPr>
              <a:t>6.89 ms</a:t>
            </a:r>
            <a:endParaRPr lang="es-419" sz="4000" noProof="0" dirty="0"/>
          </a:p>
        </p:txBody>
      </p:sp>
      <p:sp>
        <p:nvSpPr>
          <p:cNvPr id="5" name="Text 3"/>
          <p:cNvSpPr/>
          <p:nvPr/>
        </p:nvSpPr>
        <p:spPr>
          <a:xfrm>
            <a:off x="457200" y="2441448"/>
            <a:ext cx="1828800" cy="457200"/>
          </a:xfrm>
          <a:prstGeom prst="rect">
            <a:avLst/>
          </a:prstGeom>
          <a:noFill/>
          <a:ln/>
        </p:spPr>
        <p:txBody>
          <a:bodyPr wrap="square" rtlCol="0" anchor="ctr"/>
          <a:lstStyle/>
          <a:p>
            <a:pPr marL="0" indent="0" algn="ctr">
              <a:buNone/>
            </a:pPr>
            <a:r>
              <a:rPr lang="es-419" sz="1100" b="1" noProof="0" dirty="0">
                <a:solidFill>
                  <a:srgbClr val="1A1A1A"/>
                </a:solidFill>
                <a:latin typeface="Calibri" pitchFamily="34" charset="0"/>
                <a:ea typeface="Calibri" pitchFamily="34" charset="-122"/>
                <a:cs typeface="Calibri" pitchFamily="34" charset="-120"/>
              </a:rPr>
              <a:t>FASE 1</a:t>
            </a:r>
            <a:endParaRPr lang="es-419" sz="1100" noProof="0" dirty="0"/>
          </a:p>
          <a:p>
            <a:pPr marL="0" indent="0" algn="ctr">
              <a:buNone/>
            </a:pPr>
            <a:r>
              <a:rPr lang="es-419" sz="1100" b="1" noProof="0" dirty="0">
                <a:solidFill>
                  <a:srgbClr val="1A1A1A"/>
                </a:solidFill>
                <a:latin typeface="Calibri" pitchFamily="34" charset="0"/>
                <a:ea typeface="Calibri" pitchFamily="34" charset="-122"/>
                <a:cs typeface="Calibri" pitchFamily="34" charset="-120"/>
              </a:rPr>
              <a:t>39K muestras</a:t>
            </a:r>
            <a:endParaRPr lang="es-419" sz="1100" noProof="0" dirty="0"/>
          </a:p>
        </p:txBody>
      </p:sp>
      <p:sp>
        <p:nvSpPr>
          <p:cNvPr id="6" name="Text 4"/>
          <p:cNvSpPr/>
          <p:nvPr/>
        </p:nvSpPr>
        <p:spPr>
          <a:xfrm>
            <a:off x="2468880" y="1737360"/>
            <a:ext cx="548640" cy="457200"/>
          </a:xfrm>
          <a:prstGeom prst="rect">
            <a:avLst/>
          </a:prstGeom>
          <a:noFill/>
          <a:ln/>
        </p:spPr>
        <p:txBody>
          <a:bodyPr wrap="square" rtlCol="0" anchor="ctr"/>
          <a:lstStyle/>
          <a:p>
            <a:pPr marL="0" indent="0" algn="ctr">
              <a:buNone/>
            </a:pPr>
            <a:r>
              <a:rPr lang="es-419" sz="2800" b="1" noProof="0" dirty="0">
                <a:solidFill>
                  <a:srgbClr val="666666"/>
                </a:solidFill>
                <a:latin typeface="Calibri" pitchFamily="34" charset="0"/>
                <a:ea typeface="Calibri" pitchFamily="34" charset="-122"/>
                <a:cs typeface="Calibri" pitchFamily="34" charset="-120"/>
              </a:rPr>
              <a:t>vs</a:t>
            </a:r>
            <a:endParaRPr lang="es-419" sz="2800" noProof="0" dirty="0"/>
          </a:p>
        </p:txBody>
      </p:sp>
      <p:sp>
        <p:nvSpPr>
          <p:cNvPr id="7" name="Text 5"/>
          <p:cNvSpPr/>
          <p:nvPr/>
        </p:nvSpPr>
        <p:spPr>
          <a:xfrm>
            <a:off x="3200400" y="1600200"/>
            <a:ext cx="1828800" cy="731520"/>
          </a:xfrm>
          <a:prstGeom prst="rect">
            <a:avLst/>
          </a:prstGeom>
          <a:noFill/>
          <a:ln/>
        </p:spPr>
        <p:txBody>
          <a:bodyPr wrap="square" rtlCol="0" anchor="ctr"/>
          <a:lstStyle/>
          <a:p>
            <a:pPr marL="0" indent="0">
              <a:buNone/>
            </a:pPr>
            <a:r>
              <a:rPr lang="es-419" sz="4000" b="1" noProof="0" dirty="0">
                <a:solidFill>
                  <a:srgbClr val="27AE60"/>
                </a:solidFill>
                <a:latin typeface="Calibri" pitchFamily="34" charset="0"/>
                <a:ea typeface="Calibri" pitchFamily="34" charset="-122"/>
                <a:cs typeface="Calibri" pitchFamily="34" charset="-120"/>
              </a:rPr>
              <a:t>6.62 ms</a:t>
            </a:r>
            <a:endParaRPr lang="es-419" sz="4000" noProof="0" dirty="0"/>
          </a:p>
        </p:txBody>
      </p:sp>
      <p:sp>
        <p:nvSpPr>
          <p:cNvPr id="8" name="Text 6"/>
          <p:cNvSpPr/>
          <p:nvPr/>
        </p:nvSpPr>
        <p:spPr>
          <a:xfrm>
            <a:off x="3200400" y="2385848"/>
            <a:ext cx="1828800" cy="457200"/>
          </a:xfrm>
          <a:prstGeom prst="rect">
            <a:avLst/>
          </a:prstGeom>
          <a:noFill/>
          <a:ln/>
        </p:spPr>
        <p:txBody>
          <a:bodyPr wrap="square" rtlCol="0" anchor="ctr"/>
          <a:lstStyle/>
          <a:p>
            <a:pPr marL="0" indent="0" algn="ctr">
              <a:buNone/>
            </a:pPr>
            <a:r>
              <a:rPr lang="es-419" sz="1100" b="1" noProof="0" dirty="0">
                <a:solidFill>
                  <a:srgbClr val="1A1A1A"/>
                </a:solidFill>
                <a:latin typeface="Calibri" pitchFamily="34" charset="0"/>
                <a:ea typeface="Calibri" pitchFamily="34" charset="-122"/>
                <a:cs typeface="Calibri" pitchFamily="34" charset="-120"/>
              </a:rPr>
              <a:t>FASE 2</a:t>
            </a:r>
            <a:endParaRPr lang="es-419" sz="1100" noProof="0" dirty="0"/>
          </a:p>
          <a:p>
            <a:pPr marL="0" indent="0" algn="ctr">
              <a:buNone/>
            </a:pPr>
            <a:r>
              <a:rPr lang="es-419" sz="1100" b="1" noProof="0" dirty="0">
                <a:solidFill>
                  <a:srgbClr val="1A1A1A"/>
                </a:solidFill>
                <a:latin typeface="Calibri" pitchFamily="34" charset="0"/>
                <a:ea typeface="Calibri" pitchFamily="34" charset="-122"/>
                <a:cs typeface="Calibri" pitchFamily="34" charset="-120"/>
              </a:rPr>
              <a:t>169K muestras (+4.3x)</a:t>
            </a:r>
            <a:endParaRPr lang="es-419" sz="1100" noProof="0" dirty="0"/>
          </a:p>
        </p:txBody>
      </p:sp>
      <p:sp>
        <p:nvSpPr>
          <p:cNvPr id="9" name="Shape 7"/>
          <p:cNvSpPr/>
          <p:nvPr/>
        </p:nvSpPr>
        <p:spPr>
          <a:xfrm>
            <a:off x="5303520" y="1463040"/>
            <a:ext cx="3383280" cy="1234440"/>
          </a:xfrm>
          <a:prstGeom prst="roundRect">
            <a:avLst/>
          </a:prstGeom>
          <a:solidFill>
            <a:srgbClr val="E8F8F5"/>
          </a:solidFill>
          <a:ln w="25400">
            <a:solidFill>
              <a:srgbClr val="27AE60"/>
            </a:solidFill>
            <a:prstDash val="solid"/>
          </a:ln>
        </p:spPr>
        <p:txBody>
          <a:bodyPr/>
          <a:lstStyle/>
          <a:p>
            <a:endParaRPr lang="es-419" noProof="0" dirty="0"/>
          </a:p>
        </p:txBody>
      </p:sp>
      <p:sp>
        <p:nvSpPr>
          <p:cNvPr id="10" name="Text 8"/>
          <p:cNvSpPr/>
          <p:nvPr/>
        </p:nvSpPr>
        <p:spPr>
          <a:xfrm>
            <a:off x="5486400" y="1600200"/>
            <a:ext cx="3017520" cy="274320"/>
          </a:xfrm>
          <a:prstGeom prst="rect">
            <a:avLst/>
          </a:prstGeom>
          <a:noFill/>
          <a:ln/>
        </p:spPr>
        <p:txBody>
          <a:bodyPr wrap="square" rtlCol="0" anchor="ctr"/>
          <a:lstStyle/>
          <a:p>
            <a:pPr marL="0" indent="0">
              <a:buNone/>
            </a:pPr>
            <a:r>
              <a:rPr lang="es-419" sz="1200" b="1" noProof="0" dirty="0">
                <a:solidFill>
                  <a:srgbClr val="27AE60"/>
                </a:solidFill>
                <a:latin typeface="Calibri" pitchFamily="34" charset="0"/>
                <a:ea typeface="Calibri" pitchFamily="34" charset="-122"/>
                <a:cs typeface="Calibri" pitchFamily="34" charset="-120"/>
              </a:rPr>
              <a:t>🎯 LA PRUEBA CRÍTICA</a:t>
            </a:r>
            <a:endParaRPr lang="es-419" sz="1200" noProof="0" dirty="0"/>
          </a:p>
        </p:txBody>
      </p:sp>
      <p:sp>
        <p:nvSpPr>
          <p:cNvPr id="11" name="Text 9"/>
          <p:cNvSpPr/>
          <p:nvPr/>
        </p:nvSpPr>
        <p:spPr>
          <a:xfrm>
            <a:off x="5486400" y="1901952"/>
            <a:ext cx="3017520" cy="548640"/>
          </a:xfrm>
          <a:prstGeom prst="rect">
            <a:avLst/>
          </a:prstGeom>
          <a:noFill/>
          <a:ln/>
        </p:spPr>
        <p:txBody>
          <a:bodyPr wrap="square" rtlCol="0" anchor="ctr"/>
          <a:lstStyle/>
          <a:p>
            <a:pPr marL="0" indent="0">
              <a:buNone/>
            </a:pPr>
            <a:r>
              <a:rPr lang="es-419" sz="1300" b="1" noProof="0" dirty="0">
                <a:solidFill>
                  <a:srgbClr val="1A1A1A"/>
                </a:solidFill>
                <a:latin typeface="Calibri" pitchFamily="34" charset="0"/>
                <a:ea typeface="Calibri" pitchFamily="34" charset="-122"/>
                <a:cs typeface="Calibri" pitchFamily="34" charset="-120"/>
              </a:rPr>
              <a:t>9x más volumen, latencia IGUAL o MEJOR</a:t>
            </a:r>
            <a:endParaRPr lang="es-419" sz="1300" noProof="0" dirty="0"/>
          </a:p>
        </p:txBody>
      </p:sp>
      <p:sp>
        <p:nvSpPr>
          <p:cNvPr id="12" name="Text 10"/>
          <p:cNvSpPr/>
          <p:nvPr/>
        </p:nvSpPr>
        <p:spPr>
          <a:xfrm>
            <a:off x="5486400" y="2468880"/>
            <a:ext cx="3017520" cy="137160"/>
          </a:xfrm>
          <a:prstGeom prst="rect">
            <a:avLst/>
          </a:prstGeom>
          <a:noFill/>
          <a:ln/>
        </p:spPr>
        <p:txBody>
          <a:bodyPr wrap="square" rtlCol="0" anchor="ctr"/>
          <a:lstStyle/>
          <a:p>
            <a:pPr marL="0" indent="0">
              <a:buNone/>
            </a:pPr>
            <a:r>
              <a:rPr lang="es-419" sz="1000" noProof="0" dirty="0">
                <a:solidFill>
                  <a:srgbClr val="666666"/>
                </a:solidFill>
                <a:latin typeface="Calibri" pitchFamily="34" charset="0"/>
                <a:ea typeface="Calibri" pitchFamily="34" charset="-122"/>
                <a:cs typeface="Calibri" pitchFamily="34" charset="-120"/>
              </a:rPr>
              <a:t>El aislamiento del canal funciona realmente</a:t>
            </a:r>
            <a:endParaRPr lang="es-419" sz="1000" noProof="0" dirty="0"/>
          </a:p>
        </p:txBody>
      </p:sp>
      <p:sp>
        <p:nvSpPr>
          <p:cNvPr id="13" name="Shape 11"/>
          <p:cNvSpPr/>
          <p:nvPr/>
        </p:nvSpPr>
        <p:spPr>
          <a:xfrm>
            <a:off x="457200" y="3044952"/>
            <a:ext cx="8229600" cy="1645920"/>
          </a:xfrm>
          <a:prstGeom prst="roundRect">
            <a:avLst/>
          </a:prstGeom>
          <a:solidFill>
            <a:srgbClr val="F8F9FA"/>
          </a:solidFill>
          <a:ln/>
        </p:spPr>
        <p:txBody>
          <a:bodyPr/>
          <a:lstStyle/>
          <a:p>
            <a:endParaRPr lang="es-419" noProof="0" dirty="0"/>
          </a:p>
        </p:txBody>
      </p:sp>
      <p:sp>
        <p:nvSpPr>
          <p:cNvPr id="14" name="Text 12"/>
          <p:cNvSpPr/>
          <p:nvPr/>
        </p:nvSpPr>
        <p:spPr>
          <a:xfrm>
            <a:off x="640080" y="3182112"/>
            <a:ext cx="7863840" cy="274320"/>
          </a:xfrm>
          <a:prstGeom prst="rect">
            <a:avLst/>
          </a:prstGeom>
          <a:noFill/>
          <a:ln/>
        </p:spPr>
        <p:txBody>
          <a:bodyPr wrap="square" rtlCol="0" anchor="ctr"/>
          <a:lstStyle/>
          <a:p>
            <a:pPr marL="0" indent="0">
              <a:buNone/>
            </a:pPr>
            <a:r>
              <a:rPr lang="es-419" sz="1200" b="1" noProof="0" dirty="0">
                <a:solidFill>
                  <a:srgbClr val="0A4A7F"/>
                </a:solidFill>
                <a:latin typeface="Calibri" pitchFamily="34" charset="0"/>
                <a:ea typeface="Calibri" pitchFamily="34" charset="-122"/>
                <a:cs typeface="Calibri" pitchFamily="34" charset="-120"/>
              </a:rPr>
              <a:t>Resultados FASE 2 (El dato más contundente):</a:t>
            </a:r>
            <a:endParaRPr lang="es-419" sz="1200" noProof="0" dirty="0"/>
          </a:p>
        </p:txBody>
      </p:sp>
      <p:sp>
        <p:nvSpPr>
          <p:cNvPr id="15" name="Text 13"/>
          <p:cNvSpPr/>
          <p:nvPr/>
        </p:nvSpPr>
        <p:spPr>
          <a:xfrm>
            <a:off x="914400" y="3547872"/>
            <a:ext cx="7498080" cy="228600"/>
          </a:xfrm>
          <a:prstGeom prst="rect">
            <a:avLst/>
          </a:prstGeom>
          <a:noFill/>
          <a:ln/>
        </p:spPr>
        <p:txBody>
          <a:bodyPr wrap="square" rtlCol="0" anchor="ctr"/>
          <a:lstStyle/>
          <a:p>
            <a:pPr marL="0" indent="0">
              <a:buNone/>
            </a:pPr>
            <a:r>
              <a:rPr lang="es-419" sz="1000" noProof="0" dirty="0">
                <a:solidFill>
                  <a:srgbClr val="1A1A1A"/>
                </a:solidFill>
                <a:latin typeface="Calibri" pitchFamily="34" charset="0"/>
                <a:ea typeface="Calibri" pitchFamily="34" charset="-122"/>
                <a:cs typeface="Calibri" pitchFamily="34" charset="-120"/>
              </a:rPr>
              <a:t>• p95 = 7.50ms (47x mejor que límite de 350ms) — mejora respecto a Fase 1</a:t>
            </a:r>
            <a:endParaRPr lang="es-419" sz="1000" noProof="0" dirty="0"/>
          </a:p>
        </p:txBody>
      </p:sp>
      <p:sp>
        <p:nvSpPr>
          <p:cNvPr id="16" name="Text 14"/>
          <p:cNvSpPr/>
          <p:nvPr/>
        </p:nvSpPr>
        <p:spPr>
          <a:xfrm>
            <a:off x="914400" y="3803904"/>
            <a:ext cx="7498080" cy="228600"/>
          </a:xfrm>
          <a:prstGeom prst="rect">
            <a:avLst/>
          </a:prstGeom>
          <a:noFill/>
          <a:ln/>
        </p:spPr>
        <p:txBody>
          <a:bodyPr wrap="square" rtlCol="0" anchor="ctr"/>
          <a:lstStyle/>
          <a:p>
            <a:pPr marL="0" indent="0">
              <a:buNone/>
            </a:pPr>
            <a:r>
              <a:rPr lang="es-419" sz="1000" noProof="0" dirty="0">
                <a:solidFill>
                  <a:srgbClr val="1A1A1A"/>
                </a:solidFill>
                <a:latin typeface="Calibri" pitchFamily="34" charset="0"/>
                <a:ea typeface="Calibri" pitchFamily="34" charset="-122"/>
                <a:cs typeface="Calibri" pitchFamily="34" charset="-120"/>
              </a:rPr>
              <a:t>• Cero muestras superaron 350ms (0 de 64,996) — resultados más consistentes</a:t>
            </a:r>
            <a:endParaRPr lang="es-419" sz="1000" noProof="0" dirty="0"/>
          </a:p>
        </p:txBody>
      </p:sp>
      <p:sp>
        <p:nvSpPr>
          <p:cNvPr id="17" name="Text 15"/>
          <p:cNvSpPr/>
          <p:nvPr/>
        </p:nvSpPr>
        <p:spPr>
          <a:xfrm>
            <a:off x="914400" y="4059936"/>
            <a:ext cx="7498080" cy="228600"/>
          </a:xfrm>
          <a:prstGeom prst="rect">
            <a:avLst/>
          </a:prstGeom>
          <a:noFill/>
          <a:ln/>
        </p:spPr>
        <p:txBody>
          <a:bodyPr wrap="square" rtlCol="0" anchor="ctr"/>
          <a:lstStyle/>
          <a:p>
            <a:pPr marL="0" indent="0">
              <a:buNone/>
            </a:pPr>
            <a:r>
              <a:rPr lang="es-419" sz="1000" noProof="0" dirty="0">
                <a:solidFill>
                  <a:srgbClr val="1A1A1A"/>
                </a:solidFill>
                <a:latin typeface="Calibri" pitchFamily="34" charset="0"/>
                <a:ea typeface="Calibri" pitchFamily="34" charset="-122"/>
                <a:cs typeface="Calibri" pitchFamily="34" charset="-120"/>
              </a:rPr>
              <a:t>• Volumen de confirmaciones casi 9x mayor (64,996 vs 7,418), pero latencia prácticamente igual</a:t>
            </a:r>
            <a:endParaRPr lang="es-419" sz="1000" noProof="0" dirty="0"/>
          </a:p>
        </p:txBody>
      </p:sp>
      <p:sp>
        <p:nvSpPr>
          <p:cNvPr id="18" name="Text 16"/>
          <p:cNvSpPr/>
          <p:nvPr/>
        </p:nvSpPr>
        <p:spPr>
          <a:xfrm>
            <a:off x="914400" y="4315968"/>
            <a:ext cx="7498080" cy="228600"/>
          </a:xfrm>
          <a:prstGeom prst="rect">
            <a:avLst/>
          </a:prstGeom>
          <a:noFill/>
          <a:ln/>
        </p:spPr>
        <p:txBody>
          <a:bodyPr wrap="square" rtlCol="0" anchor="ctr"/>
          <a:lstStyle/>
          <a:p>
            <a:pPr marL="0" indent="0">
              <a:buNone/>
            </a:pPr>
            <a:r>
              <a:rPr lang="es-419" sz="1000" noProof="0" dirty="0">
                <a:solidFill>
                  <a:srgbClr val="1A1A1A"/>
                </a:solidFill>
                <a:latin typeface="Calibri" pitchFamily="34" charset="0"/>
                <a:ea typeface="Calibri" pitchFamily="34" charset="-122"/>
                <a:cs typeface="Calibri" pitchFamily="34" charset="-120"/>
              </a:rPr>
              <a:t>• P50 de 3.42ms indica que mitad de confirmaciones llegan en &lt;3.5ms</a:t>
            </a:r>
            <a:endParaRPr lang="es-419" sz="1000"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FACA4-D2A3-C3F6-2615-87EEF210B9E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AC59BC8-B107-9DDB-AFF2-733EF380B843}"/>
              </a:ext>
            </a:extLst>
          </p:cNvPr>
          <p:cNvSpPr/>
          <p:nvPr/>
        </p:nvSpPr>
        <p:spPr>
          <a:xfrm>
            <a:off x="457200" y="365760"/>
            <a:ext cx="8229600" cy="548640"/>
          </a:xfrm>
          <a:prstGeom prst="rect">
            <a:avLst/>
          </a:prstGeom>
          <a:noFill/>
          <a:ln/>
        </p:spPr>
        <p:txBody>
          <a:bodyPr wrap="square" rtlCol="0" anchor="ctr"/>
          <a:lstStyle/>
          <a:p>
            <a:pPr marL="0" indent="0">
              <a:buNone/>
            </a:pPr>
            <a:r>
              <a:rPr lang="es-419" sz="4000" b="1" noProof="0" dirty="0">
                <a:solidFill>
                  <a:srgbClr val="0A4A7F"/>
                </a:solidFill>
                <a:latin typeface="Calibri" pitchFamily="34" charset="0"/>
                <a:ea typeface="Calibri" pitchFamily="34" charset="-122"/>
                <a:cs typeface="Calibri" pitchFamily="34" charset="-120"/>
              </a:rPr>
              <a:t>Experimento 2 - FASE 2: Bajo Pico</a:t>
            </a:r>
            <a:endParaRPr lang="es-419" sz="4000" noProof="0" dirty="0"/>
          </a:p>
        </p:txBody>
      </p:sp>
      <p:sp>
        <p:nvSpPr>
          <p:cNvPr id="3" name="Text 1">
            <a:extLst>
              <a:ext uri="{FF2B5EF4-FFF2-40B4-BE49-F238E27FC236}">
                <a16:creationId xmlns:a16="http://schemas.microsoft.com/office/drawing/2014/main" id="{F90029B8-36BA-68F3-211F-FEDD694B9343}"/>
              </a:ext>
            </a:extLst>
          </p:cNvPr>
          <p:cNvSpPr/>
          <p:nvPr/>
        </p:nvSpPr>
        <p:spPr>
          <a:xfrm>
            <a:off x="457200" y="960120"/>
            <a:ext cx="8229600" cy="320040"/>
          </a:xfrm>
          <a:prstGeom prst="rect">
            <a:avLst/>
          </a:prstGeom>
          <a:noFill/>
          <a:ln/>
        </p:spPr>
        <p:txBody>
          <a:bodyPr wrap="square" rtlCol="0" anchor="ctr"/>
          <a:lstStyle/>
          <a:p>
            <a:pPr marL="0" indent="0">
              <a:buNone/>
            </a:pPr>
            <a:r>
              <a:rPr lang="es-419" sz="1600" noProof="0" dirty="0"/>
              <a:t>Evidencia</a:t>
            </a:r>
          </a:p>
        </p:txBody>
      </p:sp>
      <p:pic>
        <p:nvPicPr>
          <p:cNvPr id="27" name="Picture 26">
            <a:extLst>
              <a:ext uri="{FF2B5EF4-FFF2-40B4-BE49-F238E27FC236}">
                <a16:creationId xmlns:a16="http://schemas.microsoft.com/office/drawing/2014/main" id="{63080985-4BAA-664D-CC5E-5D6BC5FCC3E1}"/>
              </a:ext>
            </a:extLst>
          </p:cNvPr>
          <p:cNvPicPr>
            <a:picLocks noChangeAspect="1"/>
          </p:cNvPicPr>
          <p:nvPr/>
        </p:nvPicPr>
        <p:blipFill>
          <a:blip r:embed="rId3"/>
          <a:stretch>
            <a:fillRect/>
          </a:stretch>
        </p:blipFill>
        <p:spPr>
          <a:xfrm>
            <a:off x="3731172" y="960120"/>
            <a:ext cx="4955628" cy="401672"/>
          </a:xfrm>
          <a:prstGeom prst="rect">
            <a:avLst/>
          </a:prstGeom>
        </p:spPr>
      </p:pic>
      <p:pic>
        <p:nvPicPr>
          <p:cNvPr id="29" name="Imagen 3">
            <a:extLst>
              <a:ext uri="{FF2B5EF4-FFF2-40B4-BE49-F238E27FC236}">
                <a16:creationId xmlns:a16="http://schemas.microsoft.com/office/drawing/2014/main" id="{B9FD56D5-2461-A764-287D-F02AC6EC42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1457846"/>
            <a:ext cx="3841531" cy="651153"/>
          </a:xfrm>
          <a:prstGeom prst="rect">
            <a:avLst/>
          </a:prstGeom>
        </p:spPr>
      </p:pic>
      <p:pic>
        <p:nvPicPr>
          <p:cNvPr id="31" name="Imagen 4">
            <a:extLst>
              <a:ext uri="{FF2B5EF4-FFF2-40B4-BE49-F238E27FC236}">
                <a16:creationId xmlns:a16="http://schemas.microsoft.com/office/drawing/2014/main" id="{209DBEA7-5333-873D-B260-04E0F84228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1" y="2251373"/>
            <a:ext cx="3841530" cy="2105952"/>
          </a:xfrm>
          <a:prstGeom prst="rect">
            <a:avLst/>
          </a:prstGeom>
        </p:spPr>
      </p:pic>
      <p:pic>
        <p:nvPicPr>
          <p:cNvPr id="33" name="Imagen 8">
            <a:extLst>
              <a:ext uri="{FF2B5EF4-FFF2-40B4-BE49-F238E27FC236}">
                <a16:creationId xmlns:a16="http://schemas.microsoft.com/office/drawing/2014/main" id="{F9947DDF-6E90-C126-C8A8-FBA83E8EBC4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7202" y="4397900"/>
            <a:ext cx="3841530" cy="442247"/>
          </a:xfrm>
          <a:prstGeom prst="rect">
            <a:avLst/>
          </a:prstGeom>
        </p:spPr>
      </p:pic>
      <p:pic>
        <p:nvPicPr>
          <p:cNvPr id="35" name="Imagen 10">
            <a:extLst>
              <a:ext uri="{FF2B5EF4-FFF2-40B4-BE49-F238E27FC236}">
                <a16:creationId xmlns:a16="http://schemas.microsoft.com/office/drawing/2014/main" id="{2DE104DF-AB64-9233-C880-0987518647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72000" y="1686796"/>
            <a:ext cx="4419600" cy="499764"/>
          </a:xfrm>
          <a:prstGeom prst="rect">
            <a:avLst/>
          </a:prstGeom>
        </p:spPr>
      </p:pic>
      <p:pic>
        <p:nvPicPr>
          <p:cNvPr id="37" name="Imagen 16">
            <a:extLst>
              <a:ext uri="{FF2B5EF4-FFF2-40B4-BE49-F238E27FC236}">
                <a16:creationId xmlns:a16="http://schemas.microsoft.com/office/drawing/2014/main" id="{80A3DD49-A014-98D3-37B5-76445389B0B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72000" y="2251374"/>
            <a:ext cx="3841530" cy="2029160"/>
          </a:xfrm>
          <a:prstGeom prst="rect">
            <a:avLst/>
          </a:prstGeom>
        </p:spPr>
      </p:pic>
      <p:pic>
        <p:nvPicPr>
          <p:cNvPr id="39" name="Imagen 14">
            <a:extLst>
              <a:ext uri="{FF2B5EF4-FFF2-40B4-BE49-F238E27FC236}">
                <a16:creationId xmlns:a16="http://schemas.microsoft.com/office/drawing/2014/main" id="{8FE312ED-1DBE-06D5-3315-ACF26A280D6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572001" y="4321771"/>
            <a:ext cx="4419600" cy="554698"/>
          </a:xfrm>
          <a:prstGeom prst="rect">
            <a:avLst/>
          </a:prstGeom>
        </p:spPr>
      </p:pic>
    </p:spTree>
    <p:extLst>
      <p:ext uri="{BB962C8B-B14F-4D97-AF65-F5344CB8AC3E}">
        <p14:creationId xmlns:p14="http://schemas.microsoft.com/office/powerpoint/2010/main" val="1910981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s-419" sz="3800" b="1" noProof="0" dirty="0">
                <a:solidFill>
                  <a:srgbClr val="0A4A7F"/>
                </a:solidFill>
                <a:latin typeface="Calibri" pitchFamily="34" charset="0"/>
                <a:ea typeface="Calibri" pitchFamily="34" charset="-122"/>
                <a:cs typeface="Calibri" pitchFamily="34" charset="-120"/>
              </a:rPr>
              <a:t>Análisis Profundo: Por qué FASE 2 es contundente</a:t>
            </a:r>
            <a:endParaRPr lang="es-419" sz="3800" noProof="0" dirty="0"/>
          </a:p>
        </p:txBody>
      </p:sp>
      <p:sp>
        <p:nvSpPr>
          <p:cNvPr id="3" name="Text 1"/>
          <p:cNvSpPr/>
          <p:nvPr/>
        </p:nvSpPr>
        <p:spPr>
          <a:xfrm>
            <a:off x="457200" y="1120140"/>
            <a:ext cx="8229600" cy="320040"/>
          </a:xfrm>
          <a:prstGeom prst="rect">
            <a:avLst/>
          </a:prstGeom>
          <a:noFill/>
          <a:ln/>
        </p:spPr>
        <p:txBody>
          <a:bodyPr wrap="square" rtlCol="0" anchor="ctr"/>
          <a:lstStyle/>
          <a:p>
            <a:pPr marL="0" indent="0">
              <a:buNone/>
            </a:pPr>
            <a:r>
              <a:rPr lang="es-419" sz="1500" noProof="0" dirty="0">
                <a:solidFill>
                  <a:srgbClr val="666666"/>
                </a:solidFill>
                <a:latin typeface="Calibri" pitchFamily="34" charset="0"/>
                <a:ea typeface="Calibri" pitchFamily="34" charset="-122"/>
                <a:cs typeface="Calibri" pitchFamily="34" charset="-120"/>
              </a:rPr>
              <a:t>El punto central de la hipótesis</a:t>
            </a:r>
            <a:endParaRPr lang="es-419" sz="1500" noProof="0" dirty="0"/>
          </a:p>
        </p:txBody>
      </p:sp>
      <p:sp>
        <p:nvSpPr>
          <p:cNvPr id="4" name="Shape 2"/>
          <p:cNvSpPr/>
          <p:nvPr/>
        </p:nvSpPr>
        <p:spPr>
          <a:xfrm>
            <a:off x="457200" y="1783080"/>
            <a:ext cx="8229600" cy="2971800"/>
          </a:xfrm>
          <a:prstGeom prst="roundRect">
            <a:avLst/>
          </a:prstGeom>
          <a:solidFill>
            <a:srgbClr val="E8F1F7"/>
          </a:solidFill>
          <a:ln/>
        </p:spPr>
        <p:txBody>
          <a:bodyPr/>
          <a:lstStyle/>
          <a:p>
            <a:endParaRPr lang="es-419" noProof="0" dirty="0"/>
          </a:p>
        </p:txBody>
      </p:sp>
      <p:sp>
        <p:nvSpPr>
          <p:cNvPr id="5" name="Text 3"/>
          <p:cNvSpPr/>
          <p:nvPr/>
        </p:nvSpPr>
        <p:spPr>
          <a:xfrm>
            <a:off x="640080" y="1542122"/>
            <a:ext cx="7863840" cy="240957"/>
          </a:xfrm>
          <a:prstGeom prst="rect">
            <a:avLst/>
          </a:prstGeom>
          <a:noFill/>
          <a:ln/>
        </p:spPr>
        <p:txBody>
          <a:bodyPr wrap="square" rtlCol="0" anchor="ctr"/>
          <a:lstStyle/>
          <a:p>
            <a:pPr marL="0" indent="0">
              <a:buNone/>
            </a:pPr>
            <a:r>
              <a:rPr lang="es-419" sz="1300" b="1" noProof="0" dirty="0">
                <a:solidFill>
                  <a:srgbClr val="0A4A7F"/>
                </a:solidFill>
                <a:latin typeface="Calibri" pitchFamily="34" charset="0"/>
                <a:ea typeface="Calibri" pitchFamily="34" charset="-122"/>
                <a:cs typeface="Calibri" pitchFamily="34" charset="-120"/>
              </a:rPr>
              <a:t>FASE 1 — Por qué cumple</a:t>
            </a:r>
            <a:endParaRPr lang="es-419" sz="1300" noProof="0" dirty="0"/>
          </a:p>
        </p:txBody>
      </p:sp>
      <p:sp>
        <p:nvSpPr>
          <p:cNvPr id="6" name="Text 4"/>
          <p:cNvSpPr/>
          <p:nvPr/>
        </p:nvSpPr>
        <p:spPr>
          <a:xfrm>
            <a:off x="640080" y="1962252"/>
            <a:ext cx="7863840" cy="963827"/>
          </a:xfrm>
          <a:prstGeom prst="rect">
            <a:avLst/>
          </a:prstGeom>
          <a:noFill/>
          <a:ln/>
        </p:spPr>
        <p:txBody>
          <a:bodyPr wrap="square" rtlCol="0" anchor="ctr"/>
          <a:lstStyle/>
          <a:p>
            <a:pPr marL="0" indent="0">
              <a:buNone/>
            </a:pPr>
            <a:r>
              <a:rPr lang="es-419" sz="1100" noProof="0" dirty="0">
                <a:solidFill>
                  <a:srgbClr val="1A1A1A"/>
                </a:solidFill>
                <a:latin typeface="Calibri" pitchFamily="34" charset="0"/>
                <a:ea typeface="Calibri" pitchFamily="34" charset="-122"/>
                <a:cs typeface="Calibri" pitchFamily="34" charset="-120"/>
              </a:rPr>
              <a:t>Objetivo: ≤350ms (p95), sin pérdida ni duplicación. Resultado: p95 = 6.71ms sobre 39,272 muestras (~65.5 confirmaciones/s, ~1,964 </a:t>
            </a:r>
            <a:r>
              <a:rPr lang="es-419" sz="1100" noProof="0" dirty="0" err="1">
                <a:solidFill>
                  <a:srgbClr val="1A1A1A"/>
                </a:solidFill>
                <a:latin typeface="Calibri" pitchFamily="34" charset="0"/>
                <a:ea typeface="Calibri" pitchFamily="34" charset="-122"/>
                <a:cs typeface="Calibri" pitchFamily="34" charset="-120"/>
              </a:rPr>
              <a:t>matches</a:t>
            </a:r>
            <a:r>
              <a:rPr lang="es-419" sz="1100" noProof="0" dirty="0">
                <a:solidFill>
                  <a:srgbClr val="1A1A1A"/>
                </a:solidFill>
                <a:latin typeface="Calibri" pitchFamily="34" charset="0"/>
                <a:ea typeface="Calibri" pitchFamily="34" charset="-122"/>
                <a:cs typeface="Calibri" pitchFamily="34" charset="-120"/>
              </a:rPr>
              <a:t>/min). Cero muestras por encima de 350ms. Por qué cumple: 6.71ms está 52 veces por debajo del límite. Con este volumen, cada tramo del canal transaccional tiene margen de sobra para completarse en milisegundos porque no compite por recursos. El p50 de 3.34ms muestra que la mitad de confirmaciones llegan en &lt;3.5ms.</a:t>
            </a:r>
            <a:endParaRPr lang="es-419" sz="1100" noProof="0" dirty="0"/>
          </a:p>
        </p:txBody>
      </p:sp>
      <p:sp>
        <p:nvSpPr>
          <p:cNvPr id="7" name="Text 5"/>
          <p:cNvSpPr/>
          <p:nvPr/>
        </p:nvSpPr>
        <p:spPr>
          <a:xfrm>
            <a:off x="640080" y="3050882"/>
            <a:ext cx="7863840" cy="240957"/>
          </a:xfrm>
          <a:prstGeom prst="rect">
            <a:avLst/>
          </a:prstGeom>
          <a:noFill/>
          <a:ln/>
        </p:spPr>
        <p:txBody>
          <a:bodyPr wrap="square" rtlCol="0" anchor="ctr"/>
          <a:lstStyle/>
          <a:p>
            <a:pPr marL="0" indent="0">
              <a:buNone/>
            </a:pPr>
            <a:r>
              <a:rPr lang="es-419" sz="1300" b="1" noProof="0" dirty="0">
                <a:solidFill>
                  <a:srgbClr val="27AE60"/>
                </a:solidFill>
                <a:latin typeface="Calibri" pitchFamily="34" charset="0"/>
                <a:ea typeface="Calibri" pitchFamily="34" charset="-122"/>
                <a:cs typeface="Calibri" pitchFamily="34" charset="-120"/>
              </a:rPr>
              <a:t>FASE 2 — Por qué es el dato más contundente</a:t>
            </a:r>
            <a:endParaRPr lang="es-419" sz="1300" noProof="0" dirty="0"/>
          </a:p>
        </p:txBody>
      </p:sp>
      <p:sp>
        <p:nvSpPr>
          <p:cNvPr id="8" name="Text 6"/>
          <p:cNvSpPr/>
          <p:nvPr/>
        </p:nvSpPr>
        <p:spPr>
          <a:xfrm>
            <a:off x="640080" y="3493254"/>
            <a:ext cx="7863840" cy="1124465"/>
          </a:xfrm>
          <a:prstGeom prst="rect">
            <a:avLst/>
          </a:prstGeom>
          <a:noFill/>
          <a:ln/>
        </p:spPr>
        <p:txBody>
          <a:bodyPr wrap="square" rtlCol="0" anchor="ctr"/>
          <a:lstStyle/>
          <a:p>
            <a:pPr marL="0" indent="0">
              <a:buNone/>
            </a:pPr>
            <a:r>
              <a:rPr lang="es-419" sz="1100" noProof="0" dirty="0">
                <a:solidFill>
                  <a:srgbClr val="1A1A1A"/>
                </a:solidFill>
                <a:latin typeface="Calibri" pitchFamily="34" charset="0"/>
                <a:ea typeface="Calibri" pitchFamily="34" charset="-122"/>
                <a:cs typeface="Calibri" pitchFamily="34" charset="-120"/>
              </a:rPr>
              <a:t>Volumen de confirmaciones en Fase 2 fue 4.3 veces mayor (169,232 vs 39,272), pero p95 NO empeoró — mejoró levemente (6.60ms vs 6.71ms). Esto prueba que el aislamiento del canal transaccional REALMENTE evita contención. Si el canal compartiera recursos, más volumen = más latencia. Aquí no pasó, lo cual es evidencia empírica de que el aislamiento funciona, no solo en teoría sino CON DATOS.</a:t>
            </a:r>
            <a:endParaRPr lang="es-419" sz="11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s-419" sz="4000" b="1" noProof="0" dirty="0">
                <a:solidFill>
                  <a:srgbClr val="0A4A7F"/>
                </a:solidFill>
                <a:latin typeface="Calibri" pitchFamily="34" charset="0"/>
                <a:ea typeface="Calibri" pitchFamily="34" charset="-122"/>
                <a:cs typeface="Calibri" pitchFamily="34" charset="-120"/>
              </a:rPr>
              <a:t>Experimento 1 - Amortiguación Asíncrona</a:t>
            </a:r>
            <a:endParaRPr lang="es-419" sz="4000" noProof="0" dirty="0"/>
          </a:p>
        </p:txBody>
      </p:sp>
      <p:sp>
        <p:nvSpPr>
          <p:cNvPr id="3" name="Text 1"/>
          <p:cNvSpPr/>
          <p:nvPr/>
        </p:nvSpPr>
        <p:spPr>
          <a:xfrm>
            <a:off x="457200" y="1182204"/>
            <a:ext cx="8229600" cy="320040"/>
          </a:xfrm>
          <a:prstGeom prst="rect">
            <a:avLst/>
          </a:prstGeom>
          <a:noFill/>
          <a:ln/>
        </p:spPr>
        <p:txBody>
          <a:bodyPr wrap="square" rtlCol="0" anchor="ctr"/>
          <a:lstStyle/>
          <a:p>
            <a:pPr marL="0" indent="0">
              <a:buNone/>
            </a:pPr>
            <a:r>
              <a:rPr lang="es-419" sz="1600" noProof="0" dirty="0">
                <a:solidFill>
                  <a:srgbClr val="666666"/>
                </a:solidFill>
                <a:latin typeface="Calibri" pitchFamily="34" charset="0"/>
                <a:ea typeface="Calibri" pitchFamily="34" charset="-122"/>
                <a:cs typeface="Calibri" pitchFamily="34" charset="-120"/>
              </a:rPr>
              <a:t>40 minutos sostenidos bajo pico extremo</a:t>
            </a:r>
            <a:endParaRPr lang="es-419" sz="1600" noProof="0" dirty="0"/>
          </a:p>
        </p:txBody>
      </p:sp>
      <p:sp>
        <p:nvSpPr>
          <p:cNvPr id="4" name="Text 2"/>
          <p:cNvSpPr/>
          <p:nvPr/>
        </p:nvSpPr>
        <p:spPr>
          <a:xfrm>
            <a:off x="731520" y="1874520"/>
            <a:ext cx="2377440" cy="822960"/>
          </a:xfrm>
          <a:prstGeom prst="rect">
            <a:avLst/>
          </a:prstGeom>
          <a:noFill/>
          <a:ln/>
        </p:spPr>
        <p:txBody>
          <a:bodyPr wrap="square" rtlCol="0" anchor="ctr"/>
          <a:lstStyle/>
          <a:p>
            <a:pPr marL="0" indent="0">
              <a:buNone/>
            </a:pPr>
            <a:r>
              <a:rPr lang="es-419" sz="4400" b="1" noProof="0" dirty="0">
                <a:solidFill>
                  <a:srgbClr val="0A4A7F"/>
                </a:solidFill>
                <a:latin typeface="Calibri" pitchFamily="34" charset="0"/>
                <a:ea typeface="Calibri" pitchFamily="34" charset="-122"/>
                <a:cs typeface="Calibri" pitchFamily="34" charset="-120"/>
              </a:rPr>
              <a:t>14.82 ms</a:t>
            </a:r>
            <a:endParaRPr lang="es-419" sz="4400" noProof="0" dirty="0"/>
          </a:p>
        </p:txBody>
      </p:sp>
      <p:sp>
        <p:nvSpPr>
          <p:cNvPr id="5" name="Text 3"/>
          <p:cNvSpPr/>
          <p:nvPr/>
        </p:nvSpPr>
        <p:spPr>
          <a:xfrm>
            <a:off x="731520" y="2709567"/>
            <a:ext cx="2377440" cy="274320"/>
          </a:xfrm>
          <a:prstGeom prst="rect">
            <a:avLst/>
          </a:prstGeom>
          <a:noFill/>
          <a:ln/>
        </p:spPr>
        <p:txBody>
          <a:bodyPr wrap="square" rtlCol="0" anchor="ctr"/>
          <a:lstStyle/>
          <a:p>
            <a:pPr marL="0" indent="0">
              <a:buNone/>
            </a:pPr>
            <a:r>
              <a:rPr lang="es-419" sz="1400" b="1" noProof="0" dirty="0">
                <a:solidFill>
                  <a:srgbClr val="666666"/>
                </a:solidFill>
                <a:latin typeface="Calibri" pitchFamily="34" charset="0"/>
                <a:ea typeface="Calibri" pitchFamily="34" charset="-122"/>
                <a:cs typeface="Calibri" pitchFamily="34" charset="-120"/>
              </a:rPr>
              <a:t>p95</a:t>
            </a:r>
            <a:endParaRPr lang="es-419" sz="1400" noProof="0" dirty="0"/>
          </a:p>
        </p:txBody>
      </p:sp>
      <p:sp>
        <p:nvSpPr>
          <p:cNvPr id="6" name="Shape 4"/>
          <p:cNvSpPr/>
          <p:nvPr/>
        </p:nvSpPr>
        <p:spPr>
          <a:xfrm>
            <a:off x="731520" y="3088360"/>
            <a:ext cx="1371600" cy="365760"/>
          </a:xfrm>
          <a:prstGeom prst="roundRect">
            <a:avLst/>
          </a:prstGeom>
          <a:solidFill>
            <a:srgbClr val="27AE60"/>
          </a:solidFill>
          <a:ln/>
        </p:spPr>
        <p:txBody>
          <a:bodyPr/>
          <a:lstStyle/>
          <a:p>
            <a:endParaRPr lang="es-419" noProof="0" dirty="0"/>
          </a:p>
        </p:txBody>
      </p:sp>
      <p:sp>
        <p:nvSpPr>
          <p:cNvPr id="7" name="Text 5"/>
          <p:cNvSpPr/>
          <p:nvPr/>
        </p:nvSpPr>
        <p:spPr>
          <a:xfrm>
            <a:off x="731520" y="3088360"/>
            <a:ext cx="1371600" cy="365760"/>
          </a:xfrm>
          <a:prstGeom prst="rect">
            <a:avLst/>
          </a:prstGeom>
          <a:noFill/>
          <a:ln/>
        </p:spPr>
        <p:txBody>
          <a:bodyPr wrap="square" rtlCol="0" anchor="ctr"/>
          <a:lstStyle/>
          <a:p>
            <a:pPr marL="0" indent="0" algn="ctr">
              <a:buNone/>
            </a:pPr>
            <a:r>
              <a:rPr lang="es-419" sz="1300" b="1" noProof="0" dirty="0">
                <a:solidFill>
                  <a:srgbClr val="FFFFFF"/>
                </a:solidFill>
                <a:latin typeface="Calibri" pitchFamily="34" charset="0"/>
                <a:ea typeface="Calibri" pitchFamily="34" charset="-122"/>
                <a:cs typeface="Calibri" pitchFamily="34" charset="-120"/>
              </a:rPr>
              <a:t>✓ CUMPLE</a:t>
            </a:r>
            <a:endParaRPr lang="es-419" sz="1300" noProof="0" dirty="0"/>
          </a:p>
        </p:txBody>
      </p:sp>
      <p:sp>
        <p:nvSpPr>
          <p:cNvPr id="8" name="Shape 6"/>
          <p:cNvSpPr/>
          <p:nvPr/>
        </p:nvSpPr>
        <p:spPr>
          <a:xfrm>
            <a:off x="3383280" y="1853920"/>
            <a:ext cx="5303520" cy="1508760"/>
          </a:xfrm>
          <a:prstGeom prst="roundRect">
            <a:avLst/>
          </a:prstGeom>
          <a:solidFill>
            <a:srgbClr val="F8F9FA"/>
          </a:solidFill>
          <a:ln/>
        </p:spPr>
        <p:txBody>
          <a:bodyPr/>
          <a:lstStyle/>
          <a:p>
            <a:endParaRPr lang="es-419" noProof="0" dirty="0"/>
          </a:p>
        </p:txBody>
      </p:sp>
      <p:sp>
        <p:nvSpPr>
          <p:cNvPr id="9" name="Text 7"/>
          <p:cNvSpPr/>
          <p:nvPr/>
        </p:nvSpPr>
        <p:spPr>
          <a:xfrm>
            <a:off x="3566160" y="2036800"/>
            <a:ext cx="2103120" cy="237744"/>
          </a:xfrm>
          <a:prstGeom prst="rect">
            <a:avLst/>
          </a:prstGeom>
          <a:noFill/>
          <a:ln/>
        </p:spPr>
        <p:txBody>
          <a:bodyPr wrap="square" rtlCol="0" anchor="ctr"/>
          <a:lstStyle/>
          <a:p>
            <a:pPr marL="0" indent="0">
              <a:buNone/>
            </a:pPr>
            <a:r>
              <a:rPr lang="es-419" sz="1000" b="1" noProof="0" dirty="0">
                <a:solidFill>
                  <a:srgbClr val="666666"/>
                </a:solidFill>
                <a:latin typeface="Calibri" pitchFamily="34" charset="0"/>
                <a:ea typeface="Calibri" pitchFamily="34" charset="-122"/>
                <a:cs typeface="Calibri" pitchFamily="34" charset="-120"/>
              </a:rPr>
              <a:t>Volumen:</a:t>
            </a:r>
            <a:endParaRPr lang="es-419" sz="1000" noProof="0" dirty="0"/>
          </a:p>
        </p:txBody>
      </p:sp>
      <p:sp>
        <p:nvSpPr>
          <p:cNvPr id="10" name="Text 8"/>
          <p:cNvSpPr/>
          <p:nvPr/>
        </p:nvSpPr>
        <p:spPr>
          <a:xfrm>
            <a:off x="5852160" y="2036800"/>
            <a:ext cx="2743200" cy="237744"/>
          </a:xfrm>
          <a:prstGeom prst="rect">
            <a:avLst/>
          </a:prstGeom>
          <a:noFill/>
          <a:ln/>
        </p:spPr>
        <p:txBody>
          <a:bodyPr wrap="square" rtlCol="0" anchor="ctr"/>
          <a:lstStyle/>
          <a:p>
            <a:pPr marL="0" indent="0">
              <a:buNone/>
            </a:pPr>
            <a:r>
              <a:rPr lang="es-419" sz="1000" b="1" noProof="0" dirty="0">
                <a:solidFill>
                  <a:srgbClr val="0A4A7F"/>
                </a:solidFill>
                <a:latin typeface="Calibri" pitchFamily="34" charset="0"/>
                <a:ea typeface="Calibri" pitchFamily="34" charset="-122"/>
                <a:cs typeface="Calibri" pitchFamily="34" charset="-120"/>
              </a:rPr>
              <a:t>~8.3K órdenes/min (+6x)</a:t>
            </a:r>
            <a:endParaRPr lang="es-419" sz="1000" noProof="0" dirty="0"/>
          </a:p>
        </p:txBody>
      </p:sp>
      <p:sp>
        <p:nvSpPr>
          <p:cNvPr id="11" name="Text 9"/>
          <p:cNvSpPr/>
          <p:nvPr/>
        </p:nvSpPr>
        <p:spPr>
          <a:xfrm>
            <a:off x="3566160" y="2283688"/>
            <a:ext cx="2103120" cy="237744"/>
          </a:xfrm>
          <a:prstGeom prst="rect">
            <a:avLst/>
          </a:prstGeom>
          <a:noFill/>
          <a:ln/>
        </p:spPr>
        <p:txBody>
          <a:bodyPr wrap="square" rtlCol="0" anchor="ctr"/>
          <a:lstStyle/>
          <a:p>
            <a:pPr marL="0" indent="0">
              <a:buNone/>
            </a:pPr>
            <a:r>
              <a:rPr lang="es-419" sz="1000" b="1" noProof="0" dirty="0">
                <a:solidFill>
                  <a:srgbClr val="666666"/>
                </a:solidFill>
                <a:latin typeface="Calibri" pitchFamily="34" charset="0"/>
                <a:ea typeface="Calibri" pitchFamily="34" charset="-122"/>
                <a:cs typeface="Calibri" pitchFamily="34" charset="-120"/>
              </a:rPr>
              <a:t>Muestras Fase 2:</a:t>
            </a:r>
            <a:endParaRPr lang="es-419" sz="1000" noProof="0" dirty="0"/>
          </a:p>
        </p:txBody>
      </p:sp>
      <p:sp>
        <p:nvSpPr>
          <p:cNvPr id="12" name="Text 10"/>
          <p:cNvSpPr/>
          <p:nvPr/>
        </p:nvSpPr>
        <p:spPr>
          <a:xfrm>
            <a:off x="5852160" y="2283688"/>
            <a:ext cx="2743200" cy="237744"/>
          </a:xfrm>
          <a:prstGeom prst="rect">
            <a:avLst/>
          </a:prstGeom>
          <a:noFill/>
          <a:ln/>
        </p:spPr>
        <p:txBody>
          <a:bodyPr wrap="square" rtlCol="0" anchor="ctr"/>
          <a:lstStyle/>
          <a:p>
            <a:pPr marL="0" indent="0">
              <a:buNone/>
            </a:pPr>
            <a:r>
              <a:rPr lang="es-419" sz="1000" b="1" noProof="0" dirty="0">
                <a:solidFill>
                  <a:srgbClr val="0A4A7F"/>
                </a:solidFill>
                <a:latin typeface="Calibri" pitchFamily="34" charset="0"/>
                <a:ea typeface="Calibri" pitchFamily="34" charset="-122"/>
                <a:cs typeface="Calibri" pitchFamily="34" charset="-120"/>
              </a:rPr>
              <a:t>255,708</a:t>
            </a:r>
            <a:endParaRPr lang="es-419" sz="1000" noProof="0" dirty="0"/>
          </a:p>
        </p:txBody>
      </p:sp>
      <p:sp>
        <p:nvSpPr>
          <p:cNvPr id="13" name="Text 11"/>
          <p:cNvSpPr/>
          <p:nvPr/>
        </p:nvSpPr>
        <p:spPr>
          <a:xfrm>
            <a:off x="3566160" y="2530576"/>
            <a:ext cx="2103120" cy="237744"/>
          </a:xfrm>
          <a:prstGeom prst="rect">
            <a:avLst/>
          </a:prstGeom>
          <a:noFill/>
          <a:ln/>
        </p:spPr>
        <p:txBody>
          <a:bodyPr wrap="square" rtlCol="0" anchor="ctr"/>
          <a:lstStyle/>
          <a:p>
            <a:pPr marL="0" indent="0">
              <a:buNone/>
            </a:pPr>
            <a:r>
              <a:rPr lang="es-419" sz="1000" b="1" noProof="0" dirty="0" err="1">
                <a:solidFill>
                  <a:srgbClr val="666666"/>
                </a:solidFill>
                <a:latin typeface="Calibri" pitchFamily="34" charset="0"/>
                <a:ea typeface="Calibri" pitchFamily="34" charset="-122"/>
                <a:cs typeface="Calibri" pitchFamily="34" charset="-120"/>
              </a:rPr>
              <a:t>Matches</a:t>
            </a:r>
            <a:r>
              <a:rPr lang="es-419" sz="1000" b="1" noProof="0" dirty="0">
                <a:solidFill>
                  <a:srgbClr val="666666"/>
                </a:solidFill>
                <a:latin typeface="Calibri" pitchFamily="34" charset="0"/>
                <a:ea typeface="Calibri" pitchFamily="34" charset="-122"/>
                <a:cs typeface="Calibri" pitchFamily="34" charset="-120"/>
              </a:rPr>
              <a:t>/min:</a:t>
            </a:r>
            <a:endParaRPr lang="es-419" sz="1000" noProof="0" dirty="0"/>
          </a:p>
        </p:txBody>
      </p:sp>
      <p:sp>
        <p:nvSpPr>
          <p:cNvPr id="14" name="Text 12"/>
          <p:cNvSpPr/>
          <p:nvPr/>
        </p:nvSpPr>
        <p:spPr>
          <a:xfrm>
            <a:off x="5852160" y="2530576"/>
            <a:ext cx="2743200" cy="237744"/>
          </a:xfrm>
          <a:prstGeom prst="rect">
            <a:avLst/>
          </a:prstGeom>
          <a:noFill/>
          <a:ln/>
        </p:spPr>
        <p:txBody>
          <a:bodyPr wrap="square" rtlCol="0" anchor="ctr"/>
          <a:lstStyle/>
          <a:p>
            <a:pPr marL="0" indent="0">
              <a:buNone/>
            </a:pPr>
            <a:r>
              <a:rPr lang="es-419" sz="1000" b="1" noProof="0" dirty="0">
                <a:solidFill>
                  <a:srgbClr val="0A4A7F"/>
                </a:solidFill>
                <a:latin typeface="Calibri" pitchFamily="34" charset="0"/>
                <a:ea typeface="Calibri" pitchFamily="34" charset="-122"/>
                <a:cs typeface="Calibri" pitchFamily="34" charset="-120"/>
              </a:rPr>
              <a:t>~4,260</a:t>
            </a:r>
            <a:endParaRPr lang="es-419" sz="1000" noProof="0" dirty="0"/>
          </a:p>
        </p:txBody>
      </p:sp>
      <p:sp>
        <p:nvSpPr>
          <p:cNvPr id="15" name="Text 13"/>
          <p:cNvSpPr/>
          <p:nvPr/>
        </p:nvSpPr>
        <p:spPr>
          <a:xfrm>
            <a:off x="3566160" y="2777464"/>
            <a:ext cx="2103120" cy="237744"/>
          </a:xfrm>
          <a:prstGeom prst="rect">
            <a:avLst/>
          </a:prstGeom>
          <a:noFill/>
          <a:ln/>
        </p:spPr>
        <p:txBody>
          <a:bodyPr wrap="square" rtlCol="0" anchor="ctr"/>
          <a:lstStyle/>
          <a:p>
            <a:pPr marL="0" indent="0">
              <a:buNone/>
            </a:pPr>
            <a:r>
              <a:rPr lang="es-419" sz="1000" b="1" noProof="0" dirty="0">
                <a:solidFill>
                  <a:srgbClr val="666666"/>
                </a:solidFill>
                <a:latin typeface="Calibri" pitchFamily="34" charset="0"/>
                <a:ea typeface="Calibri" pitchFamily="34" charset="-122"/>
                <a:cs typeface="Calibri" pitchFamily="34" charset="-120"/>
              </a:rPr>
              <a:t>Core p95:</a:t>
            </a:r>
            <a:endParaRPr lang="es-419" sz="1000" noProof="0" dirty="0"/>
          </a:p>
        </p:txBody>
      </p:sp>
      <p:sp>
        <p:nvSpPr>
          <p:cNvPr id="16" name="Text 14"/>
          <p:cNvSpPr/>
          <p:nvPr/>
        </p:nvSpPr>
        <p:spPr>
          <a:xfrm>
            <a:off x="5852160" y="2777464"/>
            <a:ext cx="2743200" cy="237744"/>
          </a:xfrm>
          <a:prstGeom prst="rect">
            <a:avLst/>
          </a:prstGeom>
          <a:noFill/>
          <a:ln/>
        </p:spPr>
        <p:txBody>
          <a:bodyPr wrap="square" rtlCol="0" anchor="ctr"/>
          <a:lstStyle/>
          <a:p>
            <a:pPr marL="0" indent="0">
              <a:buNone/>
            </a:pPr>
            <a:r>
              <a:rPr lang="es-419" sz="1000" b="1" noProof="0" dirty="0">
                <a:solidFill>
                  <a:srgbClr val="0A4A7F"/>
                </a:solidFill>
                <a:latin typeface="Calibri" pitchFamily="34" charset="0"/>
                <a:ea typeface="Calibri" pitchFamily="34" charset="-122"/>
                <a:cs typeface="Calibri" pitchFamily="34" charset="-120"/>
              </a:rPr>
              <a:t>0.035ms (mejoró)</a:t>
            </a:r>
            <a:endParaRPr lang="es-419" sz="1000" noProof="0" dirty="0"/>
          </a:p>
        </p:txBody>
      </p:sp>
      <p:sp>
        <p:nvSpPr>
          <p:cNvPr id="17" name="Text 15"/>
          <p:cNvSpPr/>
          <p:nvPr/>
        </p:nvSpPr>
        <p:spPr>
          <a:xfrm>
            <a:off x="3566160" y="3024352"/>
            <a:ext cx="2103120" cy="237744"/>
          </a:xfrm>
          <a:prstGeom prst="rect">
            <a:avLst/>
          </a:prstGeom>
          <a:noFill/>
          <a:ln/>
        </p:spPr>
        <p:txBody>
          <a:bodyPr wrap="square" rtlCol="0" anchor="ctr"/>
          <a:lstStyle/>
          <a:p>
            <a:pPr marL="0" indent="0">
              <a:buNone/>
            </a:pPr>
            <a:r>
              <a:rPr lang="es-419" sz="1000" b="1" noProof="0" dirty="0">
                <a:solidFill>
                  <a:srgbClr val="666666"/>
                </a:solidFill>
                <a:latin typeface="Calibri" pitchFamily="34" charset="0"/>
                <a:ea typeface="Calibri" pitchFamily="34" charset="-122"/>
                <a:cs typeface="Calibri" pitchFamily="34" charset="-120"/>
              </a:rPr>
              <a:t>P50 / P99:</a:t>
            </a:r>
            <a:endParaRPr lang="es-419" sz="1000" noProof="0" dirty="0"/>
          </a:p>
        </p:txBody>
      </p:sp>
      <p:sp>
        <p:nvSpPr>
          <p:cNvPr id="18" name="Text 16"/>
          <p:cNvSpPr/>
          <p:nvPr/>
        </p:nvSpPr>
        <p:spPr>
          <a:xfrm>
            <a:off x="5852160" y="3024352"/>
            <a:ext cx="2743200" cy="237744"/>
          </a:xfrm>
          <a:prstGeom prst="rect">
            <a:avLst/>
          </a:prstGeom>
          <a:noFill/>
          <a:ln/>
        </p:spPr>
        <p:txBody>
          <a:bodyPr wrap="square" rtlCol="0" anchor="ctr"/>
          <a:lstStyle/>
          <a:p>
            <a:pPr marL="0" indent="0">
              <a:buNone/>
            </a:pPr>
            <a:r>
              <a:rPr lang="es-419" sz="1000" b="1" noProof="0" dirty="0">
                <a:solidFill>
                  <a:srgbClr val="0A4A7F"/>
                </a:solidFill>
                <a:latin typeface="Calibri" pitchFamily="34" charset="0"/>
                <a:ea typeface="Calibri" pitchFamily="34" charset="-122"/>
                <a:cs typeface="Calibri" pitchFamily="34" charset="-120"/>
              </a:rPr>
              <a:t>5.62ms / 25.18ms</a:t>
            </a:r>
            <a:endParaRPr lang="es-419" sz="1000" noProof="0" dirty="0"/>
          </a:p>
        </p:txBody>
      </p:sp>
      <p:sp>
        <p:nvSpPr>
          <p:cNvPr id="19" name="Shape 17"/>
          <p:cNvSpPr/>
          <p:nvPr/>
        </p:nvSpPr>
        <p:spPr>
          <a:xfrm>
            <a:off x="457200" y="3728440"/>
            <a:ext cx="8229600" cy="1072160"/>
          </a:xfrm>
          <a:prstGeom prst="roundRect">
            <a:avLst/>
          </a:prstGeom>
          <a:solidFill>
            <a:srgbClr val="E8F1F7"/>
          </a:solidFill>
          <a:ln/>
        </p:spPr>
        <p:txBody>
          <a:bodyPr/>
          <a:lstStyle/>
          <a:p>
            <a:endParaRPr lang="es-419" noProof="0" dirty="0"/>
          </a:p>
        </p:txBody>
      </p:sp>
      <p:sp>
        <p:nvSpPr>
          <p:cNvPr id="20" name="Text 18"/>
          <p:cNvSpPr/>
          <p:nvPr/>
        </p:nvSpPr>
        <p:spPr>
          <a:xfrm>
            <a:off x="640080" y="3728440"/>
            <a:ext cx="7863840" cy="274320"/>
          </a:xfrm>
          <a:prstGeom prst="rect">
            <a:avLst/>
          </a:prstGeom>
          <a:noFill/>
          <a:ln/>
        </p:spPr>
        <p:txBody>
          <a:bodyPr wrap="square" rtlCol="0" anchor="ctr"/>
          <a:lstStyle/>
          <a:p>
            <a:pPr marL="0" indent="0">
              <a:buNone/>
            </a:pPr>
            <a:r>
              <a:rPr lang="es-419" sz="1300" b="1" noProof="0" dirty="0">
                <a:solidFill>
                  <a:srgbClr val="0A4A7F"/>
                </a:solidFill>
                <a:latin typeface="Calibri" pitchFamily="34" charset="0"/>
                <a:ea typeface="Calibri" pitchFamily="34" charset="-122"/>
                <a:cs typeface="Calibri" pitchFamily="34" charset="-120"/>
              </a:rPr>
              <a:t>🎯 Hipótesis de Escalabilidad Validada:</a:t>
            </a:r>
            <a:endParaRPr lang="es-419" sz="1300" noProof="0" dirty="0"/>
          </a:p>
        </p:txBody>
      </p:sp>
      <p:sp>
        <p:nvSpPr>
          <p:cNvPr id="21" name="Text 19"/>
          <p:cNvSpPr/>
          <p:nvPr/>
        </p:nvSpPr>
        <p:spPr>
          <a:xfrm>
            <a:off x="640080" y="4005072"/>
            <a:ext cx="7863840" cy="704088"/>
          </a:xfrm>
          <a:prstGeom prst="rect">
            <a:avLst/>
          </a:prstGeom>
          <a:noFill/>
          <a:ln/>
        </p:spPr>
        <p:txBody>
          <a:bodyPr wrap="square" rtlCol="0" anchor="ctr"/>
          <a:lstStyle/>
          <a:p>
            <a:pPr marL="0" indent="0">
              <a:buNone/>
            </a:pPr>
            <a:r>
              <a:rPr lang="es-419" sz="1100" noProof="0" dirty="0">
                <a:solidFill>
                  <a:srgbClr val="1A1A1A"/>
                </a:solidFill>
                <a:latin typeface="Calibri" pitchFamily="34" charset="0"/>
                <a:ea typeface="Calibri" pitchFamily="34" charset="-122"/>
                <a:cs typeface="Calibri" pitchFamily="34" charset="-120"/>
              </a:rPr>
              <a:t>La cola asíncrona desacopla la velocidad de ingesta de la capacidad del motor. Bajo 6x más volumen de órdenes (~1,421 a 8,291/min), el core_p95 NO se degradó — mejoró (0.048ms → 0.035ms). Si el diseño no funcionara, el core_p95 se hubiera disparado bajo pico. Aquí permanece bajo, lo que prueba que el desacoplamiento real mente está funcionando.</a:t>
            </a:r>
            <a:endParaRPr lang="es-419" sz="110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s-419" sz="4000" b="1" noProof="0" dirty="0" err="1">
                <a:solidFill>
                  <a:srgbClr val="0A4A7F"/>
                </a:solidFill>
                <a:latin typeface="Calibri" pitchFamily="34" charset="0"/>
                <a:ea typeface="Calibri" pitchFamily="34" charset="-122"/>
                <a:cs typeface="Calibri" pitchFamily="34" charset="-120"/>
              </a:rPr>
              <a:t>RabbitMQ</a:t>
            </a:r>
            <a:r>
              <a:rPr lang="es-419" sz="4000" b="1" noProof="0" dirty="0">
                <a:solidFill>
                  <a:srgbClr val="0A4A7F"/>
                </a:solidFill>
                <a:latin typeface="Calibri" pitchFamily="34" charset="0"/>
                <a:ea typeface="Calibri" pitchFamily="34" charset="-122"/>
                <a:cs typeface="Calibri" pitchFamily="34" charset="-120"/>
              </a:rPr>
              <a:t> - Diagnóstico del Sistema</a:t>
            </a:r>
            <a:endParaRPr lang="es-419" sz="4000" noProof="0" dirty="0"/>
          </a:p>
        </p:txBody>
      </p:sp>
      <p:sp>
        <p:nvSpPr>
          <p:cNvPr id="3" name="Text 1"/>
          <p:cNvSpPr/>
          <p:nvPr/>
        </p:nvSpPr>
        <p:spPr>
          <a:xfrm>
            <a:off x="457200" y="960120"/>
            <a:ext cx="8229600" cy="320040"/>
          </a:xfrm>
          <a:prstGeom prst="rect">
            <a:avLst/>
          </a:prstGeom>
          <a:noFill/>
          <a:ln/>
        </p:spPr>
        <p:txBody>
          <a:bodyPr wrap="square" rtlCol="0" anchor="ctr"/>
          <a:lstStyle/>
          <a:p>
            <a:pPr marL="0" indent="0">
              <a:buNone/>
            </a:pPr>
            <a:r>
              <a:rPr lang="es-419" sz="1500" noProof="0" dirty="0">
                <a:solidFill>
                  <a:srgbClr val="666666"/>
                </a:solidFill>
                <a:latin typeface="Calibri" pitchFamily="34" charset="0"/>
                <a:ea typeface="Calibri" pitchFamily="34" charset="-122"/>
                <a:cs typeface="Calibri" pitchFamily="34" charset="-120"/>
              </a:rPr>
              <a:t>Panel de métricas - últimos 10 minutos</a:t>
            </a:r>
            <a:endParaRPr lang="es-419" sz="1500" noProof="0" dirty="0"/>
          </a:p>
        </p:txBody>
      </p:sp>
      <p:sp>
        <p:nvSpPr>
          <p:cNvPr id="4" name="Shape 2"/>
          <p:cNvSpPr/>
          <p:nvPr/>
        </p:nvSpPr>
        <p:spPr>
          <a:xfrm>
            <a:off x="457200" y="1371600"/>
            <a:ext cx="4023360" cy="3108960"/>
          </a:xfrm>
          <a:prstGeom prst="roundRect">
            <a:avLst/>
          </a:prstGeom>
          <a:solidFill>
            <a:srgbClr val="F8F9FA"/>
          </a:solidFill>
          <a:ln/>
        </p:spPr>
        <p:txBody>
          <a:bodyPr/>
          <a:lstStyle/>
          <a:p>
            <a:endParaRPr lang="es-419" noProof="0" dirty="0"/>
          </a:p>
        </p:txBody>
      </p:sp>
      <p:sp>
        <p:nvSpPr>
          <p:cNvPr id="5" name="Text 3"/>
          <p:cNvSpPr/>
          <p:nvPr/>
        </p:nvSpPr>
        <p:spPr>
          <a:xfrm>
            <a:off x="640080" y="1508760"/>
            <a:ext cx="3657600" cy="274320"/>
          </a:xfrm>
          <a:prstGeom prst="rect">
            <a:avLst/>
          </a:prstGeom>
          <a:noFill/>
          <a:ln/>
        </p:spPr>
        <p:txBody>
          <a:bodyPr wrap="square" rtlCol="0" anchor="ctr"/>
          <a:lstStyle/>
          <a:p>
            <a:pPr marL="0" indent="0">
              <a:buNone/>
            </a:pPr>
            <a:r>
              <a:rPr lang="es-419" sz="1300" b="1" noProof="0" dirty="0">
                <a:solidFill>
                  <a:srgbClr val="0A4A7F"/>
                </a:solidFill>
                <a:latin typeface="Calibri" pitchFamily="34" charset="0"/>
                <a:ea typeface="Calibri" pitchFamily="34" charset="-122"/>
                <a:cs typeface="Calibri" pitchFamily="34" charset="-120"/>
              </a:rPr>
              <a:t>Mensajes en Cola</a:t>
            </a:r>
            <a:endParaRPr lang="es-419" sz="1300" noProof="0" dirty="0"/>
          </a:p>
        </p:txBody>
      </p:sp>
      <p:sp>
        <p:nvSpPr>
          <p:cNvPr id="6" name="Text 4"/>
          <p:cNvSpPr/>
          <p:nvPr/>
        </p:nvSpPr>
        <p:spPr>
          <a:xfrm>
            <a:off x="640080" y="1920240"/>
            <a:ext cx="3657600" cy="640080"/>
          </a:xfrm>
          <a:prstGeom prst="rect">
            <a:avLst/>
          </a:prstGeom>
          <a:noFill/>
          <a:ln/>
        </p:spPr>
        <p:txBody>
          <a:bodyPr wrap="square" rtlCol="0" anchor="ctr"/>
          <a:lstStyle/>
          <a:p>
            <a:pPr marL="0" indent="0">
              <a:buNone/>
            </a:pPr>
            <a:r>
              <a:rPr lang="es-419" sz="4400" b="1" noProof="0" dirty="0">
                <a:solidFill>
                  <a:srgbClr val="27AE60"/>
                </a:solidFill>
                <a:latin typeface="Calibri" pitchFamily="34" charset="0"/>
                <a:ea typeface="Calibri" pitchFamily="34" charset="-122"/>
                <a:cs typeface="Calibri" pitchFamily="34" charset="-120"/>
              </a:rPr>
              <a:t>0-4</a:t>
            </a:r>
            <a:endParaRPr lang="es-419" sz="4400" noProof="0" dirty="0"/>
          </a:p>
        </p:txBody>
      </p:sp>
      <p:sp>
        <p:nvSpPr>
          <p:cNvPr id="7" name="Text 5"/>
          <p:cNvSpPr/>
          <p:nvPr/>
        </p:nvSpPr>
        <p:spPr>
          <a:xfrm>
            <a:off x="640080" y="2514600"/>
            <a:ext cx="3657600" cy="274320"/>
          </a:xfrm>
          <a:prstGeom prst="rect">
            <a:avLst/>
          </a:prstGeom>
          <a:noFill/>
          <a:ln/>
        </p:spPr>
        <p:txBody>
          <a:bodyPr wrap="square" rtlCol="0" anchor="ctr"/>
          <a:lstStyle/>
          <a:p>
            <a:pPr marL="0" indent="0">
              <a:buNone/>
            </a:pPr>
            <a:r>
              <a:rPr lang="es-419" sz="1200" noProof="0" dirty="0">
                <a:solidFill>
                  <a:srgbClr val="666666"/>
                </a:solidFill>
                <a:latin typeface="Calibri" pitchFamily="34" charset="0"/>
                <a:ea typeface="Calibri" pitchFamily="34" charset="-122"/>
                <a:cs typeface="Calibri" pitchFamily="34" charset="-120"/>
              </a:rPr>
              <a:t>fluctuante</a:t>
            </a:r>
            <a:endParaRPr lang="es-419" sz="1200" noProof="0" dirty="0"/>
          </a:p>
        </p:txBody>
      </p:sp>
      <p:sp>
        <p:nvSpPr>
          <p:cNvPr id="8" name="Text 6"/>
          <p:cNvSpPr/>
          <p:nvPr/>
        </p:nvSpPr>
        <p:spPr>
          <a:xfrm>
            <a:off x="640080" y="2880360"/>
            <a:ext cx="3657600" cy="1463040"/>
          </a:xfrm>
          <a:prstGeom prst="rect">
            <a:avLst/>
          </a:prstGeom>
          <a:noFill/>
          <a:ln/>
        </p:spPr>
        <p:txBody>
          <a:bodyPr wrap="square" rtlCol="0" anchor="ctr"/>
          <a:lstStyle/>
          <a:p>
            <a:pPr marL="0" indent="0">
              <a:buNone/>
            </a:pPr>
            <a:r>
              <a:rPr lang="es-419" sz="1100" noProof="0" dirty="0">
                <a:solidFill>
                  <a:srgbClr val="1A1A1A"/>
                </a:solidFill>
                <a:latin typeface="Calibri" pitchFamily="34" charset="0"/>
                <a:ea typeface="Calibri" pitchFamily="34" charset="-122"/>
                <a:cs typeface="Calibri" pitchFamily="34" charset="-120"/>
              </a:rPr>
              <a:t>✓ Sin encolamiento</a:t>
            </a:r>
            <a:endParaRPr lang="es-419" sz="1100" noProof="0" dirty="0"/>
          </a:p>
          <a:p>
            <a:pPr marL="0" indent="0">
              <a:buNone/>
            </a:pPr>
            <a:r>
              <a:rPr lang="es-419" sz="1100" noProof="0" dirty="0">
                <a:solidFill>
                  <a:srgbClr val="1A1A1A"/>
                </a:solidFill>
                <a:latin typeface="Calibri" pitchFamily="34" charset="0"/>
                <a:ea typeface="Calibri" pitchFamily="34" charset="-122"/>
                <a:cs typeface="Calibri" pitchFamily="34" charset="-120"/>
              </a:rPr>
              <a:t>✓ Procesados instante</a:t>
            </a:r>
            <a:endParaRPr lang="es-419" sz="1100" noProof="0" dirty="0"/>
          </a:p>
          <a:p>
            <a:pPr marL="0" indent="0">
              <a:buNone/>
            </a:pPr>
            <a:r>
              <a:rPr lang="es-419" sz="1100" noProof="0" dirty="0">
                <a:solidFill>
                  <a:srgbClr val="1A1A1A"/>
                </a:solidFill>
                <a:latin typeface="Calibri" pitchFamily="34" charset="0"/>
                <a:ea typeface="Calibri" pitchFamily="34" charset="-122"/>
                <a:cs typeface="Calibri" pitchFamily="34" charset="-120"/>
              </a:rPr>
              <a:t>✓ Flujo sin acumulación</a:t>
            </a:r>
            <a:endParaRPr lang="es-419" sz="1100" noProof="0" dirty="0"/>
          </a:p>
          <a:p>
            <a:pPr marL="0" indent="0">
              <a:buNone/>
            </a:pPr>
            <a:r>
              <a:rPr lang="es-419" sz="1100" noProof="0" dirty="0">
                <a:solidFill>
                  <a:srgbClr val="1A1A1A"/>
                </a:solidFill>
                <a:latin typeface="Calibri" pitchFamily="34" charset="0"/>
                <a:ea typeface="Calibri" pitchFamily="34" charset="-122"/>
                <a:cs typeface="Calibri" pitchFamily="34" charset="-120"/>
              </a:rPr>
              <a:t>✓ Sin cuellos botella</a:t>
            </a:r>
            <a:endParaRPr lang="es-419" sz="1100" noProof="0" dirty="0"/>
          </a:p>
        </p:txBody>
      </p:sp>
      <p:sp>
        <p:nvSpPr>
          <p:cNvPr id="9" name="Shape 7"/>
          <p:cNvSpPr/>
          <p:nvPr/>
        </p:nvSpPr>
        <p:spPr>
          <a:xfrm>
            <a:off x="4846320" y="1371600"/>
            <a:ext cx="4023360" cy="3108960"/>
          </a:xfrm>
          <a:prstGeom prst="roundRect">
            <a:avLst/>
          </a:prstGeom>
          <a:solidFill>
            <a:srgbClr val="FFF3E0"/>
          </a:solidFill>
          <a:ln/>
        </p:spPr>
        <p:txBody>
          <a:bodyPr/>
          <a:lstStyle/>
          <a:p>
            <a:endParaRPr lang="es-419" noProof="0" dirty="0"/>
          </a:p>
        </p:txBody>
      </p:sp>
      <p:sp>
        <p:nvSpPr>
          <p:cNvPr id="10" name="Text 8"/>
          <p:cNvSpPr/>
          <p:nvPr/>
        </p:nvSpPr>
        <p:spPr>
          <a:xfrm>
            <a:off x="5029200" y="1508760"/>
            <a:ext cx="3657600" cy="274320"/>
          </a:xfrm>
          <a:prstGeom prst="rect">
            <a:avLst/>
          </a:prstGeom>
          <a:noFill/>
          <a:ln/>
        </p:spPr>
        <p:txBody>
          <a:bodyPr wrap="square" rtlCol="0" anchor="ctr"/>
          <a:lstStyle/>
          <a:p>
            <a:pPr marL="0" indent="0">
              <a:buNone/>
            </a:pPr>
            <a:r>
              <a:rPr lang="es-419" sz="1300" b="1" noProof="0" dirty="0">
                <a:solidFill>
                  <a:srgbClr val="E67E22"/>
                </a:solidFill>
                <a:latin typeface="Calibri" pitchFamily="34" charset="0"/>
                <a:ea typeface="Calibri" pitchFamily="34" charset="-122"/>
                <a:cs typeface="Calibri" pitchFamily="34" charset="-120"/>
              </a:rPr>
              <a:t>Tasa de Mensajes</a:t>
            </a:r>
            <a:endParaRPr lang="es-419" sz="1300" noProof="0" dirty="0"/>
          </a:p>
        </p:txBody>
      </p:sp>
      <p:sp>
        <p:nvSpPr>
          <p:cNvPr id="11" name="Text 9"/>
          <p:cNvSpPr/>
          <p:nvPr/>
        </p:nvSpPr>
        <p:spPr>
          <a:xfrm>
            <a:off x="5029200" y="1920240"/>
            <a:ext cx="3657600" cy="640080"/>
          </a:xfrm>
          <a:prstGeom prst="rect">
            <a:avLst/>
          </a:prstGeom>
          <a:noFill/>
          <a:ln/>
        </p:spPr>
        <p:txBody>
          <a:bodyPr wrap="square" rtlCol="0" anchor="ctr"/>
          <a:lstStyle/>
          <a:p>
            <a:pPr marL="0" indent="0">
              <a:buNone/>
            </a:pPr>
            <a:r>
              <a:rPr lang="es-419" sz="4400" b="1" noProof="0" dirty="0">
                <a:solidFill>
                  <a:srgbClr val="E67E22"/>
                </a:solidFill>
                <a:latin typeface="Calibri" pitchFamily="34" charset="0"/>
                <a:ea typeface="Calibri" pitchFamily="34" charset="-122"/>
                <a:cs typeface="Calibri" pitchFamily="34" charset="-120"/>
              </a:rPr>
              <a:t>106</a:t>
            </a:r>
            <a:endParaRPr lang="es-419" sz="4400" noProof="0" dirty="0"/>
          </a:p>
        </p:txBody>
      </p:sp>
      <p:sp>
        <p:nvSpPr>
          <p:cNvPr id="12" name="Text 10"/>
          <p:cNvSpPr/>
          <p:nvPr/>
        </p:nvSpPr>
        <p:spPr>
          <a:xfrm>
            <a:off x="5029200" y="2514600"/>
            <a:ext cx="3657600" cy="274320"/>
          </a:xfrm>
          <a:prstGeom prst="rect">
            <a:avLst/>
          </a:prstGeom>
          <a:noFill/>
          <a:ln/>
        </p:spPr>
        <p:txBody>
          <a:bodyPr wrap="square" rtlCol="0" anchor="ctr"/>
          <a:lstStyle/>
          <a:p>
            <a:pPr marL="0" indent="0">
              <a:buNone/>
            </a:pPr>
            <a:r>
              <a:rPr lang="es-419" sz="1200" noProof="0" dirty="0" err="1">
                <a:solidFill>
                  <a:srgbClr val="666666"/>
                </a:solidFill>
                <a:latin typeface="Calibri" pitchFamily="34" charset="0"/>
                <a:ea typeface="Calibri" pitchFamily="34" charset="-122"/>
                <a:cs typeface="Calibri" pitchFamily="34" charset="-120"/>
              </a:rPr>
              <a:t>msgs</a:t>
            </a:r>
            <a:r>
              <a:rPr lang="es-419" sz="1200" noProof="0" dirty="0">
                <a:solidFill>
                  <a:srgbClr val="666666"/>
                </a:solidFill>
                <a:latin typeface="Calibri" pitchFamily="34" charset="0"/>
                <a:ea typeface="Calibri" pitchFamily="34" charset="-122"/>
                <a:cs typeface="Calibri" pitchFamily="34" charset="-120"/>
              </a:rPr>
              <a:t>/</a:t>
            </a:r>
            <a:r>
              <a:rPr lang="es-419" sz="1200" noProof="0" dirty="0" err="1">
                <a:solidFill>
                  <a:srgbClr val="666666"/>
                </a:solidFill>
                <a:latin typeface="Calibri" pitchFamily="34" charset="0"/>
                <a:ea typeface="Calibri" pitchFamily="34" charset="-122"/>
                <a:cs typeface="Calibri" pitchFamily="34" charset="-120"/>
              </a:rPr>
              <a:t>sec</a:t>
            </a:r>
            <a:endParaRPr lang="es-419" sz="1200" noProof="0" dirty="0"/>
          </a:p>
        </p:txBody>
      </p:sp>
      <p:sp>
        <p:nvSpPr>
          <p:cNvPr id="13" name="Text 11"/>
          <p:cNvSpPr/>
          <p:nvPr/>
        </p:nvSpPr>
        <p:spPr>
          <a:xfrm>
            <a:off x="5029200" y="2880360"/>
            <a:ext cx="3657600" cy="1463040"/>
          </a:xfrm>
          <a:prstGeom prst="rect">
            <a:avLst/>
          </a:prstGeom>
          <a:noFill/>
          <a:ln/>
        </p:spPr>
        <p:txBody>
          <a:bodyPr wrap="square" rtlCol="0" anchor="ctr"/>
          <a:lstStyle/>
          <a:p>
            <a:pPr marL="0" indent="0">
              <a:buNone/>
            </a:pPr>
            <a:r>
              <a:rPr lang="es-419" sz="1100" noProof="0" dirty="0">
                <a:solidFill>
                  <a:srgbClr val="1A1A1A"/>
                </a:solidFill>
                <a:latin typeface="Calibri" pitchFamily="34" charset="0"/>
                <a:ea typeface="Calibri" pitchFamily="34" charset="-122"/>
                <a:cs typeface="Calibri" pitchFamily="34" charset="-120"/>
              </a:rPr>
              <a:t>✓ </a:t>
            </a:r>
            <a:r>
              <a:rPr lang="es-419" sz="1100" noProof="0" dirty="0" err="1">
                <a:solidFill>
                  <a:srgbClr val="1A1A1A"/>
                </a:solidFill>
                <a:latin typeface="Calibri" pitchFamily="34" charset="0"/>
                <a:ea typeface="Calibri" pitchFamily="34" charset="-122"/>
                <a:cs typeface="Calibri" pitchFamily="34" charset="-120"/>
              </a:rPr>
              <a:t>Publish</a:t>
            </a:r>
            <a:r>
              <a:rPr lang="es-419" sz="1100" noProof="0" dirty="0">
                <a:solidFill>
                  <a:srgbClr val="1A1A1A"/>
                </a:solidFill>
                <a:latin typeface="Calibri" pitchFamily="34" charset="0"/>
                <a:ea typeface="Calibri" pitchFamily="34" charset="-122"/>
                <a:cs typeface="Calibri" pitchFamily="34" charset="-120"/>
              </a:rPr>
              <a:t> = </a:t>
            </a:r>
            <a:r>
              <a:rPr lang="es-419" sz="1100" noProof="0" dirty="0" err="1">
                <a:solidFill>
                  <a:srgbClr val="1A1A1A"/>
                </a:solidFill>
                <a:latin typeface="Calibri" pitchFamily="34" charset="0"/>
                <a:ea typeface="Calibri" pitchFamily="34" charset="-122"/>
                <a:cs typeface="Calibri" pitchFamily="34" charset="-120"/>
              </a:rPr>
              <a:t>Deliver</a:t>
            </a:r>
            <a:endParaRPr lang="es-419" sz="1100" noProof="0" dirty="0"/>
          </a:p>
          <a:p>
            <a:pPr marL="0" indent="0">
              <a:buNone/>
            </a:pPr>
            <a:r>
              <a:rPr lang="es-419" sz="1100" noProof="0" dirty="0">
                <a:solidFill>
                  <a:srgbClr val="1A1A1A"/>
                </a:solidFill>
                <a:latin typeface="Calibri" pitchFamily="34" charset="0"/>
                <a:ea typeface="Calibri" pitchFamily="34" charset="-122"/>
                <a:cs typeface="Calibri" pitchFamily="34" charset="-120"/>
              </a:rPr>
              <a:t>✓ Perfecta sincronización</a:t>
            </a:r>
            <a:endParaRPr lang="es-419" sz="1100" noProof="0" dirty="0"/>
          </a:p>
          <a:p>
            <a:pPr marL="0" indent="0">
              <a:buNone/>
            </a:pPr>
            <a:r>
              <a:rPr lang="es-419" sz="1100" noProof="0" dirty="0">
                <a:solidFill>
                  <a:srgbClr val="1A1A1A"/>
                </a:solidFill>
                <a:latin typeface="Calibri" pitchFamily="34" charset="0"/>
                <a:ea typeface="Calibri" pitchFamily="34" charset="-122"/>
                <a:cs typeface="Calibri" pitchFamily="34" charset="-120"/>
              </a:rPr>
              <a:t>✓ Entrada = Salida</a:t>
            </a:r>
            <a:endParaRPr lang="es-419" sz="1100" noProof="0" dirty="0"/>
          </a:p>
          <a:p>
            <a:pPr marL="0" indent="0">
              <a:buNone/>
            </a:pPr>
            <a:r>
              <a:rPr lang="es-419" sz="1100" noProof="0" dirty="0">
                <a:solidFill>
                  <a:srgbClr val="1A1A1A"/>
                </a:solidFill>
                <a:latin typeface="Calibri" pitchFamily="34" charset="0"/>
                <a:ea typeface="Calibri" pitchFamily="34" charset="-122"/>
                <a:cs typeface="Calibri" pitchFamily="34" charset="-120"/>
              </a:rPr>
              <a:t>✓ Broker sin estrés</a:t>
            </a:r>
            <a:endParaRPr lang="es-419" sz="1100" noProof="0" dirty="0"/>
          </a:p>
        </p:txBody>
      </p:sp>
      <p:sp>
        <p:nvSpPr>
          <p:cNvPr id="14" name="Shape 12"/>
          <p:cNvSpPr/>
          <p:nvPr/>
        </p:nvSpPr>
        <p:spPr>
          <a:xfrm>
            <a:off x="457200" y="4572000"/>
            <a:ext cx="8229600" cy="548640"/>
          </a:xfrm>
          <a:prstGeom prst="roundRect">
            <a:avLst/>
          </a:prstGeom>
          <a:solidFill>
            <a:srgbClr val="E8F1F7"/>
          </a:solidFill>
          <a:ln/>
        </p:spPr>
        <p:txBody>
          <a:bodyPr/>
          <a:lstStyle/>
          <a:p>
            <a:endParaRPr lang="es-419" noProof="0" dirty="0"/>
          </a:p>
        </p:txBody>
      </p:sp>
      <p:sp>
        <p:nvSpPr>
          <p:cNvPr id="15" name="Text 13"/>
          <p:cNvSpPr/>
          <p:nvPr/>
        </p:nvSpPr>
        <p:spPr>
          <a:xfrm>
            <a:off x="640080" y="4617720"/>
            <a:ext cx="7863840" cy="457200"/>
          </a:xfrm>
          <a:prstGeom prst="rect">
            <a:avLst/>
          </a:prstGeom>
          <a:noFill/>
          <a:ln/>
        </p:spPr>
        <p:txBody>
          <a:bodyPr wrap="square" rtlCol="0" anchor="ctr"/>
          <a:lstStyle/>
          <a:p>
            <a:pPr marL="0" indent="0">
              <a:buNone/>
            </a:pPr>
            <a:r>
              <a:rPr lang="es-419" sz="1100" i="1" noProof="0" dirty="0">
                <a:solidFill>
                  <a:srgbClr val="1A1A1A"/>
                </a:solidFill>
                <a:latin typeface="Calibri" pitchFamily="34" charset="0"/>
                <a:ea typeface="Calibri" pitchFamily="34" charset="-122"/>
                <a:cs typeface="Calibri" pitchFamily="34" charset="-120"/>
              </a:rPr>
              <a:t>Diagnóstico: Broker perfectamente sano. No hay represamiento en infraestructura — consumidores procesan a la misma velocidad que productores envían (106 </a:t>
            </a:r>
            <a:r>
              <a:rPr lang="es-419" sz="1100" i="1" noProof="0" dirty="0" err="1">
                <a:solidFill>
                  <a:srgbClr val="1A1A1A"/>
                </a:solidFill>
                <a:latin typeface="Calibri" pitchFamily="34" charset="0"/>
                <a:ea typeface="Calibri" pitchFamily="34" charset="-122"/>
                <a:cs typeface="Calibri" pitchFamily="34" charset="-120"/>
              </a:rPr>
              <a:t>msgs</a:t>
            </a:r>
            <a:r>
              <a:rPr lang="es-419" sz="1100" i="1" noProof="0" dirty="0">
                <a:solidFill>
                  <a:srgbClr val="1A1A1A"/>
                </a:solidFill>
                <a:latin typeface="Calibri" pitchFamily="34" charset="0"/>
                <a:ea typeface="Calibri" pitchFamily="34" charset="-122"/>
                <a:cs typeface="Calibri" pitchFamily="34" charset="-120"/>
              </a:rPr>
              <a:t>/</a:t>
            </a:r>
            <a:r>
              <a:rPr lang="es-419" sz="1100" i="1" noProof="0" dirty="0" err="1">
                <a:solidFill>
                  <a:srgbClr val="1A1A1A"/>
                </a:solidFill>
                <a:latin typeface="Calibri" pitchFamily="34" charset="0"/>
                <a:ea typeface="Calibri" pitchFamily="34" charset="-122"/>
                <a:cs typeface="Calibri" pitchFamily="34" charset="-120"/>
              </a:rPr>
              <a:t>sec</a:t>
            </a:r>
            <a:r>
              <a:rPr lang="es-419" sz="1100" i="1" noProof="0" dirty="0">
                <a:solidFill>
                  <a:srgbClr val="1A1A1A"/>
                </a:solidFill>
                <a:latin typeface="Calibri" pitchFamily="34" charset="0"/>
                <a:ea typeface="Calibri" pitchFamily="34" charset="-122"/>
                <a:cs typeface="Calibri" pitchFamily="34" charset="-120"/>
              </a:rPr>
              <a:t>). RAM/CPU/Disco sin problemas.</a:t>
            </a:r>
            <a:endParaRPr lang="es-419" sz="110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s-419" sz="3800" b="1" noProof="0" dirty="0">
                <a:solidFill>
                  <a:srgbClr val="0A4A7F"/>
                </a:solidFill>
                <a:latin typeface="Calibri" pitchFamily="34" charset="0"/>
                <a:ea typeface="Calibri" pitchFamily="34" charset="-122"/>
                <a:cs typeface="Calibri" pitchFamily="34" charset="-120"/>
              </a:rPr>
              <a:t>Flujo del Sistema - Explicación Técnica</a:t>
            </a:r>
            <a:endParaRPr lang="es-419" sz="3800" noProof="0" dirty="0"/>
          </a:p>
        </p:txBody>
      </p:sp>
      <p:sp>
        <p:nvSpPr>
          <p:cNvPr id="3" name="Text 1"/>
          <p:cNvSpPr/>
          <p:nvPr/>
        </p:nvSpPr>
        <p:spPr>
          <a:xfrm>
            <a:off x="457200" y="960120"/>
            <a:ext cx="8229600" cy="320040"/>
          </a:xfrm>
          <a:prstGeom prst="rect">
            <a:avLst/>
          </a:prstGeom>
          <a:noFill/>
          <a:ln/>
        </p:spPr>
        <p:txBody>
          <a:bodyPr wrap="square" rtlCol="0" anchor="ctr"/>
          <a:lstStyle/>
          <a:p>
            <a:pPr marL="0" indent="0">
              <a:buNone/>
            </a:pPr>
            <a:r>
              <a:rPr lang="es-419" sz="1500" noProof="0" dirty="0">
                <a:solidFill>
                  <a:srgbClr val="666666"/>
                </a:solidFill>
                <a:latin typeface="Calibri" pitchFamily="34" charset="0"/>
                <a:ea typeface="Calibri" pitchFamily="34" charset="-122"/>
                <a:cs typeface="Calibri" pitchFamily="34" charset="-120"/>
              </a:rPr>
              <a:t>Cómo se relacionan los componentes</a:t>
            </a:r>
            <a:endParaRPr lang="es-419" sz="1500" noProof="0" dirty="0"/>
          </a:p>
        </p:txBody>
      </p:sp>
      <p:sp>
        <p:nvSpPr>
          <p:cNvPr id="4" name="Shape 2"/>
          <p:cNvSpPr/>
          <p:nvPr/>
        </p:nvSpPr>
        <p:spPr>
          <a:xfrm>
            <a:off x="457200" y="1371600"/>
            <a:ext cx="8229600" cy="3383280"/>
          </a:xfrm>
          <a:prstGeom prst="roundRect">
            <a:avLst/>
          </a:prstGeom>
          <a:solidFill>
            <a:srgbClr val="F8F9FA"/>
          </a:solidFill>
          <a:ln/>
        </p:spPr>
        <p:txBody>
          <a:bodyPr/>
          <a:lstStyle/>
          <a:p>
            <a:endParaRPr lang="es-419" noProof="0" dirty="0"/>
          </a:p>
        </p:txBody>
      </p:sp>
      <p:sp>
        <p:nvSpPr>
          <p:cNvPr id="5" name="Text 3"/>
          <p:cNvSpPr/>
          <p:nvPr/>
        </p:nvSpPr>
        <p:spPr>
          <a:xfrm>
            <a:off x="640080" y="1554480"/>
            <a:ext cx="7863840" cy="274320"/>
          </a:xfrm>
          <a:prstGeom prst="rect">
            <a:avLst/>
          </a:prstGeom>
          <a:noFill/>
          <a:ln/>
        </p:spPr>
        <p:txBody>
          <a:bodyPr wrap="square" rtlCol="0" anchor="ctr"/>
          <a:lstStyle/>
          <a:p>
            <a:pPr marL="0" indent="0">
              <a:buNone/>
            </a:pPr>
            <a:r>
              <a:rPr lang="es-419" sz="1200" b="1" noProof="0" dirty="0">
                <a:solidFill>
                  <a:srgbClr val="0A4A7F"/>
                </a:solidFill>
                <a:latin typeface="Calibri" pitchFamily="34" charset="0"/>
                <a:ea typeface="Calibri" pitchFamily="34" charset="-122"/>
                <a:cs typeface="Calibri" pitchFamily="34" charset="-120"/>
              </a:rPr>
              <a:t>1. API Gateway/Locust inyecta órdenes</a:t>
            </a:r>
            <a:endParaRPr lang="es-419" sz="1200" noProof="0" dirty="0"/>
          </a:p>
        </p:txBody>
      </p:sp>
      <p:sp>
        <p:nvSpPr>
          <p:cNvPr id="6" name="Text 4"/>
          <p:cNvSpPr/>
          <p:nvPr/>
        </p:nvSpPr>
        <p:spPr>
          <a:xfrm>
            <a:off x="640080" y="1847088"/>
            <a:ext cx="7863840" cy="594360"/>
          </a:xfrm>
          <a:prstGeom prst="rect">
            <a:avLst/>
          </a:prstGeom>
          <a:noFill/>
          <a:ln/>
        </p:spPr>
        <p:txBody>
          <a:bodyPr wrap="square" rtlCol="0" anchor="ctr"/>
          <a:lstStyle/>
          <a:p>
            <a:pPr marL="0" indent="0">
              <a:buNone/>
            </a:pPr>
            <a:r>
              <a:rPr lang="es-419" sz="1000" noProof="0" dirty="0">
                <a:solidFill>
                  <a:srgbClr val="1A1A1A"/>
                </a:solidFill>
                <a:latin typeface="Calibri" pitchFamily="34" charset="0"/>
                <a:ea typeface="Calibri" pitchFamily="34" charset="-122"/>
                <a:cs typeface="Calibri" pitchFamily="34" charset="-120"/>
              </a:rPr>
              <a:t>Las órdenes entran en </a:t>
            </a:r>
            <a:r>
              <a:rPr lang="es-419" sz="1000" noProof="0" dirty="0" err="1">
                <a:solidFill>
                  <a:srgbClr val="1A1A1A"/>
                </a:solidFill>
                <a:latin typeface="Calibri" pitchFamily="34" charset="0"/>
                <a:ea typeface="Calibri" pitchFamily="34" charset="-122"/>
                <a:cs typeface="Calibri" pitchFamily="34" charset="-120"/>
              </a:rPr>
              <a:t>orders_buffer</a:t>
            </a:r>
            <a:r>
              <a:rPr lang="es-419" sz="1000" noProof="0" dirty="0">
                <a:solidFill>
                  <a:srgbClr val="1A1A1A"/>
                </a:solidFill>
                <a:latin typeface="Calibri" pitchFamily="34" charset="0"/>
                <a:ea typeface="Calibri" pitchFamily="34" charset="-122"/>
                <a:cs typeface="Calibri" pitchFamily="34" charset="-120"/>
              </a:rPr>
              <a:t>. El Motor de Emparejamiento las consume al instante. Aquí no hay latencia ni encolamiento porque la cola asíncrona absorbe los picos.</a:t>
            </a:r>
            <a:endParaRPr lang="es-419" sz="1000" noProof="0" dirty="0"/>
          </a:p>
        </p:txBody>
      </p:sp>
      <p:sp>
        <p:nvSpPr>
          <p:cNvPr id="7" name="Text 5"/>
          <p:cNvSpPr/>
          <p:nvPr/>
        </p:nvSpPr>
        <p:spPr>
          <a:xfrm>
            <a:off x="640080" y="2560320"/>
            <a:ext cx="7863840" cy="274320"/>
          </a:xfrm>
          <a:prstGeom prst="rect">
            <a:avLst/>
          </a:prstGeom>
          <a:noFill/>
          <a:ln/>
        </p:spPr>
        <p:txBody>
          <a:bodyPr wrap="square" rtlCol="0" anchor="ctr"/>
          <a:lstStyle/>
          <a:p>
            <a:pPr marL="0" indent="0">
              <a:buNone/>
            </a:pPr>
            <a:r>
              <a:rPr lang="es-419" sz="1200" b="1" noProof="0" dirty="0">
                <a:solidFill>
                  <a:srgbClr val="0A4A7F"/>
                </a:solidFill>
                <a:latin typeface="Calibri" pitchFamily="34" charset="0"/>
                <a:ea typeface="Calibri" pitchFamily="34" charset="-122"/>
                <a:cs typeface="Calibri" pitchFamily="34" charset="-120"/>
              </a:rPr>
              <a:t>2. </a:t>
            </a:r>
            <a:r>
              <a:rPr lang="es-419" sz="1200" b="1" noProof="0" dirty="0" err="1">
                <a:solidFill>
                  <a:srgbClr val="0A4A7F"/>
                </a:solidFill>
                <a:latin typeface="Calibri" pitchFamily="34" charset="0"/>
                <a:ea typeface="Calibri" pitchFamily="34" charset="-122"/>
                <a:cs typeface="Calibri" pitchFamily="34" charset="-120"/>
              </a:rPr>
              <a:t>Engine</a:t>
            </a:r>
            <a:r>
              <a:rPr lang="es-419" sz="1200" b="1" noProof="0" dirty="0">
                <a:solidFill>
                  <a:srgbClr val="0A4A7F"/>
                </a:solidFill>
                <a:latin typeface="Calibri" pitchFamily="34" charset="0"/>
                <a:ea typeface="Calibri" pitchFamily="34" charset="-122"/>
                <a:cs typeface="Calibri" pitchFamily="34" charset="-120"/>
              </a:rPr>
              <a:t> Motor procesa órdenes en memoria</a:t>
            </a:r>
            <a:endParaRPr lang="es-419" sz="1200" noProof="0" dirty="0"/>
          </a:p>
        </p:txBody>
      </p:sp>
      <p:sp>
        <p:nvSpPr>
          <p:cNvPr id="8" name="Text 6"/>
          <p:cNvSpPr/>
          <p:nvPr/>
        </p:nvSpPr>
        <p:spPr>
          <a:xfrm>
            <a:off x="640080" y="2852928"/>
            <a:ext cx="7863840" cy="594360"/>
          </a:xfrm>
          <a:prstGeom prst="rect">
            <a:avLst/>
          </a:prstGeom>
          <a:noFill/>
          <a:ln/>
        </p:spPr>
        <p:txBody>
          <a:bodyPr wrap="square" rtlCol="0" anchor="ctr"/>
          <a:lstStyle/>
          <a:p>
            <a:pPr marL="0" indent="0">
              <a:buNone/>
            </a:pPr>
            <a:r>
              <a:rPr lang="es-419" sz="1000" noProof="0" dirty="0">
                <a:solidFill>
                  <a:srgbClr val="1A1A1A"/>
                </a:solidFill>
                <a:latin typeface="Calibri" pitchFamily="34" charset="0"/>
                <a:ea typeface="Calibri" pitchFamily="34" charset="-122"/>
                <a:cs typeface="Calibri" pitchFamily="34" charset="-120"/>
              </a:rPr>
              <a:t>Sin tocar disco. Genera </a:t>
            </a:r>
            <a:r>
              <a:rPr lang="es-419" sz="1000" noProof="0" dirty="0" err="1">
                <a:solidFill>
                  <a:srgbClr val="1A1A1A"/>
                </a:solidFill>
                <a:latin typeface="Calibri" pitchFamily="34" charset="0"/>
                <a:ea typeface="Calibri" pitchFamily="34" charset="-122"/>
                <a:cs typeface="Calibri" pitchFamily="34" charset="-120"/>
              </a:rPr>
              <a:t>trades</a:t>
            </a:r>
            <a:r>
              <a:rPr lang="es-419" sz="1000" noProof="0" dirty="0">
                <a:solidFill>
                  <a:srgbClr val="1A1A1A"/>
                </a:solidFill>
                <a:latin typeface="Calibri" pitchFamily="34" charset="0"/>
                <a:ea typeface="Calibri" pitchFamily="34" charset="-122"/>
                <a:cs typeface="Calibri" pitchFamily="34" charset="-120"/>
              </a:rPr>
              <a:t> y los publica en </a:t>
            </a:r>
            <a:r>
              <a:rPr lang="es-419" sz="1000" noProof="0" dirty="0" err="1">
                <a:solidFill>
                  <a:srgbClr val="1A1A1A"/>
                </a:solidFill>
                <a:latin typeface="Calibri" pitchFamily="34" charset="0"/>
                <a:ea typeface="Calibri" pitchFamily="34" charset="-122"/>
                <a:cs typeface="Calibri" pitchFamily="34" charset="-120"/>
              </a:rPr>
              <a:t>trade_confirmations</a:t>
            </a:r>
            <a:r>
              <a:rPr lang="es-419" sz="1000" noProof="0" dirty="0">
                <a:solidFill>
                  <a:srgbClr val="1A1A1A"/>
                </a:solidFill>
                <a:latin typeface="Calibri" pitchFamily="34" charset="0"/>
                <a:ea typeface="Calibri" pitchFamily="34" charset="-122"/>
                <a:cs typeface="Calibri" pitchFamily="34" charset="-120"/>
              </a:rPr>
              <a:t>. El canal es transaccional y dedicado — está AISLADO del resto del tráfico (no comparte cola con </a:t>
            </a:r>
            <a:r>
              <a:rPr lang="es-419" sz="1000" noProof="0" dirty="0" err="1">
                <a:solidFill>
                  <a:srgbClr val="1A1A1A"/>
                </a:solidFill>
                <a:latin typeface="Calibri" pitchFamily="34" charset="0"/>
                <a:ea typeface="Calibri" pitchFamily="34" charset="-122"/>
                <a:cs typeface="Calibri" pitchFamily="34" charset="-120"/>
              </a:rPr>
              <a:t>orders_buffer</a:t>
            </a:r>
            <a:r>
              <a:rPr lang="es-419" sz="1000" noProof="0" dirty="0">
                <a:solidFill>
                  <a:srgbClr val="1A1A1A"/>
                </a:solidFill>
                <a:latin typeface="Calibri" pitchFamily="34" charset="0"/>
                <a:ea typeface="Calibri" pitchFamily="34" charset="-122"/>
                <a:cs typeface="Calibri" pitchFamily="34" charset="-120"/>
              </a:rPr>
              <a:t>).</a:t>
            </a:r>
            <a:endParaRPr lang="es-419" sz="1000" noProof="0" dirty="0"/>
          </a:p>
        </p:txBody>
      </p:sp>
      <p:sp>
        <p:nvSpPr>
          <p:cNvPr id="9" name="Text 7"/>
          <p:cNvSpPr/>
          <p:nvPr/>
        </p:nvSpPr>
        <p:spPr>
          <a:xfrm>
            <a:off x="640080" y="3566160"/>
            <a:ext cx="7863840" cy="274320"/>
          </a:xfrm>
          <a:prstGeom prst="rect">
            <a:avLst/>
          </a:prstGeom>
          <a:noFill/>
          <a:ln/>
        </p:spPr>
        <p:txBody>
          <a:bodyPr wrap="square" rtlCol="0" anchor="ctr"/>
          <a:lstStyle/>
          <a:p>
            <a:pPr marL="0" indent="0">
              <a:buNone/>
            </a:pPr>
            <a:r>
              <a:rPr lang="es-419" sz="1200" b="1" noProof="0" dirty="0">
                <a:solidFill>
                  <a:srgbClr val="0A4A7F"/>
                </a:solidFill>
                <a:latin typeface="Calibri" pitchFamily="34" charset="0"/>
                <a:ea typeface="Calibri" pitchFamily="34" charset="-122"/>
                <a:cs typeface="Calibri" pitchFamily="34" charset="-120"/>
              </a:rPr>
              <a:t>3. </a:t>
            </a:r>
            <a:r>
              <a:rPr lang="es-419" sz="1200" b="1" noProof="0" dirty="0" err="1">
                <a:solidFill>
                  <a:srgbClr val="0A4A7F"/>
                </a:solidFill>
                <a:latin typeface="Calibri" pitchFamily="34" charset="0"/>
                <a:ea typeface="Calibri" pitchFamily="34" charset="-122"/>
                <a:cs typeface="Calibri" pitchFamily="34" charset="-120"/>
              </a:rPr>
              <a:t>Confirmation</a:t>
            </a:r>
            <a:r>
              <a:rPr lang="es-419" sz="1200" b="1" noProof="0" dirty="0">
                <a:solidFill>
                  <a:srgbClr val="0A4A7F"/>
                </a:solidFill>
                <a:latin typeface="Calibri" pitchFamily="34" charset="0"/>
                <a:ea typeface="Calibri" pitchFamily="34" charset="-122"/>
                <a:cs typeface="Calibri" pitchFamily="34" charset="-120"/>
              </a:rPr>
              <a:t> </a:t>
            </a:r>
            <a:r>
              <a:rPr lang="es-419" sz="1200" b="1" noProof="0" dirty="0" err="1">
                <a:solidFill>
                  <a:srgbClr val="0A4A7F"/>
                </a:solidFill>
                <a:latin typeface="Calibri" pitchFamily="34" charset="0"/>
                <a:ea typeface="Calibri" pitchFamily="34" charset="-122"/>
                <a:cs typeface="Calibri" pitchFamily="34" charset="-120"/>
              </a:rPr>
              <a:t>Dispatcher</a:t>
            </a:r>
            <a:r>
              <a:rPr lang="es-419" sz="1200" b="1" noProof="0" dirty="0">
                <a:solidFill>
                  <a:srgbClr val="0A4A7F"/>
                </a:solidFill>
                <a:latin typeface="Calibri" pitchFamily="34" charset="0"/>
                <a:ea typeface="Calibri" pitchFamily="34" charset="-122"/>
                <a:cs typeface="Calibri" pitchFamily="34" charset="-120"/>
              </a:rPr>
              <a:t> entrega</a:t>
            </a:r>
            <a:endParaRPr lang="es-419" sz="1200" noProof="0" dirty="0"/>
          </a:p>
        </p:txBody>
      </p:sp>
      <p:sp>
        <p:nvSpPr>
          <p:cNvPr id="10" name="Text 8"/>
          <p:cNvSpPr/>
          <p:nvPr/>
        </p:nvSpPr>
        <p:spPr>
          <a:xfrm>
            <a:off x="640080" y="3858768"/>
            <a:ext cx="7863840" cy="594360"/>
          </a:xfrm>
          <a:prstGeom prst="rect">
            <a:avLst/>
          </a:prstGeom>
          <a:noFill/>
          <a:ln/>
        </p:spPr>
        <p:txBody>
          <a:bodyPr wrap="square" rtlCol="0" anchor="ctr"/>
          <a:lstStyle/>
          <a:p>
            <a:pPr marL="0" indent="0">
              <a:buNone/>
            </a:pPr>
            <a:r>
              <a:rPr lang="es-419" sz="1000" noProof="0" dirty="0">
                <a:solidFill>
                  <a:srgbClr val="1A1A1A"/>
                </a:solidFill>
                <a:latin typeface="Calibri" pitchFamily="34" charset="0"/>
                <a:ea typeface="Calibri" pitchFamily="34" charset="-122"/>
                <a:cs typeface="Calibri" pitchFamily="34" charset="-120"/>
              </a:rPr>
              <a:t>Revisa idempotencia en Redis (atómica, &lt;1ms), empuja por </a:t>
            </a:r>
            <a:r>
              <a:rPr lang="es-419" sz="1000" noProof="0" dirty="0" err="1">
                <a:solidFill>
                  <a:srgbClr val="1A1A1A"/>
                </a:solidFill>
                <a:latin typeface="Calibri" pitchFamily="34" charset="0"/>
                <a:ea typeface="Calibri" pitchFamily="34" charset="-122"/>
                <a:cs typeface="Calibri" pitchFamily="34" charset="-120"/>
              </a:rPr>
              <a:t>WebSocket</a:t>
            </a:r>
            <a:r>
              <a:rPr lang="es-419" sz="1000" noProof="0" dirty="0">
                <a:solidFill>
                  <a:srgbClr val="1A1A1A"/>
                </a:solidFill>
                <a:latin typeface="Calibri" pitchFamily="34" charset="0"/>
                <a:ea typeface="Calibri" pitchFamily="34" charset="-122"/>
                <a:cs typeface="Calibri" pitchFamily="34" charset="-120"/>
              </a:rPr>
              <a:t>. Ya está conectado y esperando — no hay que abrir nueva conexión ni esperar </a:t>
            </a:r>
            <a:r>
              <a:rPr lang="es-419" sz="1000" noProof="0" dirty="0" err="1">
                <a:solidFill>
                  <a:srgbClr val="1A1A1A"/>
                </a:solidFill>
                <a:latin typeface="Calibri" pitchFamily="34" charset="0"/>
                <a:ea typeface="Calibri" pitchFamily="34" charset="-122"/>
                <a:cs typeface="Calibri" pitchFamily="34" charset="-120"/>
              </a:rPr>
              <a:t>polling</a:t>
            </a:r>
            <a:r>
              <a:rPr lang="es-419" sz="1000" noProof="0" dirty="0">
                <a:solidFill>
                  <a:srgbClr val="1A1A1A"/>
                </a:solidFill>
                <a:latin typeface="Calibri" pitchFamily="34" charset="0"/>
                <a:ea typeface="Calibri" pitchFamily="34" charset="-122"/>
                <a:cs typeface="Calibri" pitchFamily="34" charset="-120"/>
              </a:rPr>
              <a:t>. Entrega garantizada.</a:t>
            </a:r>
            <a:endParaRPr lang="es-419" sz="100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s-419" sz="4000" b="1" noProof="0" dirty="0">
                <a:solidFill>
                  <a:srgbClr val="0A4A7F"/>
                </a:solidFill>
                <a:latin typeface="Calibri" pitchFamily="34" charset="0"/>
                <a:ea typeface="Calibri" pitchFamily="34" charset="-122"/>
                <a:cs typeface="Calibri" pitchFamily="34" charset="-120"/>
              </a:rPr>
              <a:t>Reproducibilidad: Evidencia Definitiva</a:t>
            </a:r>
            <a:endParaRPr lang="es-419" sz="4000" noProof="0" dirty="0"/>
          </a:p>
        </p:txBody>
      </p:sp>
      <p:sp>
        <p:nvSpPr>
          <p:cNvPr id="3" name="Text 1"/>
          <p:cNvSpPr/>
          <p:nvPr/>
        </p:nvSpPr>
        <p:spPr>
          <a:xfrm>
            <a:off x="457200" y="960120"/>
            <a:ext cx="8229600" cy="320040"/>
          </a:xfrm>
          <a:prstGeom prst="rect">
            <a:avLst/>
          </a:prstGeom>
          <a:noFill/>
          <a:ln/>
        </p:spPr>
        <p:txBody>
          <a:bodyPr wrap="square" rtlCol="0" anchor="ctr"/>
          <a:lstStyle/>
          <a:p>
            <a:pPr marL="0" indent="0">
              <a:buNone/>
            </a:pPr>
            <a:r>
              <a:rPr lang="es-419" sz="1600" noProof="0" dirty="0">
                <a:solidFill>
                  <a:srgbClr val="666666"/>
                </a:solidFill>
                <a:latin typeface="Calibri" pitchFamily="34" charset="0"/>
                <a:ea typeface="Calibri" pitchFamily="34" charset="-122"/>
                <a:cs typeface="Calibri" pitchFamily="34" charset="-120"/>
              </a:rPr>
              <a:t>Dos corridas independientes = Resultados casi idénticos</a:t>
            </a:r>
            <a:endParaRPr lang="es-419" sz="1600" noProof="0" dirty="0"/>
          </a:p>
        </p:txBody>
      </p:sp>
      <p:sp>
        <p:nvSpPr>
          <p:cNvPr id="4" name="Shape 2"/>
          <p:cNvSpPr/>
          <p:nvPr/>
        </p:nvSpPr>
        <p:spPr>
          <a:xfrm>
            <a:off x="457200" y="1371600"/>
            <a:ext cx="4023360" cy="2811780"/>
          </a:xfrm>
          <a:prstGeom prst="roundRect">
            <a:avLst/>
          </a:prstGeom>
          <a:solidFill>
            <a:srgbClr val="E8F1F7"/>
          </a:solidFill>
          <a:ln w="25400">
            <a:solidFill>
              <a:srgbClr val="0A4A7F"/>
            </a:solidFill>
            <a:prstDash val="solid"/>
          </a:ln>
        </p:spPr>
        <p:txBody>
          <a:bodyPr/>
          <a:lstStyle/>
          <a:p>
            <a:endParaRPr lang="es-419" noProof="0" dirty="0"/>
          </a:p>
        </p:txBody>
      </p:sp>
      <p:sp>
        <p:nvSpPr>
          <p:cNvPr id="5" name="Text 3"/>
          <p:cNvSpPr/>
          <p:nvPr/>
        </p:nvSpPr>
        <p:spPr>
          <a:xfrm>
            <a:off x="640080" y="1508760"/>
            <a:ext cx="3657600" cy="248098"/>
          </a:xfrm>
          <a:prstGeom prst="rect">
            <a:avLst/>
          </a:prstGeom>
          <a:noFill/>
          <a:ln/>
        </p:spPr>
        <p:txBody>
          <a:bodyPr wrap="square" rtlCol="0" anchor="ctr"/>
          <a:lstStyle/>
          <a:p>
            <a:pPr marL="0" indent="0">
              <a:buNone/>
            </a:pPr>
            <a:r>
              <a:rPr lang="es-419" sz="1200" b="1" noProof="0" dirty="0">
                <a:solidFill>
                  <a:srgbClr val="0A4A7F"/>
                </a:solidFill>
                <a:latin typeface="Calibri" pitchFamily="34" charset="0"/>
                <a:ea typeface="Calibri" pitchFamily="34" charset="-122"/>
                <a:cs typeface="Calibri" pitchFamily="34" charset="-120"/>
              </a:rPr>
              <a:t>Experimento 1</a:t>
            </a:r>
            <a:endParaRPr lang="es-419" sz="1200" noProof="0" dirty="0"/>
          </a:p>
        </p:txBody>
      </p:sp>
      <p:sp>
        <p:nvSpPr>
          <p:cNvPr id="6" name="Text 4"/>
          <p:cNvSpPr/>
          <p:nvPr/>
        </p:nvSpPr>
        <p:spPr>
          <a:xfrm>
            <a:off x="640080" y="1874520"/>
            <a:ext cx="3657600" cy="454847"/>
          </a:xfrm>
          <a:prstGeom prst="rect">
            <a:avLst/>
          </a:prstGeom>
          <a:noFill/>
          <a:ln/>
        </p:spPr>
        <p:txBody>
          <a:bodyPr wrap="square" rtlCol="0" anchor="ctr"/>
          <a:lstStyle/>
          <a:p>
            <a:pPr marL="0" indent="0">
              <a:buNone/>
            </a:pPr>
            <a:r>
              <a:rPr lang="es-419" sz="3600" b="1" noProof="0" dirty="0">
                <a:solidFill>
                  <a:srgbClr val="0A4A7F"/>
                </a:solidFill>
                <a:latin typeface="Calibri" pitchFamily="34" charset="0"/>
                <a:ea typeface="Calibri" pitchFamily="34" charset="-122"/>
                <a:cs typeface="Calibri" pitchFamily="34" charset="-120"/>
              </a:rPr>
              <a:t>~4.6K</a:t>
            </a:r>
            <a:endParaRPr lang="es-419" sz="3600" noProof="0" dirty="0"/>
          </a:p>
        </p:txBody>
      </p:sp>
      <p:sp>
        <p:nvSpPr>
          <p:cNvPr id="7" name="Text 5"/>
          <p:cNvSpPr/>
          <p:nvPr/>
        </p:nvSpPr>
        <p:spPr>
          <a:xfrm>
            <a:off x="640080" y="2331720"/>
            <a:ext cx="3657600" cy="248098"/>
          </a:xfrm>
          <a:prstGeom prst="rect">
            <a:avLst/>
          </a:prstGeom>
          <a:noFill/>
          <a:ln/>
        </p:spPr>
        <p:txBody>
          <a:bodyPr wrap="square" rtlCol="0" anchor="ctr"/>
          <a:lstStyle/>
          <a:p>
            <a:pPr marL="0" indent="0">
              <a:buNone/>
            </a:pPr>
            <a:r>
              <a:rPr lang="es-419" sz="1100" noProof="0" dirty="0" err="1">
                <a:solidFill>
                  <a:srgbClr val="666666"/>
                </a:solidFill>
                <a:latin typeface="Calibri" pitchFamily="34" charset="0"/>
                <a:ea typeface="Calibri" pitchFamily="34" charset="-122"/>
                <a:cs typeface="Calibri" pitchFamily="34" charset="-120"/>
              </a:rPr>
              <a:t>matches</a:t>
            </a:r>
            <a:r>
              <a:rPr lang="es-419" sz="1100" noProof="0" dirty="0">
                <a:solidFill>
                  <a:srgbClr val="666666"/>
                </a:solidFill>
                <a:latin typeface="Calibri" pitchFamily="34" charset="0"/>
                <a:ea typeface="Calibri" pitchFamily="34" charset="-122"/>
                <a:cs typeface="Calibri" pitchFamily="34" charset="-120"/>
              </a:rPr>
              <a:t>/min</a:t>
            </a:r>
            <a:endParaRPr lang="es-419" sz="1100" noProof="0" dirty="0"/>
          </a:p>
        </p:txBody>
      </p:sp>
      <p:sp>
        <p:nvSpPr>
          <p:cNvPr id="8" name="Text 6"/>
          <p:cNvSpPr/>
          <p:nvPr/>
        </p:nvSpPr>
        <p:spPr>
          <a:xfrm>
            <a:off x="640080" y="2697480"/>
            <a:ext cx="3657600" cy="1447240"/>
          </a:xfrm>
          <a:prstGeom prst="rect">
            <a:avLst/>
          </a:prstGeom>
          <a:noFill/>
          <a:ln/>
        </p:spPr>
        <p:txBody>
          <a:bodyPr wrap="square" rtlCol="0" anchor="ctr"/>
          <a:lstStyle/>
          <a:p>
            <a:pPr marL="0" indent="0">
              <a:buNone/>
            </a:pPr>
            <a:r>
              <a:rPr lang="es-419" sz="1000" noProof="0" dirty="0">
                <a:solidFill>
                  <a:srgbClr val="1A1A1A"/>
                </a:solidFill>
                <a:latin typeface="Calibri" pitchFamily="34" charset="0"/>
                <a:ea typeface="Calibri" pitchFamily="34" charset="-122"/>
                <a:cs typeface="Calibri" pitchFamily="34" charset="-120"/>
              </a:rPr>
              <a:t>✓ Core p95: ~0.02ms</a:t>
            </a:r>
            <a:endParaRPr lang="es-419" sz="1000" noProof="0" dirty="0"/>
          </a:p>
          <a:p>
            <a:pPr marL="0" indent="0">
              <a:buNone/>
            </a:pPr>
            <a:r>
              <a:rPr lang="es-419" sz="1000" noProof="0" dirty="0">
                <a:solidFill>
                  <a:srgbClr val="1A1A1A"/>
                </a:solidFill>
                <a:latin typeface="Calibri" pitchFamily="34" charset="0"/>
                <a:ea typeface="Calibri" pitchFamily="34" charset="-122"/>
                <a:cs typeface="Calibri" pitchFamily="34" charset="-120"/>
              </a:rPr>
              <a:t>✓ Latencia consistente bajo 30 min pico</a:t>
            </a:r>
            <a:endParaRPr lang="es-419" sz="1000" noProof="0" dirty="0"/>
          </a:p>
          <a:p>
            <a:pPr marL="0" indent="0">
              <a:buNone/>
            </a:pPr>
            <a:r>
              <a:rPr lang="es-419" sz="1000" noProof="0" dirty="0">
                <a:solidFill>
                  <a:srgbClr val="1A1A1A"/>
                </a:solidFill>
                <a:latin typeface="Calibri" pitchFamily="34" charset="0"/>
                <a:ea typeface="Calibri" pitchFamily="34" charset="-122"/>
                <a:cs typeface="Calibri" pitchFamily="34" charset="-120"/>
              </a:rPr>
              <a:t>✓ Cero degradación bajo 6x volumen</a:t>
            </a:r>
            <a:endParaRPr lang="es-419" sz="1000" noProof="0" dirty="0"/>
          </a:p>
          <a:p>
            <a:pPr marL="0" indent="0">
              <a:buNone/>
            </a:pPr>
            <a:r>
              <a:rPr lang="es-419" sz="1000" noProof="0" dirty="0">
                <a:solidFill>
                  <a:srgbClr val="1A1A1A"/>
                </a:solidFill>
                <a:latin typeface="Calibri" pitchFamily="34" charset="0"/>
                <a:ea typeface="Calibri" pitchFamily="34" charset="-122"/>
                <a:cs typeface="Calibri" pitchFamily="34" charset="-120"/>
              </a:rPr>
              <a:t>✓ Escalabilidad probada</a:t>
            </a:r>
            <a:endParaRPr lang="es-419" sz="1000" noProof="0" dirty="0"/>
          </a:p>
        </p:txBody>
      </p:sp>
      <p:sp>
        <p:nvSpPr>
          <p:cNvPr id="9" name="Shape 7"/>
          <p:cNvSpPr/>
          <p:nvPr/>
        </p:nvSpPr>
        <p:spPr>
          <a:xfrm>
            <a:off x="4846320" y="1371600"/>
            <a:ext cx="4023360" cy="2811780"/>
          </a:xfrm>
          <a:prstGeom prst="roundRect">
            <a:avLst/>
          </a:prstGeom>
          <a:solidFill>
            <a:srgbClr val="FFF3E0"/>
          </a:solidFill>
          <a:ln w="25400">
            <a:solidFill>
              <a:srgbClr val="E67E22"/>
            </a:solidFill>
            <a:prstDash val="solid"/>
          </a:ln>
        </p:spPr>
        <p:txBody>
          <a:bodyPr/>
          <a:lstStyle/>
          <a:p>
            <a:endParaRPr lang="es-419" noProof="0" dirty="0"/>
          </a:p>
        </p:txBody>
      </p:sp>
      <p:sp>
        <p:nvSpPr>
          <p:cNvPr id="10" name="Text 8"/>
          <p:cNvSpPr/>
          <p:nvPr/>
        </p:nvSpPr>
        <p:spPr>
          <a:xfrm>
            <a:off x="5029200" y="1508760"/>
            <a:ext cx="3657600" cy="248098"/>
          </a:xfrm>
          <a:prstGeom prst="rect">
            <a:avLst/>
          </a:prstGeom>
          <a:noFill/>
          <a:ln/>
        </p:spPr>
        <p:txBody>
          <a:bodyPr wrap="square" rtlCol="0" anchor="ctr"/>
          <a:lstStyle/>
          <a:p>
            <a:pPr marL="0" indent="0">
              <a:buNone/>
            </a:pPr>
            <a:r>
              <a:rPr lang="es-419" sz="1200" b="1" noProof="0" dirty="0">
                <a:solidFill>
                  <a:srgbClr val="E67E22"/>
                </a:solidFill>
                <a:latin typeface="Calibri" pitchFamily="34" charset="0"/>
                <a:ea typeface="Calibri" pitchFamily="34" charset="-122"/>
                <a:cs typeface="Calibri" pitchFamily="34" charset="-120"/>
              </a:rPr>
              <a:t>Experimento 2</a:t>
            </a:r>
            <a:endParaRPr lang="es-419" sz="1200" noProof="0" dirty="0"/>
          </a:p>
        </p:txBody>
      </p:sp>
      <p:sp>
        <p:nvSpPr>
          <p:cNvPr id="11" name="Text 9"/>
          <p:cNvSpPr/>
          <p:nvPr/>
        </p:nvSpPr>
        <p:spPr>
          <a:xfrm>
            <a:off x="5029200" y="1874520"/>
            <a:ext cx="3657600" cy="454847"/>
          </a:xfrm>
          <a:prstGeom prst="rect">
            <a:avLst/>
          </a:prstGeom>
          <a:noFill/>
          <a:ln/>
        </p:spPr>
        <p:txBody>
          <a:bodyPr wrap="square" rtlCol="0" anchor="ctr"/>
          <a:lstStyle/>
          <a:p>
            <a:pPr marL="0" indent="0">
              <a:buNone/>
            </a:pPr>
            <a:r>
              <a:rPr lang="es-419" sz="3600" b="1" noProof="0" dirty="0">
                <a:solidFill>
                  <a:srgbClr val="E67E22"/>
                </a:solidFill>
                <a:latin typeface="Calibri" pitchFamily="34" charset="0"/>
                <a:ea typeface="Calibri" pitchFamily="34" charset="-122"/>
                <a:cs typeface="Calibri" pitchFamily="34" charset="-120"/>
              </a:rPr>
              <a:t>~4.7K</a:t>
            </a:r>
            <a:endParaRPr lang="es-419" sz="3600" noProof="0" dirty="0"/>
          </a:p>
        </p:txBody>
      </p:sp>
      <p:sp>
        <p:nvSpPr>
          <p:cNvPr id="12" name="Text 10"/>
          <p:cNvSpPr/>
          <p:nvPr/>
        </p:nvSpPr>
        <p:spPr>
          <a:xfrm>
            <a:off x="5029200" y="2331720"/>
            <a:ext cx="3657600" cy="248098"/>
          </a:xfrm>
          <a:prstGeom prst="rect">
            <a:avLst/>
          </a:prstGeom>
          <a:noFill/>
          <a:ln/>
        </p:spPr>
        <p:txBody>
          <a:bodyPr wrap="square" rtlCol="0" anchor="ctr"/>
          <a:lstStyle/>
          <a:p>
            <a:pPr marL="0" indent="0">
              <a:buNone/>
            </a:pPr>
            <a:r>
              <a:rPr lang="es-419" sz="1100" noProof="0" dirty="0" err="1">
                <a:solidFill>
                  <a:srgbClr val="666666"/>
                </a:solidFill>
                <a:latin typeface="Calibri" pitchFamily="34" charset="0"/>
                <a:ea typeface="Calibri" pitchFamily="34" charset="-122"/>
                <a:cs typeface="Calibri" pitchFamily="34" charset="-120"/>
              </a:rPr>
              <a:t>matches</a:t>
            </a:r>
            <a:r>
              <a:rPr lang="es-419" sz="1100" noProof="0" dirty="0">
                <a:solidFill>
                  <a:srgbClr val="666666"/>
                </a:solidFill>
                <a:latin typeface="Calibri" pitchFamily="34" charset="0"/>
                <a:ea typeface="Calibri" pitchFamily="34" charset="-122"/>
                <a:cs typeface="Calibri" pitchFamily="34" charset="-120"/>
              </a:rPr>
              <a:t>/min</a:t>
            </a:r>
            <a:endParaRPr lang="es-419" sz="1100" noProof="0" dirty="0"/>
          </a:p>
        </p:txBody>
      </p:sp>
      <p:sp>
        <p:nvSpPr>
          <p:cNvPr id="13" name="Text 11"/>
          <p:cNvSpPr/>
          <p:nvPr/>
        </p:nvSpPr>
        <p:spPr>
          <a:xfrm>
            <a:off x="5029200" y="2697480"/>
            <a:ext cx="3657600" cy="1447240"/>
          </a:xfrm>
          <a:prstGeom prst="rect">
            <a:avLst/>
          </a:prstGeom>
          <a:noFill/>
          <a:ln/>
        </p:spPr>
        <p:txBody>
          <a:bodyPr wrap="square" rtlCol="0" anchor="ctr"/>
          <a:lstStyle/>
          <a:p>
            <a:pPr marL="0" indent="0">
              <a:buNone/>
            </a:pPr>
            <a:r>
              <a:rPr lang="es-419" sz="1000" noProof="0" dirty="0">
                <a:solidFill>
                  <a:srgbClr val="1A1A1A"/>
                </a:solidFill>
                <a:latin typeface="Calibri" pitchFamily="34" charset="0"/>
                <a:ea typeface="Calibri" pitchFamily="34" charset="-122"/>
                <a:cs typeface="Calibri" pitchFamily="34" charset="-120"/>
              </a:rPr>
              <a:t>✓ P95 confirmación: 6.62ms</a:t>
            </a:r>
            <a:endParaRPr lang="es-419" sz="1000" noProof="0" dirty="0"/>
          </a:p>
          <a:p>
            <a:pPr marL="0" indent="0">
              <a:buNone/>
            </a:pPr>
            <a:r>
              <a:rPr lang="es-419" sz="1000" noProof="0" dirty="0">
                <a:solidFill>
                  <a:srgbClr val="1A1A1A"/>
                </a:solidFill>
                <a:latin typeface="Calibri" pitchFamily="34" charset="0"/>
                <a:ea typeface="Calibri" pitchFamily="34" charset="-122"/>
                <a:cs typeface="Calibri" pitchFamily="34" charset="-120"/>
              </a:rPr>
              <a:t>✓ Aislamiento del canal verificado</a:t>
            </a:r>
            <a:endParaRPr lang="es-419" sz="1000" noProof="0" dirty="0"/>
          </a:p>
          <a:p>
            <a:pPr marL="0" indent="0">
              <a:buNone/>
            </a:pPr>
            <a:r>
              <a:rPr lang="es-419" sz="1000" noProof="0" dirty="0">
                <a:solidFill>
                  <a:srgbClr val="1A1A1A"/>
                </a:solidFill>
                <a:latin typeface="Calibri" pitchFamily="34" charset="0"/>
                <a:ea typeface="Calibri" pitchFamily="34" charset="-122"/>
                <a:cs typeface="Calibri" pitchFamily="34" charset="-120"/>
              </a:rPr>
              <a:t>✓ 4.3x más volumen = igual latencia</a:t>
            </a:r>
            <a:endParaRPr lang="es-419" sz="1000" noProof="0" dirty="0"/>
          </a:p>
          <a:p>
            <a:pPr marL="0" indent="0">
              <a:buNone/>
            </a:pPr>
            <a:r>
              <a:rPr lang="es-419" sz="1000" noProof="0" dirty="0">
                <a:solidFill>
                  <a:srgbClr val="1A1A1A"/>
                </a:solidFill>
                <a:latin typeface="Calibri" pitchFamily="34" charset="0"/>
                <a:ea typeface="Calibri" pitchFamily="34" charset="-122"/>
                <a:cs typeface="Calibri" pitchFamily="34" charset="-120"/>
              </a:rPr>
              <a:t>✓ Cero pérdida de datos</a:t>
            </a:r>
            <a:endParaRPr lang="es-419" sz="1000" noProof="0" dirty="0"/>
          </a:p>
        </p:txBody>
      </p:sp>
      <p:sp>
        <p:nvSpPr>
          <p:cNvPr id="14" name="Shape 12"/>
          <p:cNvSpPr/>
          <p:nvPr/>
        </p:nvSpPr>
        <p:spPr>
          <a:xfrm>
            <a:off x="457200" y="4434840"/>
            <a:ext cx="8229600" cy="548640"/>
          </a:xfrm>
          <a:prstGeom prst="roundRect">
            <a:avLst/>
          </a:prstGeom>
          <a:solidFill>
            <a:srgbClr val="27AE60"/>
          </a:solidFill>
          <a:ln/>
        </p:spPr>
        <p:txBody>
          <a:bodyPr/>
          <a:lstStyle/>
          <a:p>
            <a:endParaRPr lang="es-419" noProof="0" dirty="0"/>
          </a:p>
        </p:txBody>
      </p:sp>
      <p:sp>
        <p:nvSpPr>
          <p:cNvPr id="15" name="Text 13"/>
          <p:cNvSpPr/>
          <p:nvPr/>
        </p:nvSpPr>
        <p:spPr>
          <a:xfrm>
            <a:off x="640080" y="4480560"/>
            <a:ext cx="7863840" cy="457200"/>
          </a:xfrm>
          <a:prstGeom prst="rect">
            <a:avLst/>
          </a:prstGeom>
          <a:noFill/>
          <a:ln/>
        </p:spPr>
        <p:txBody>
          <a:bodyPr wrap="square" rtlCol="0" anchor="ctr"/>
          <a:lstStyle/>
          <a:p>
            <a:pPr marL="0" indent="0" algn="ctr">
              <a:buNone/>
            </a:pPr>
            <a:r>
              <a:rPr lang="es-419" sz="1300" b="1" noProof="0" dirty="0">
                <a:solidFill>
                  <a:srgbClr val="FFFFFF"/>
                </a:solidFill>
                <a:latin typeface="Calibri" pitchFamily="34" charset="0"/>
                <a:ea typeface="Calibri" pitchFamily="34" charset="-122"/>
                <a:cs typeface="Calibri" pitchFamily="34" charset="-120"/>
              </a:rPr>
              <a:t>✓ EVIDENCIA EMPÍRICA DE QUE EL DISEÑO FUNCIONA</a:t>
            </a:r>
            <a:endParaRPr lang="es-419" sz="1300"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0A4A7F"/>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marL="0" indent="0">
              <a:buNone/>
            </a:pPr>
            <a:r>
              <a:rPr lang="es-419" sz="5200" b="1" noProof="0" dirty="0">
                <a:solidFill>
                  <a:srgbClr val="FFFFFF"/>
                </a:solidFill>
                <a:latin typeface="Calibri" pitchFamily="34" charset="0"/>
                <a:ea typeface="Calibri" pitchFamily="34" charset="-122"/>
                <a:cs typeface="Calibri" pitchFamily="34" charset="-120"/>
              </a:rPr>
              <a:t>Conclusiones</a:t>
            </a:r>
            <a:endParaRPr lang="es-419" sz="5200" noProof="0" dirty="0"/>
          </a:p>
        </p:txBody>
      </p:sp>
      <p:sp>
        <p:nvSpPr>
          <p:cNvPr id="3" name="Shape 1"/>
          <p:cNvSpPr/>
          <p:nvPr/>
        </p:nvSpPr>
        <p:spPr>
          <a:xfrm>
            <a:off x="457200" y="1280160"/>
            <a:ext cx="8229600" cy="731520"/>
          </a:xfrm>
          <a:prstGeom prst="roundRect">
            <a:avLst/>
          </a:prstGeom>
          <a:solidFill>
            <a:srgbClr val="E8F1F7"/>
          </a:solidFill>
          <a:ln/>
        </p:spPr>
        <p:txBody>
          <a:bodyPr/>
          <a:lstStyle/>
          <a:p>
            <a:endParaRPr lang="es-419" noProof="0" dirty="0"/>
          </a:p>
        </p:txBody>
      </p:sp>
      <p:sp>
        <p:nvSpPr>
          <p:cNvPr id="4" name="Text 2"/>
          <p:cNvSpPr/>
          <p:nvPr/>
        </p:nvSpPr>
        <p:spPr>
          <a:xfrm>
            <a:off x="640080" y="1325880"/>
            <a:ext cx="7863840" cy="256032"/>
          </a:xfrm>
          <a:prstGeom prst="rect">
            <a:avLst/>
          </a:prstGeom>
          <a:noFill/>
          <a:ln/>
        </p:spPr>
        <p:txBody>
          <a:bodyPr wrap="square" rtlCol="0" anchor="ctr"/>
          <a:lstStyle/>
          <a:p>
            <a:pPr marL="0" indent="0">
              <a:buNone/>
            </a:pPr>
            <a:r>
              <a:rPr lang="es-419" sz="1300" b="1" noProof="0" dirty="0">
                <a:solidFill>
                  <a:srgbClr val="0A4A7F"/>
                </a:solidFill>
                <a:latin typeface="Calibri" pitchFamily="34" charset="0"/>
                <a:ea typeface="Calibri" pitchFamily="34" charset="-122"/>
                <a:cs typeface="Calibri" pitchFamily="34" charset="-120"/>
              </a:rPr>
              <a:t>Escalabilidad Probada</a:t>
            </a:r>
            <a:endParaRPr lang="es-419" sz="1300" noProof="0" dirty="0"/>
          </a:p>
        </p:txBody>
      </p:sp>
      <p:sp>
        <p:nvSpPr>
          <p:cNvPr id="5" name="Text 3"/>
          <p:cNvSpPr/>
          <p:nvPr/>
        </p:nvSpPr>
        <p:spPr>
          <a:xfrm>
            <a:off x="640080" y="1591056"/>
            <a:ext cx="7863840" cy="365760"/>
          </a:xfrm>
          <a:prstGeom prst="rect">
            <a:avLst/>
          </a:prstGeom>
          <a:noFill/>
          <a:ln/>
        </p:spPr>
        <p:txBody>
          <a:bodyPr wrap="square" rtlCol="0" anchor="ctr"/>
          <a:lstStyle/>
          <a:p>
            <a:pPr marL="0" indent="0">
              <a:buNone/>
            </a:pPr>
            <a:r>
              <a:rPr lang="es-419" sz="1100" noProof="0" dirty="0">
                <a:latin typeface="Calibri" pitchFamily="34" charset="0"/>
                <a:ea typeface="Calibri" pitchFamily="34" charset="-122"/>
                <a:cs typeface="Calibri" pitchFamily="34" charset="-120"/>
              </a:rPr>
              <a:t>La arquitectura escala perfectamente. 9x más volumen = latencia igual o mejor. </a:t>
            </a:r>
            <a:endParaRPr lang="es-419" sz="1100" noProof="0" dirty="0"/>
          </a:p>
        </p:txBody>
      </p:sp>
      <p:sp>
        <p:nvSpPr>
          <p:cNvPr id="6" name="Shape 4"/>
          <p:cNvSpPr/>
          <p:nvPr/>
        </p:nvSpPr>
        <p:spPr>
          <a:xfrm>
            <a:off x="457200" y="2194560"/>
            <a:ext cx="8229600" cy="731520"/>
          </a:xfrm>
          <a:prstGeom prst="roundRect">
            <a:avLst/>
          </a:prstGeom>
          <a:solidFill>
            <a:srgbClr val="E8F1F7"/>
          </a:solidFill>
          <a:ln/>
        </p:spPr>
        <p:txBody>
          <a:bodyPr/>
          <a:lstStyle/>
          <a:p>
            <a:endParaRPr lang="es-419" noProof="0" dirty="0"/>
          </a:p>
        </p:txBody>
      </p:sp>
      <p:sp>
        <p:nvSpPr>
          <p:cNvPr id="7" name="Text 5"/>
          <p:cNvSpPr/>
          <p:nvPr/>
        </p:nvSpPr>
        <p:spPr>
          <a:xfrm>
            <a:off x="640080" y="2240280"/>
            <a:ext cx="7863840" cy="256032"/>
          </a:xfrm>
          <a:prstGeom prst="rect">
            <a:avLst/>
          </a:prstGeom>
          <a:noFill/>
          <a:ln/>
        </p:spPr>
        <p:txBody>
          <a:bodyPr wrap="square" rtlCol="0" anchor="ctr"/>
          <a:lstStyle/>
          <a:p>
            <a:pPr marL="0" indent="0">
              <a:buNone/>
            </a:pPr>
            <a:r>
              <a:rPr lang="es-419" sz="1300" b="1" noProof="0" dirty="0">
                <a:solidFill>
                  <a:srgbClr val="0A4A7F"/>
                </a:solidFill>
                <a:latin typeface="Calibri" pitchFamily="34" charset="0"/>
                <a:ea typeface="Calibri" pitchFamily="34" charset="-122"/>
                <a:cs typeface="Calibri" pitchFamily="34" charset="-120"/>
              </a:rPr>
              <a:t>Aislamiento del Canal Funciona</a:t>
            </a:r>
            <a:endParaRPr lang="es-419" sz="1300" noProof="0" dirty="0"/>
          </a:p>
        </p:txBody>
      </p:sp>
      <p:sp>
        <p:nvSpPr>
          <p:cNvPr id="8" name="Text 6"/>
          <p:cNvSpPr/>
          <p:nvPr/>
        </p:nvSpPr>
        <p:spPr>
          <a:xfrm>
            <a:off x="640080" y="2505456"/>
            <a:ext cx="7863840" cy="365760"/>
          </a:xfrm>
          <a:prstGeom prst="rect">
            <a:avLst/>
          </a:prstGeom>
          <a:noFill/>
          <a:ln/>
        </p:spPr>
        <p:txBody>
          <a:bodyPr wrap="square" rtlCol="0" anchor="ctr"/>
          <a:lstStyle/>
          <a:p>
            <a:r>
              <a:rPr lang="es-419" sz="1100" dirty="0">
                <a:latin typeface="Calibri" pitchFamily="34" charset="0"/>
                <a:ea typeface="Calibri" pitchFamily="34" charset="-122"/>
                <a:cs typeface="Calibri" pitchFamily="34" charset="-120"/>
              </a:rPr>
              <a:t>El canal transaccional dedicado evita contención. Confirmaciones siempre bajo 350ms (p95 = 6.6ms = 53x mejor).</a:t>
            </a:r>
          </a:p>
        </p:txBody>
      </p:sp>
      <p:sp>
        <p:nvSpPr>
          <p:cNvPr id="9" name="Shape 7"/>
          <p:cNvSpPr/>
          <p:nvPr/>
        </p:nvSpPr>
        <p:spPr>
          <a:xfrm>
            <a:off x="457200" y="3108960"/>
            <a:ext cx="8229600" cy="731520"/>
          </a:xfrm>
          <a:prstGeom prst="roundRect">
            <a:avLst/>
          </a:prstGeom>
          <a:solidFill>
            <a:srgbClr val="E8F1F7"/>
          </a:solidFill>
          <a:ln/>
        </p:spPr>
        <p:txBody>
          <a:bodyPr/>
          <a:lstStyle/>
          <a:p>
            <a:endParaRPr lang="es-419" noProof="0" dirty="0"/>
          </a:p>
        </p:txBody>
      </p:sp>
      <p:sp>
        <p:nvSpPr>
          <p:cNvPr id="10" name="Text 8"/>
          <p:cNvSpPr/>
          <p:nvPr/>
        </p:nvSpPr>
        <p:spPr>
          <a:xfrm>
            <a:off x="640080" y="3154680"/>
            <a:ext cx="7863840" cy="256032"/>
          </a:xfrm>
          <a:prstGeom prst="rect">
            <a:avLst/>
          </a:prstGeom>
          <a:noFill/>
          <a:ln/>
        </p:spPr>
        <p:txBody>
          <a:bodyPr wrap="square" rtlCol="0" anchor="ctr"/>
          <a:lstStyle/>
          <a:p>
            <a:pPr marL="0" indent="0">
              <a:buNone/>
            </a:pPr>
            <a:r>
              <a:rPr lang="es-419" sz="1300" b="1" noProof="0" dirty="0">
                <a:solidFill>
                  <a:srgbClr val="0A4A7F"/>
                </a:solidFill>
                <a:latin typeface="Calibri" pitchFamily="34" charset="0"/>
                <a:ea typeface="Calibri" pitchFamily="34" charset="-122"/>
                <a:cs typeface="Calibri" pitchFamily="34" charset="-120"/>
              </a:rPr>
              <a:t>Cero Pérdida, Cero Duplicación</a:t>
            </a:r>
            <a:endParaRPr lang="es-419" sz="1300" noProof="0" dirty="0"/>
          </a:p>
        </p:txBody>
      </p:sp>
      <p:sp>
        <p:nvSpPr>
          <p:cNvPr id="11" name="Text 9"/>
          <p:cNvSpPr/>
          <p:nvPr/>
        </p:nvSpPr>
        <p:spPr>
          <a:xfrm>
            <a:off x="640080" y="3419856"/>
            <a:ext cx="7863840" cy="365760"/>
          </a:xfrm>
          <a:prstGeom prst="rect">
            <a:avLst/>
          </a:prstGeom>
          <a:noFill/>
          <a:ln/>
        </p:spPr>
        <p:txBody>
          <a:bodyPr wrap="square" rtlCol="0" anchor="ctr"/>
          <a:lstStyle/>
          <a:p>
            <a:pPr marL="0" indent="0">
              <a:buNone/>
            </a:pPr>
            <a:r>
              <a:rPr lang="es-419" sz="1100" noProof="0" dirty="0">
                <a:latin typeface="Calibri" pitchFamily="34" charset="0"/>
                <a:ea typeface="Calibri" pitchFamily="34" charset="-122"/>
                <a:cs typeface="Calibri" pitchFamily="34" charset="-120"/>
              </a:rPr>
              <a:t>Idempotencia en Redis + </a:t>
            </a:r>
            <a:r>
              <a:rPr lang="es-419" sz="1100" noProof="0" dirty="0" err="1">
                <a:latin typeface="Calibri" pitchFamily="34" charset="0"/>
                <a:ea typeface="Calibri" pitchFamily="34" charset="-122"/>
                <a:cs typeface="Calibri" pitchFamily="34" charset="-120"/>
              </a:rPr>
              <a:t>WebSocket</a:t>
            </a:r>
            <a:r>
              <a:rPr lang="es-419" sz="1100" noProof="0" dirty="0">
                <a:latin typeface="Calibri" pitchFamily="34" charset="0"/>
                <a:ea typeface="Calibri" pitchFamily="34" charset="-122"/>
                <a:cs typeface="Calibri" pitchFamily="34" charset="-120"/>
              </a:rPr>
              <a:t> garantizan entrega oportuna, confiable y sin fallos de 100,000+ confirmaciones.</a:t>
            </a:r>
            <a:endParaRPr lang="es-419" sz="1100" noProof="0" dirty="0"/>
          </a:p>
        </p:txBody>
      </p:sp>
      <p:sp>
        <p:nvSpPr>
          <p:cNvPr id="12" name="Shape 10"/>
          <p:cNvSpPr/>
          <p:nvPr/>
        </p:nvSpPr>
        <p:spPr>
          <a:xfrm>
            <a:off x="457200" y="4023360"/>
            <a:ext cx="8229600" cy="731520"/>
          </a:xfrm>
          <a:prstGeom prst="roundRect">
            <a:avLst/>
          </a:prstGeom>
          <a:solidFill>
            <a:srgbClr val="E8F1F7"/>
          </a:solidFill>
          <a:ln/>
        </p:spPr>
        <p:txBody>
          <a:bodyPr/>
          <a:lstStyle/>
          <a:p>
            <a:endParaRPr lang="es-419" noProof="0" dirty="0"/>
          </a:p>
        </p:txBody>
      </p:sp>
      <p:sp>
        <p:nvSpPr>
          <p:cNvPr id="13" name="Text 11"/>
          <p:cNvSpPr/>
          <p:nvPr/>
        </p:nvSpPr>
        <p:spPr>
          <a:xfrm>
            <a:off x="640080" y="4069080"/>
            <a:ext cx="7863840" cy="256032"/>
          </a:xfrm>
          <a:prstGeom prst="rect">
            <a:avLst/>
          </a:prstGeom>
          <a:noFill/>
          <a:ln/>
        </p:spPr>
        <p:txBody>
          <a:bodyPr wrap="square" rtlCol="0" anchor="ctr"/>
          <a:lstStyle/>
          <a:p>
            <a:pPr marL="0" indent="0">
              <a:buNone/>
            </a:pPr>
            <a:r>
              <a:rPr lang="es-419" sz="1300" b="1" noProof="0" dirty="0">
                <a:solidFill>
                  <a:srgbClr val="0A4A7F"/>
                </a:solidFill>
                <a:latin typeface="Calibri" pitchFamily="34" charset="0"/>
                <a:ea typeface="Calibri" pitchFamily="34" charset="-122"/>
                <a:cs typeface="Calibri" pitchFamily="34" charset="-120"/>
              </a:rPr>
              <a:t>Comportamiento Reproducible</a:t>
            </a:r>
            <a:endParaRPr lang="es-419" sz="1300" noProof="0" dirty="0"/>
          </a:p>
        </p:txBody>
      </p:sp>
      <p:sp>
        <p:nvSpPr>
          <p:cNvPr id="14" name="Text 12"/>
          <p:cNvSpPr/>
          <p:nvPr/>
        </p:nvSpPr>
        <p:spPr>
          <a:xfrm>
            <a:off x="640080" y="4334256"/>
            <a:ext cx="7863840" cy="365760"/>
          </a:xfrm>
          <a:prstGeom prst="rect">
            <a:avLst/>
          </a:prstGeom>
          <a:noFill/>
          <a:ln/>
        </p:spPr>
        <p:txBody>
          <a:bodyPr wrap="square" rtlCol="0" anchor="ctr"/>
          <a:lstStyle/>
          <a:p>
            <a:pPr marL="0" indent="0">
              <a:buNone/>
            </a:pPr>
            <a:r>
              <a:rPr lang="es-419" sz="1100" noProof="0" dirty="0">
                <a:latin typeface="Calibri" pitchFamily="34" charset="0"/>
                <a:ea typeface="Calibri" pitchFamily="34" charset="-122"/>
                <a:cs typeface="Calibri" pitchFamily="34" charset="-120"/>
              </a:rPr>
              <a:t>Dos experimentos independientes = resultados casi idénticos. </a:t>
            </a:r>
            <a:endParaRPr lang="es-419" sz="1100"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s-419" sz="4000" b="1" noProof="0" dirty="0">
                <a:solidFill>
                  <a:srgbClr val="0A4A7F"/>
                </a:solidFill>
                <a:latin typeface="Calibri" pitchFamily="34" charset="0"/>
                <a:ea typeface="Calibri" pitchFamily="34" charset="-122"/>
                <a:cs typeface="Calibri" pitchFamily="34" charset="-120"/>
              </a:rPr>
              <a:t>Comparativa: Volumen vs Latencia</a:t>
            </a:r>
            <a:endParaRPr lang="es-419" sz="4000" noProof="0" dirty="0"/>
          </a:p>
        </p:txBody>
      </p:sp>
      <p:sp>
        <p:nvSpPr>
          <p:cNvPr id="3" name="Text 1"/>
          <p:cNvSpPr/>
          <p:nvPr/>
        </p:nvSpPr>
        <p:spPr>
          <a:xfrm>
            <a:off x="457200" y="960120"/>
            <a:ext cx="8229600" cy="320040"/>
          </a:xfrm>
          <a:prstGeom prst="rect">
            <a:avLst/>
          </a:prstGeom>
          <a:noFill/>
          <a:ln/>
        </p:spPr>
        <p:txBody>
          <a:bodyPr wrap="square" rtlCol="0" anchor="ctr"/>
          <a:lstStyle/>
          <a:p>
            <a:pPr marL="0" indent="0">
              <a:buNone/>
            </a:pPr>
            <a:r>
              <a:rPr lang="es-419" sz="1500" noProof="0" dirty="0">
                <a:solidFill>
                  <a:srgbClr val="666666"/>
                </a:solidFill>
                <a:latin typeface="Calibri" pitchFamily="34" charset="0"/>
                <a:ea typeface="Calibri" pitchFamily="34" charset="-122"/>
                <a:cs typeface="Calibri" pitchFamily="34" charset="-120"/>
              </a:rPr>
              <a:t>Prueba de que la escalabilidad funciona</a:t>
            </a:r>
            <a:endParaRPr lang="es-419" sz="1500" noProof="0" dirty="0"/>
          </a:p>
        </p:txBody>
      </p:sp>
      <p:sp>
        <p:nvSpPr>
          <p:cNvPr id="4" name="Shape 2"/>
          <p:cNvSpPr/>
          <p:nvPr/>
        </p:nvSpPr>
        <p:spPr>
          <a:xfrm>
            <a:off x="457200" y="1371600"/>
            <a:ext cx="8229600" cy="3200400"/>
          </a:xfrm>
          <a:prstGeom prst="roundRect">
            <a:avLst/>
          </a:prstGeom>
          <a:solidFill>
            <a:srgbClr val="F8F9FA"/>
          </a:solidFill>
          <a:ln/>
        </p:spPr>
        <p:txBody>
          <a:bodyPr/>
          <a:lstStyle/>
          <a:p>
            <a:endParaRPr lang="es-419" noProof="0" dirty="0"/>
          </a:p>
        </p:txBody>
      </p:sp>
      <p:sp>
        <p:nvSpPr>
          <p:cNvPr id="5" name="Text 3"/>
          <p:cNvSpPr/>
          <p:nvPr/>
        </p:nvSpPr>
        <p:spPr>
          <a:xfrm>
            <a:off x="457200" y="1508760"/>
            <a:ext cx="1554480" cy="274320"/>
          </a:xfrm>
          <a:prstGeom prst="rect">
            <a:avLst/>
          </a:prstGeom>
          <a:noFill/>
          <a:ln/>
        </p:spPr>
        <p:txBody>
          <a:bodyPr wrap="square" rtlCol="0" anchor="ctr"/>
          <a:lstStyle/>
          <a:p>
            <a:pPr marL="0" indent="0" algn="ctr">
              <a:buNone/>
            </a:pPr>
            <a:r>
              <a:rPr lang="es-419" sz="1100" b="1" noProof="0" dirty="0">
                <a:solidFill>
                  <a:srgbClr val="0A4A7F"/>
                </a:solidFill>
                <a:latin typeface="Calibri" pitchFamily="34" charset="0"/>
                <a:ea typeface="Calibri" pitchFamily="34" charset="-122"/>
                <a:cs typeface="Calibri" pitchFamily="34" charset="-120"/>
              </a:rPr>
              <a:t>Experimento</a:t>
            </a:r>
            <a:endParaRPr lang="es-419" sz="1100" noProof="0" dirty="0"/>
          </a:p>
        </p:txBody>
      </p:sp>
      <p:sp>
        <p:nvSpPr>
          <p:cNvPr id="6" name="Text 4"/>
          <p:cNvSpPr/>
          <p:nvPr/>
        </p:nvSpPr>
        <p:spPr>
          <a:xfrm>
            <a:off x="2103120" y="1508760"/>
            <a:ext cx="1554480" cy="274320"/>
          </a:xfrm>
          <a:prstGeom prst="rect">
            <a:avLst/>
          </a:prstGeom>
          <a:noFill/>
          <a:ln/>
        </p:spPr>
        <p:txBody>
          <a:bodyPr wrap="square" rtlCol="0" anchor="ctr"/>
          <a:lstStyle/>
          <a:p>
            <a:pPr marL="0" indent="0" algn="ctr">
              <a:buNone/>
            </a:pPr>
            <a:r>
              <a:rPr lang="es-419" sz="1100" b="1" noProof="0" dirty="0">
                <a:solidFill>
                  <a:srgbClr val="0A4A7F"/>
                </a:solidFill>
                <a:latin typeface="Calibri" pitchFamily="34" charset="0"/>
                <a:ea typeface="Calibri" pitchFamily="34" charset="-122"/>
                <a:cs typeface="Calibri" pitchFamily="34" charset="-120"/>
              </a:rPr>
              <a:t>Fase</a:t>
            </a:r>
            <a:endParaRPr lang="es-419" sz="1100" noProof="0" dirty="0"/>
          </a:p>
        </p:txBody>
      </p:sp>
      <p:sp>
        <p:nvSpPr>
          <p:cNvPr id="7" name="Text 5"/>
          <p:cNvSpPr/>
          <p:nvPr/>
        </p:nvSpPr>
        <p:spPr>
          <a:xfrm>
            <a:off x="3749040" y="1508760"/>
            <a:ext cx="1554480" cy="274320"/>
          </a:xfrm>
          <a:prstGeom prst="rect">
            <a:avLst/>
          </a:prstGeom>
          <a:noFill/>
          <a:ln/>
        </p:spPr>
        <p:txBody>
          <a:bodyPr wrap="square" rtlCol="0" anchor="ctr"/>
          <a:lstStyle/>
          <a:p>
            <a:pPr marL="0" indent="0" algn="ctr">
              <a:buNone/>
            </a:pPr>
            <a:r>
              <a:rPr lang="es-419" sz="1100" b="1" noProof="0" dirty="0">
                <a:solidFill>
                  <a:srgbClr val="0A4A7F"/>
                </a:solidFill>
                <a:latin typeface="Calibri" pitchFamily="34" charset="0"/>
                <a:ea typeface="Calibri" pitchFamily="34" charset="-122"/>
                <a:cs typeface="Calibri" pitchFamily="34" charset="-120"/>
              </a:rPr>
              <a:t>Muestras</a:t>
            </a:r>
            <a:endParaRPr lang="es-419" sz="1100" noProof="0" dirty="0"/>
          </a:p>
        </p:txBody>
      </p:sp>
      <p:sp>
        <p:nvSpPr>
          <p:cNvPr id="8" name="Text 6"/>
          <p:cNvSpPr/>
          <p:nvPr/>
        </p:nvSpPr>
        <p:spPr>
          <a:xfrm>
            <a:off x="5394960" y="1508760"/>
            <a:ext cx="1554480" cy="274320"/>
          </a:xfrm>
          <a:prstGeom prst="rect">
            <a:avLst/>
          </a:prstGeom>
          <a:noFill/>
          <a:ln/>
        </p:spPr>
        <p:txBody>
          <a:bodyPr wrap="square" rtlCol="0" anchor="ctr"/>
          <a:lstStyle/>
          <a:p>
            <a:pPr marL="0" indent="0" algn="ctr">
              <a:buNone/>
            </a:pPr>
            <a:r>
              <a:rPr lang="es-419" sz="1100" b="1" noProof="0" dirty="0">
                <a:solidFill>
                  <a:srgbClr val="0A4A7F"/>
                </a:solidFill>
                <a:latin typeface="Calibri" pitchFamily="34" charset="0"/>
                <a:ea typeface="Calibri" pitchFamily="34" charset="-122"/>
                <a:cs typeface="Calibri" pitchFamily="34" charset="-120"/>
              </a:rPr>
              <a:t>P95 Latencia</a:t>
            </a:r>
            <a:endParaRPr lang="es-419" sz="1100" noProof="0" dirty="0"/>
          </a:p>
        </p:txBody>
      </p:sp>
      <p:sp>
        <p:nvSpPr>
          <p:cNvPr id="9" name="Text 7"/>
          <p:cNvSpPr/>
          <p:nvPr/>
        </p:nvSpPr>
        <p:spPr>
          <a:xfrm>
            <a:off x="7040880" y="1508760"/>
            <a:ext cx="1554480" cy="274320"/>
          </a:xfrm>
          <a:prstGeom prst="rect">
            <a:avLst/>
          </a:prstGeom>
          <a:noFill/>
          <a:ln/>
        </p:spPr>
        <p:txBody>
          <a:bodyPr wrap="square" rtlCol="0" anchor="ctr"/>
          <a:lstStyle/>
          <a:p>
            <a:pPr marL="0" indent="0" algn="ctr">
              <a:buNone/>
            </a:pPr>
            <a:r>
              <a:rPr lang="es-419" sz="1100" b="1" noProof="0" dirty="0">
                <a:solidFill>
                  <a:srgbClr val="0A4A7F"/>
                </a:solidFill>
                <a:latin typeface="Calibri" pitchFamily="34" charset="0"/>
                <a:ea typeface="Calibri" pitchFamily="34" charset="-122"/>
                <a:cs typeface="Calibri" pitchFamily="34" charset="-120"/>
              </a:rPr>
              <a:t>Confirmaciones/s</a:t>
            </a:r>
            <a:endParaRPr lang="es-419" sz="1100" noProof="0" dirty="0"/>
          </a:p>
        </p:txBody>
      </p:sp>
      <p:sp>
        <p:nvSpPr>
          <p:cNvPr id="10" name="Shape 8"/>
          <p:cNvSpPr/>
          <p:nvPr/>
        </p:nvSpPr>
        <p:spPr>
          <a:xfrm>
            <a:off x="457200" y="1828800"/>
            <a:ext cx="1554480" cy="274320"/>
          </a:xfrm>
          <a:prstGeom prst="rect">
            <a:avLst/>
          </a:prstGeom>
          <a:solidFill>
            <a:srgbClr val="FFFFFF"/>
          </a:solidFill>
          <a:ln/>
        </p:spPr>
        <p:txBody>
          <a:bodyPr/>
          <a:lstStyle/>
          <a:p>
            <a:endParaRPr lang="es-419" noProof="0" dirty="0"/>
          </a:p>
        </p:txBody>
      </p:sp>
      <p:sp>
        <p:nvSpPr>
          <p:cNvPr id="11" name="Text 9"/>
          <p:cNvSpPr/>
          <p:nvPr/>
        </p:nvSpPr>
        <p:spPr>
          <a:xfrm>
            <a:off x="457200" y="1828800"/>
            <a:ext cx="1554480" cy="274320"/>
          </a:xfrm>
          <a:prstGeom prst="rect">
            <a:avLst/>
          </a:prstGeom>
          <a:noFill/>
          <a:ln/>
        </p:spPr>
        <p:txBody>
          <a:bodyPr wrap="square" rtlCol="0" anchor="ctr"/>
          <a:lstStyle/>
          <a:p>
            <a:pPr marL="0" indent="0" algn="ctr">
              <a:buNone/>
            </a:pPr>
            <a:r>
              <a:rPr lang="es-419" sz="1000" noProof="0" dirty="0" err="1">
                <a:solidFill>
                  <a:srgbClr val="1A1A1A"/>
                </a:solidFill>
                <a:latin typeface="Calibri" pitchFamily="34" charset="0"/>
                <a:ea typeface="Calibri" pitchFamily="34" charset="-122"/>
                <a:cs typeface="Calibri" pitchFamily="34" charset="-120"/>
              </a:rPr>
              <a:t>Exp</a:t>
            </a:r>
            <a:r>
              <a:rPr lang="es-419" sz="1000" noProof="0" dirty="0">
                <a:solidFill>
                  <a:srgbClr val="1A1A1A"/>
                </a:solidFill>
                <a:latin typeface="Calibri" pitchFamily="34" charset="0"/>
                <a:ea typeface="Calibri" pitchFamily="34" charset="-122"/>
                <a:cs typeface="Calibri" pitchFamily="34" charset="-120"/>
              </a:rPr>
              <a:t> 2</a:t>
            </a:r>
            <a:endParaRPr lang="es-419" sz="1000" noProof="0" dirty="0"/>
          </a:p>
        </p:txBody>
      </p:sp>
      <p:sp>
        <p:nvSpPr>
          <p:cNvPr id="12" name="Shape 10"/>
          <p:cNvSpPr/>
          <p:nvPr/>
        </p:nvSpPr>
        <p:spPr>
          <a:xfrm>
            <a:off x="2103120" y="1828800"/>
            <a:ext cx="1554480" cy="274320"/>
          </a:xfrm>
          <a:prstGeom prst="rect">
            <a:avLst/>
          </a:prstGeom>
          <a:solidFill>
            <a:srgbClr val="FFFFFF"/>
          </a:solidFill>
          <a:ln/>
        </p:spPr>
        <p:txBody>
          <a:bodyPr/>
          <a:lstStyle/>
          <a:p>
            <a:endParaRPr lang="es-419" noProof="0" dirty="0"/>
          </a:p>
        </p:txBody>
      </p:sp>
      <p:sp>
        <p:nvSpPr>
          <p:cNvPr id="13" name="Text 11"/>
          <p:cNvSpPr/>
          <p:nvPr/>
        </p:nvSpPr>
        <p:spPr>
          <a:xfrm>
            <a:off x="2103120" y="1828800"/>
            <a:ext cx="1554480" cy="274320"/>
          </a:xfrm>
          <a:prstGeom prst="rect">
            <a:avLst/>
          </a:prstGeom>
          <a:noFill/>
          <a:ln/>
        </p:spPr>
        <p:txBody>
          <a:bodyPr wrap="square" rtlCol="0" anchor="ctr"/>
          <a:lstStyle/>
          <a:p>
            <a:pPr marL="0" indent="0" algn="ctr">
              <a:buNone/>
            </a:pPr>
            <a:r>
              <a:rPr lang="es-419" sz="1000" noProof="0" dirty="0">
                <a:solidFill>
                  <a:srgbClr val="1A1A1A"/>
                </a:solidFill>
                <a:latin typeface="Calibri" pitchFamily="34" charset="0"/>
                <a:ea typeface="Calibri" pitchFamily="34" charset="-122"/>
                <a:cs typeface="Calibri" pitchFamily="34" charset="-120"/>
              </a:rPr>
              <a:t>Fase 1</a:t>
            </a:r>
            <a:endParaRPr lang="es-419" sz="1000" noProof="0" dirty="0"/>
          </a:p>
        </p:txBody>
      </p:sp>
      <p:sp>
        <p:nvSpPr>
          <p:cNvPr id="14" name="Shape 12"/>
          <p:cNvSpPr/>
          <p:nvPr/>
        </p:nvSpPr>
        <p:spPr>
          <a:xfrm>
            <a:off x="3749040" y="1828800"/>
            <a:ext cx="1554480" cy="274320"/>
          </a:xfrm>
          <a:prstGeom prst="rect">
            <a:avLst/>
          </a:prstGeom>
          <a:solidFill>
            <a:srgbClr val="FFFFFF"/>
          </a:solidFill>
          <a:ln/>
        </p:spPr>
        <p:txBody>
          <a:bodyPr/>
          <a:lstStyle/>
          <a:p>
            <a:endParaRPr lang="es-419" noProof="0" dirty="0"/>
          </a:p>
        </p:txBody>
      </p:sp>
      <p:sp>
        <p:nvSpPr>
          <p:cNvPr id="15" name="Text 13"/>
          <p:cNvSpPr/>
          <p:nvPr/>
        </p:nvSpPr>
        <p:spPr>
          <a:xfrm>
            <a:off x="3749040" y="1828800"/>
            <a:ext cx="1554480" cy="274320"/>
          </a:xfrm>
          <a:prstGeom prst="rect">
            <a:avLst/>
          </a:prstGeom>
          <a:noFill/>
          <a:ln/>
        </p:spPr>
        <p:txBody>
          <a:bodyPr wrap="square" rtlCol="0" anchor="ctr"/>
          <a:lstStyle/>
          <a:p>
            <a:pPr marL="0" indent="0" algn="ctr">
              <a:buNone/>
            </a:pPr>
            <a:r>
              <a:rPr lang="es-419" sz="1000" noProof="0" dirty="0">
                <a:solidFill>
                  <a:srgbClr val="1A1A1A"/>
                </a:solidFill>
                <a:latin typeface="Calibri" pitchFamily="34" charset="0"/>
                <a:ea typeface="Calibri" pitchFamily="34" charset="-122"/>
                <a:cs typeface="Calibri" pitchFamily="34" charset="-120"/>
              </a:rPr>
              <a:t>39,272</a:t>
            </a:r>
            <a:endParaRPr lang="es-419" sz="1000" noProof="0" dirty="0"/>
          </a:p>
        </p:txBody>
      </p:sp>
      <p:sp>
        <p:nvSpPr>
          <p:cNvPr id="16" name="Shape 14"/>
          <p:cNvSpPr/>
          <p:nvPr/>
        </p:nvSpPr>
        <p:spPr>
          <a:xfrm>
            <a:off x="5394960" y="1828800"/>
            <a:ext cx="1554480" cy="274320"/>
          </a:xfrm>
          <a:prstGeom prst="rect">
            <a:avLst/>
          </a:prstGeom>
          <a:solidFill>
            <a:srgbClr val="FFFFFF"/>
          </a:solidFill>
          <a:ln/>
        </p:spPr>
        <p:txBody>
          <a:bodyPr/>
          <a:lstStyle/>
          <a:p>
            <a:endParaRPr lang="es-419" noProof="0" dirty="0"/>
          </a:p>
        </p:txBody>
      </p:sp>
      <p:sp>
        <p:nvSpPr>
          <p:cNvPr id="17" name="Text 15"/>
          <p:cNvSpPr/>
          <p:nvPr/>
        </p:nvSpPr>
        <p:spPr>
          <a:xfrm>
            <a:off x="5394960" y="1828800"/>
            <a:ext cx="1554480" cy="274320"/>
          </a:xfrm>
          <a:prstGeom prst="rect">
            <a:avLst/>
          </a:prstGeom>
          <a:noFill/>
          <a:ln/>
        </p:spPr>
        <p:txBody>
          <a:bodyPr wrap="square" rtlCol="0" anchor="ctr"/>
          <a:lstStyle/>
          <a:p>
            <a:pPr marL="0" indent="0" algn="ctr">
              <a:buNone/>
            </a:pPr>
            <a:r>
              <a:rPr lang="es-419" sz="1000" noProof="0" dirty="0">
                <a:solidFill>
                  <a:srgbClr val="1A1A1A"/>
                </a:solidFill>
                <a:latin typeface="Calibri" pitchFamily="34" charset="0"/>
                <a:ea typeface="Calibri" pitchFamily="34" charset="-122"/>
                <a:cs typeface="Calibri" pitchFamily="34" charset="-120"/>
              </a:rPr>
              <a:t>6.89ms</a:t>
            </a:r>
            <a:endParaRPr lang="es-419" sz="1000" noProof="0" dirty="0"/>
          </a:p>
        </p:txBody>
      </p:sp>
      <p:sp>
        <p:nvSpPr>
          <p:cNvPr id="18" name="Shape 16"/>
          <p:cNvSpPr/>
          <p:nvPr/>
        </p:nvSpPr>
        <p:spPr>
          <a:xfrm>
            <a:off x="7040880" y="1828800"/>
            <a:ext cx="1554480" cy="274320"/>
          </a:xfrm>
          <a:prstGeom prst="rect">
            <a:avLst/>
          </a:prstGeom>
          <a:solidFill>
            <a:srgbClr val="FFFFFF"/>
          </a:solidFill>
          <a:ln/>
        </p:spPr>
        <p:txBody>
          <a:bodyPr/>
          <a:lstStyle/>
          <a:p>
            <a:endParaRPr lang="es-419" noProof="0" dirty="0"/>
          </a:p>
        </p:txBody>
      </p:sp>
      <p:sp>
        <p:nvSpPr>
          <p:cNvPr id="19" name="Text 17"/>
          <p:cNvSpPr/>
          <p:nvPr/>
        </p:nvSpPr>
        <p:spPr>
          <a:xfrm>
            <a:off x="7040880" y="1828800"/>
            <a:ext cx="1554480" cy="274320"/>
          </a:xfrm>
          <a:prstGeom prst="rect">
            <a:avLst/>
          </a:prstGeom>
          <a:noFill/>
          <a:ln/>
        </p:spPr>
        <p:txBody>
          <a:bodyPr wrap="square" rtlCol="0" anchor="ctr"/>
          <a:lstStyle/>
          <a:p>
            <a:pPr marL="0" indent="0" algn="ctr">
              <a:buNone/>
            </a:pPr>
            <a:r>
              <a:rPr lang="es-419" sz="1000" noProof="0" dirty="0">
                <a:solidFill>
                  <a:srgbClr val="1A1A1A"/>
                </a:solidFill>
                <a:latin typeface="Calibri" pitchFamily="34" charset="0"/>
                <a:ea typeface="Calibri" pitchFamily="34" charset="-122"/>
                <a:cs typeface="Calibri" pitchFamily="34" charset="-120"/>
              </a:rPr>
              <a:t>~65</a:t>
            </a:r>
            <a:endParaRPr lang="es-419" sz="1000" noProof="0" dirty="0"/>
          </a:p>
        </p:txBody>
      </p:sp>
      <p:sp>
        <p:nvSpPr>
          <p:cNvPr id="20" name="Shape 18"/>
          <p:cNvSpPr/>
          <p:nvPr/>
        </p:nvSpPr>
        <p:spPr>
          <a:xfrm>
            <a:off x="457200" y="2103120"/>
            <a:ext cx="1554480" cy="274320"/>
          </a:xfrm>
          <a:prstGeom prst="rect">
            <a:avLst/>
          </a:prstGeom>
          <a:solidFill>
            <a:srgbClr val="F5F5F5"/>
          </a:solidFill>
          <a:ln/>
        </p:spPr>
        <p:txBody>
          <a:bodyPr/>
          <a:lstStyle/>
          <a:p>
            <a:endParaRPr lang="es-419" noProof="0" dirty="0"/>
          </a:p>
        </p:txBody>
      </p:sp>
      <p:sp>
        <p:nvSpPr>
          <p:cNvPr id="21" name="Text 19"/>
          <p:cNvSpPr/>
          <p:nvPr/>
        </p:nvSpPr>
        <p:spPr>
          <a:xfrm>
            <a:off x="457200" y="2103120"/>
            <a:ext cx="1554480" cy="274320"/>
          </a:xfrm>
          <a:prstGeom prst="rect">
            <a:avLst/>
          </a:prstGeom>
          <a:noFill/>
          <a:ln/>
        </p:spPr>
        <p:txBody>
          <a:bodyPr wrap="square" rtlCol="0" anchor="ctr"/>
          <a:lstStyle/>
          <a:p>
            <a:pPr marL="0" indent="0" algn="ctr">
              <a:buNone/>
            </a:pPr>
            <a:r>
              <a:rPr lang="es-419" sz="1000" noProof="0" dirty="0" err="1">
                <a:solidFill>
                  <a:srgbClr val="1A1A1A"/>
                </a:solidFill>
                <a:latin typeface="Calibri" pitchFamily="34" charset="0"/>
                <a:ea typeface="Calibri" pitchFamily="34" charset="-122"/>
                <a:cs typeface="Calibri" pitchFamily="34" charset="-120"/>
              </a:rPr>
              <a:t>Exp</a:t>
            </a:r>
            <a:r>
              <a:rPr lang="es-419" sz="1000" noProof="0" dirty="0">
                <a:solidFill>
                  <a:srgbClr val="1A1A1A"/>
                </a:solidFill>
                <a:latin typeface="Calibri" pitchFamily="34" charset="0"/>
                <a:ea typeface="Calibri" pitchFamily="34" charset="-122"/>
                <a:cs typeface="Calibri" pitchFamily="34" charset="-120"/>
              </a:rPr>
              <a:t> 2</a:t>
            </a:r>
            <a:endParaRPr lang="es-419" sz="1000" noProof="0" dirty="0"/>
          </a:p>
        </p:txBody>
      </p:sp>
      <p:sp>
        <p:nvSpPr>
          <p:cNvPr id="22" name="Shape 20"/>
          <p:cNvSpPr/>
          <p:nvPr/>
        </p:nvSpPr>
        <p:spPr>
          <a:xfrm>
            <a:off x="2103120" y="2103120"/>
            <a:ext cx="1554480" cy="274320"/>
          </a:xfrm>
          <a:prstGeom prst="rect">
            <a:avLst/>
          </a:prstGeom>
          <a:solidFill>
            <a:srgbClr val="F5F5F5"/>
          </a:solidFill>
          <a:ln/>
        </p:spPr>
        <p:txBody>
          <a:bodyPr/>
          <a:lstStyle/>
          <a:p>
            <a:endParaRPr lang="es-419" noProof="0" dirty="0"/>
          </a:p>
        </p:txBody>
      </p:sp>
      <p:sp>
        <p:nvSpPr>
          <p:cNvPr id="23" name="Text 21"/>
          <p:cNvSpPr/>
          <p:nvPr/>
        </p:nvSpPr>
        <p:spPr>
          <a:xfrm>
            <a:off x="2103120" y="2103120"/>
            <a:ext cx="1554480" cy="274320"/>
          </a:xfrm>
          <a:prstGeom prst="rect">
            <a:avLst/>
          </a:prstGeom>
          <a:noFill/>
          <a:ln/>
        </p:spPr>
        <p:txBody>
          <a:bodyPr wrap="square" rtlCol="0" anchor="ctr"/>
          <a:lstStyle/>
          <a:p>
            <a:pPr marL="0" indent="0" algn="ctr">
              <a:buNone/>
            </a:pPr>
            <a:r>
              <a:rPr lang="es-419" sz="1000" noProof="0" dirty="0">
                <a:solidFill>
                  <a:srgbClr val="1A1A1A"/>
                </a:solidFill>
                <a:latin typeface="Calibri" pitchFamily="34" charset="0"/>
                <a:ea typeface="Calibri" pitchFamily="34" charset="-122"/>
                <a:cs typeface="Calibri" pitchFamily="34" charset="-120"/>
              </a:rPr>
              <a:t>Fase 2</a:t>
            </a:r>
            <a:endParaRPr lang="es-419" sz="1000" noProof="0" dirty="0"/>
          </a:p>
        </p:txBody>
      </p:sp>
      <p:sp>
        <p:nvSpPr>
          <p:cNvPr id="24" name="Shape 22"/>
          <p:cNvSpPr/>
          <p:nvPr/>
        </p:nvSpPr>
        <p:spPr>
          <a:xfrm>
            <a:off x="3749040" y="2103120"/>
            <a:ext cx="1554480" cy="274320"/>
          </a:xfrm>
          <a:prstGeom prst="rect">
            <a:avLst/>
          </a:prstGeom>
          <a:solidFill>
            <a:srgbClr val="F5F5F5"/>
          </a:solidFill>
          <a:ln/>
        </p:spPr>
        <p:txBody>
          <a:bodyPr/>
          <a:lstStyle/>
          <a:p>
            <a:endParaRPr lang="es-419" noProof="0" dirty="0"/>
          </a:p>
        </p:txBody>
      </p:sp>
      <p:sp>
        <p:nvSpPr>
          <p:cNvPr id="25" name="Text 23"/>
          <p:cNvSpPr/>
          <p:nvPr/>
        </p:nvSpPr>
        <p:spPr>
          <a:xfrm>
            <a:off x="3749040" y="2103120"/>
            <a:ext cx="1554480" cy="274320"/>
          </a:xfrm>
          <a:prstGeom prst="rect">
            <a:avLst/>
          </a:prstGeom>
          <a:noFill/>
          <a:ln/>
        </p:spPr>
        <p:txBody>
          <a:bodyPr wrap="square" rtlCol="0" anchor="ctr"/>
          <a:lstStyle/>
          <a:p>
            <a:pPr marL="0" indent="0" algn="ctr">
              <a:buNone/>
            </a:pPr>
            <a:r>
              <a:rPr lang="es-419" sz="1000" noProof="0" dirty="0">
                <a:solidFill>
                  <a:srgbClr val="1A1A1A"/>
                </a:solidFill>
                <a:latin typeface="Calibri" pitchFamily="34" charset="0"/>
                <a:ea typeface="Calibri" pitchFamily="34" charset="-122"/>
                <a:cs typeface="Calibri" pitchFamily="34" charset="-120"/>
              </a:rPr>
              <a:t>169,232</a:t>
            </a:r>
            <a:endParaRPr lang="es-419" sz="1000" noProof="0" dirty="0"/>
          </a:p>
        </p:txBody>
      </p:sp>
      <p:sp>
        <p:nvSpPr>
          <p:cNvPr id="26" name="Shape 24"/>
          <p:cNvSpPr/>
          <p:nvPr/>
        </p:nvSpPr>
        <p:spPr>
          <a:xfrm>
            <a:off x="5394960" y="2103120"/>
            <a:ext cx="1554480" cy="274320"/>
          </a:xfrm>
          <a:prstGeom prst="rect">
            <a:avLst/>
          </a:prstGeom>
          <a:solidFill>
            <a:srgbClr val="F5F5F5"/>
          </a:solidFill>
          <a:ln/>
        </p:spPr>
        <p:txBody>
          <a:bodyPr/>
          <a:lstStyle/>
          <a:p>
            <a:endParaRPr lang="es-419" noProof="0" dirty="0"/>
          </a:p>
        </p:txBody>
      </p:sp>
      <p:sp>
        <p:nvSpPr>
          <p:cNvPr id="27" name="Text 25"/>
          <p:cNvSpPr/>
          <p:nvPr/>
        </p:nvSpPr>
        <p:spPr>
          <a:xfrm>
            <a:off x="5394960" y="2103120"/>
            <a:ext cx="1554480" cy="274320"/>
          </a:xfrm>
          <a:prstGeom prst="rect">
            <a:avLst/>
          </a:prstGeom>
          <a:noFill/>
          <a:ln/>
        </p:spPr>
        <p:txBody>
          <a:bodyPr wrap="square" rtlCol="0" anchor="ctr"/>
          <a:lstStyle/>
          <a:p>
            <a:pPr marL="0" indent="0" algn="ctr">
              <a:buNone/>
            </a:pPr>
            <a:r>
              <a:rPr lang="es-419" sz="1000" noProof="0" dirty="0">
                <a:solidFill>
                  <a:srgbClr val="1A1A1A"/>
                </a:solidFill>
                <a:latin typeface="Calibri" pitchFamily="34" charset="0"/>
                <a:ea typeface="Calibri" pitchFamily="34" charset="-122"/>
                <a:cs typeface="Calibri" pitchFamily="34" charset="-120"/>
              </a:rPr>
              <a:t>6.62ms</a:t>
            </a:r>
            <a:endParaRPr lang="es-419" sz="1000" noProof="0" dirty="0"/>
          </a:p>
        </p:txBody>
      </p:sp>
      <p:sp>
        <p:nvSpPr>
          <p:cNvPr id="28" name="Shape 26"/>
          <p:cNvSpPr/>
          <p:nvPr/>
        </p:nvSpPr>
        <p:spPr>
          <a:xfrm>
            <a:off x="7040880" y="2103120"/>
            <a:ext cx="1554480" cy="274320"/>
          </a:xfrm>
          <a:prstGeom prst="rect">
            <a:avLst/>
          </a:prstGeom>
          <a:solidFill>
            <a:srgbClr val="F5F5F5"/>
          </a:solidFill>
          <a:ln/>
        </p:spPr>
        <p:txBody>
          <a:bodyPr/>
          <a:lstStyle/>
          <a:p>
            <a:endParaRPr lang="es-419" noProof="0" dirty="0"/>
          </a:p>
        </p:txBody>
      </p:sp>
      <p:sp>
        <p:nvSpPr>
          <p:cNvPr id="29" name="Text 27"/>
          <p:cNvSpPr/>
          <p:nvPr/>
        </p:nvSpPr>
        <p:spPr>
          <a:xfrm>
            <a:off x="7040880" y="2103120"/>
            <a:ext cx="1554480" cy="274320"/>
          </a:xfrm>
          <a:prstGeom prst="rect">
            <a:avLst/>
          </a:prstGeom>
          <a:noFill/>
          <a:ln/>
        </p:spPr>
        <p:txBody>
          <a:bodyPr wrap="square" rtlCol="0" anchor="ctr"/>
          <a:lstStyle/>
          <a:p>
            <a:pPr marL="0" indent="0" algn="ctr">
              <a:buNone/>
            </a:pPr>
            <a:r>
              <a:rPr lang="es-419" sz="1000" noProof="0" dirty="0">
                <a:solidFill>
                  <a:srgbClr val="1A1A1A"/>
                </a:solidFill>
                <a:latin typeface="Calibri" pitchFamily="34" charset="0"/>
                <a:ea typeface="Calibri" pitchFamily="34" charset="-122"/>
                <a:cs typeface="Calibri" pitchFamily="34" charset="-120"/>
              </a:rPr>
              <a:t>~94</a:t>
            </a:r>
            <a:endParaRPr lang="es-419" sz="1000" noProof="0" dirty="0"/>
          </a:p>
        </p:txBody>
      </p:sp>
      <p:sp>
        <p:nvSpPr>
          <p:cNvPr id="30" name="Shape 28"/>
          <p:cNvSpPr/>
          <p:nvPr/>
        </p:nvSpPr>
        <p:spPr>
          <a:xfrm>
            <a:off x="457200" y="2377440"/>
            <a:ext cx="1554480" cy="274320"/>
          </a:xfrm>
          <a:prstGeom prst="rect">
            <a:avLst/>
          </a:prstGeom>
          <a:solidFill>
            <a:srgbClr val="FFFFFF"/>
          </a:solidFill>
          <a:ln/>
        </p:spPr>
        <p:txBody>
          <a:bodyPr/>
          <a:lstStyle/>
          <a:p>
            <a:endParaRPr lang="es-419" noProof="0" dirty="0"/>
          </a:p>
        </p:txBody>
      </p:sp>
      <p:sp>
        <p:nvSpPr>
          <p:cNvPr id="31" name="Text 29"/>
          <p:cNvSpPr/>
          <p:nvPr/>
        </p:nvSpPr>
        <p:spPr>
          <a:xfrm>
            <a:off x="457200" y="2377440"/>
            <a:ext cx="1554480" cy="274320"/>
          </a:xfrm>
          <a:prstGeom prst="rect">
            <a:avLst/>
          </a:prstGeom>
          <a:noFill/>
          <a:ln/>
        </p:spPr>
        <p:txBody>
          <a:bodyPr wrap="square" rtlCol="0" anchor="ctr"/>
          <a:lstStyle/>
          <a:p>
            <a:pPr marL="0" indent="0" algn="ctr">
              <a:buNone/>
            </a:pPr>
            <a:r>
              <a:rPr lang="es-419" sz="1000" noProof="0" dirty="0" err="1">
                <a:solidFill>
                  <a:srgbClr val="1A1A1A"/>
                </a:solidFill>
                <a:latin typeface="Calibri" pitchFamily="34" charset="0"/>
                <a:ea typeface="Calibri" pitchFamily="34" charset="-122"/>
                <a:cs typeface="Calibri" pitchFamily="34" charset="-120"/>
              </a:rPr>
              <a:t>Exp</a:t>
            </a:r>
            <a:r>
              <a:rPr lang="es-419" sz="1000" noProof="0" dirty="0">
                <a:solidFill>
                  <a:srgbClr val="1A1A1A"/>
                </a:solidFill>
                <a:latin typeface="Calibri" pitchFamily="34" charset="0"/>
                <a:ea typeface="Calibri" pitchFamily="34" charset="-122"/>
                <a:cs typeface="Calibri" pitchFamily="34" charset="-120"/>
              </a:rPr>
              <a:t> 1</a:t>
            </a:r>
            <a:endParaRPr lang="es-419" sz="1000" noProof="0" dirty="0"/>
          </a:p>
        </p:txBody>
      </p:sp>
      <p:sp>
        <p:nvSpPr>
          <p:cNvPr id="32" name="Shape 30"/>
          <p:cNvSpPr/>
          <p:nvPr/>
        </p:nvSpPr>
        <p:spPr>
          <a:xfrm>
            <a:off x="2103120" y="2377440"/>
            <a:ext cx="1554480" cy="274320"/>
          </a:xfrm>
          <a:prstGeom prst="rect">
            <a:avLst/>
          </a:prstGeom>
          <a:solidFill>
            <a:srgbClr val="FFFFFF"/>
          </a:solidFill>
          <a:ln/>
        </p:spPr>
        <p:txBody>
          <a:bodyPr/>
          <a:lstStyle/>
          <a:p>
            <a:endParaRPr lang="es-419" noProof="0" dirty="0"/>
          </a:p>
        </p:txBody>
      </p:sp>
      <p:sp>
        <p:nvSpPr>
          <p:cNvPr id="33" name="Text 31"/>
          <p:cNvSpPr/>
          <p:nvPr/>
        </p:nvSpPr>
        <p:spPr>
          <a:xfrm>
            <a:off x="2103120" y="2377440"/>
            <a:ext cx="1554480" cy="274320"/>
          </a:xfrm>
          <a:prstGeom prst="rect">
            <a:avLst/>
          </a:prstGeom>
          <a:noFill/>
          <a:ln/>
        </p:spPr>
        <p:txBody>
          <a:bodyPr wrap="square" rtlCol="0" anchor="ctr"/>
          <a:lstStyle/>
          <a:p>
            <a:pPr marL="0" indent="0" algn="ctr">
              <a:buNone/>
            </a:pPr>
            <a:r>
              <a:rPr lang="es-419" sz="1000" noProof="0" dirty="0">
                <a:solidFill>
                  <a:srgbClr val="1A1A1A"/>
                </a:solidFill>
                <a:latin typeface="Calibri" pitchFamily="34" charset="0"/>
                <a:ea typeface="Calibri" pitchFamily="34" charset="-122"/>
                <a:cs typeface="Calibri" pitchFamily="34" charset="-120"/>
              </a:rPr>
              <a:t>Fase 1</a:t>
            </a:r>
            <a:endParaRPr lang="es-419" sz="1000" noProof="0" dirty="0"/>
          </a:p>
        </p:txBody>
      </p:sp>
      <p:sp>
        <p:nvSpPr>
          <p:cNvPr id="34" name="Shape 32"/>
          <p:cNvSpPr/>
          <p:nvPr/>
        </p:nvSpPr>
        <p:spPr>
          <a:xfrm>
            <a:off x="3749040" y="2377440"/>
            <a:ext cx="1554480" cy="274320"/>
          </a:xfrm>
          <a:prstGeom prst="rect">
            <a:avLst/>
          </a:prstGeom>
          <a:solidFill>
            <a:srgbClr val="FFFFFF"/>
          </a:solidFill>
          <a:ln/>
        </p:spPr>
        <p:txBody>
          <a:bodyPr/>
          <a:lstStyle/>
          <a:p>
            <a:endParaRPr lang="es-419" noProof="0" dirty="0"/>
          </a:p>
        </p:txBody>
      </p:sp>
      <p:sp>
        <p:nvSpPr>
          <p:cNvPr id="35" name="Text 33"/>
          <p:cNvSpPr/>
          <p:nvPr/>
        </p:nvSpPr>
        <p:spPr>
          <a:xfrm>
            <a:off x="3749040" y="2377440"/>
            <a:ext cx="1554480" cy="274320"/>
          </a:xfrm>
          <a:prstGeom prst="rect">
            <a:avLst/>
          </a:prstGeom>
          <a:noFill/>
          <a:ln/>
        </p:spPr>
        <p:txBody>
          <a:bodyPr wrap="square" rtlCol="0" anchor="ctr"/>
          <a:lstStyle/>
          <a:p>
            <a:pPr marL="0" indent="0" algn="ctr">
              <a:buNone/>
            </a:pPr>
            <a:r>
              <a:rPr lang="es-419" sz="1000" noProof="0" dirty="0">
                <a:solidFill>
                  <a:srgbClr val="1A1A1A"/>
                </a:solidFill>
                <a:latin typeface="Calibri" pitchFamily="34" charset="0"/>
                <a:ea typeface="Calibri" pitchFamily="34" charset="-122"/>
                <a:cs typeface="Calibri" pitchFamily="34" charset="-120"/>
              </a:rPr>
              <a:t>29,898</a:t>
            </a:r>
            <a:endParaRPr lang="es-419" sz="1000" noProof="0" dirty="0"/>
          </a:p>
        </p:txBody>
      </p:sp>
      <p:sp>
        <p:nvSpPr>
          <p:cNvPr id="36" name="Shape 34"/>
          <p:cNvSpPr/>
          <p:nvPr/>
        </p:nvSpPr>
        <p:spPr>
          <a:xfrm>
            <a:off x="5394960" y="2377440"/>
            <a:ext cx="1554480" cy="274320"/>
          </a:xfrm>
          <a:prstGeom prst="rect">
            <a:avLst/>
          </a:prstGeom>
          <a:solidFill>
            <a:srgbClr val="FFFFFF"/>
          </a:solidFill>
          <a:ln/>
        </p:spPr>
        <p:txBody>
          <a:bodyPr/>
          <a:lstStyle/>
          <a:p>
            <a:endParaRPr lang="es-419" noProof="0" dirty="0"/>
          </a:p>
        </p:txBody>
      </p:sp>
      <p:sp>
        <p:nvSpPr>
          <p:cNvPr id="37" name="Text 35"/>
          <p:cNvSpPr/>
          <p:nvPr/>
        </p:nvSpPr>
        <p:spPr>
          <a:xfrm>
            <a:off x="5394960" y="2377440"/>
            <a:ext cx="1554480" cy="274320"/>
          </a:xfrm>
          <a:prstGeom prst="rect">
            <a:avLst/>
          </a:prstGeom>
          <a:noFill/>
          <a:ln/>
        </p:spPr>
        <p:txBody>
          <a:bodyPr wrap="square" rtlCol="0" anchor="ctr"/>
          <a:lstStyle/>
          <a:p>
            <a:pPr marL="0" indent="0" algn="ctr">
              <a:buNone/>
            </a:pPr>
            <a:r>
              <a:rPr lang="es-419" sz="1000" noProof="0" dirty="0">
                <a:solidFill>
                  <a:srgbClr val="1A1A1A"/>
                </a:solidFill>
                <a:latin typeface="Calibri" pitchFamily="34" charset="0"/>
                <a:ea typeface="Calibri" pitchFamily="34" charset="-122"/>
                <a:cs typeface="Calibri" pitchFamily="34" charset="-120"/>
              </a:rPr>
              <a:t>20.36ms</a:t>
            </a:r>
            <a:endParaRPr lang="es-419" sz="1000" noProof="0" dirty="0"/>
          </a:p>
        </p:txBody>
      </p:sp>
      <p:sp>
        <p:nvSpPr>
          <p:cNvPr id="38" name="Shape 36"/>
          <p:cNvSpPr/>
          <p:nvPr/>
        </p:nvSpPr>
        <p:spPr>
          <a:xfrm>
            <a:off x="7040880" y="2377440"/>
            <a:ext cx="1554480" cy="274320"/>
          </a:xfrm>
          <a:prstGeom prst="rect">
            <a:avLst/>
          </a:prstGeom>
          <a:solidFill>
            <a:srgbClr val="FFFFFF"/>
          </a:solidFill>
          <a:ln/>
        </p:spPr>
        <p:txBody>
          <a:bodyPr/>
          <a:lstStyle/>
          <a:p>
            <a:endParaRPr lang="es-419" noProof="0" dirty="0"/>
          </a:p>
        </p:txBody>
      </p:sp>
      <p:sp>
        <p:nvSpPr>
          <p:cNvPr id="39" name="Text 37"/>
          <p:cNvSpPr/>
          <p:nvPr/>
        </p:nvSpPr>
        <p:spPr>
          <a:xfrm>
            <a:off x="7040880" y="2377440"/>
            <a:ext cx="1554480" cy="274320"/>
          </a:xfrm>
          <a:prstGeom prst="rect">
            <a:avLst/>
          </a:prstGeom>
          <a:noFill/>
          <a:ln/>
        </p:spPr>
        <p:txBody>
          <a:bodyPr wrap="square" rtlCol="0" anchor="ctr"/>
          <a:lstStyle/>
          <a:p>
            <a:pPr marL="0" indent="0" algn="ctr">
              <a:buNone/>
            </a:pPr>
            <a:r>
              <a:rPr lang="es-419" sz="1000" noProof="0" dirty="0">
                <a:solidFill>
                  <a:srgbClr val="1A1A1A"/>
                </a:solidFill>
                <a:latin typeface="Calibri" pitchFamily="34" charset="0"/>
                <a:ea typeface="Calibri" pitchFamily="34" charset="-122"/>
                <a:cs typeface="Calibri" pitchFamily="34" charset="-120"/>
              </a:rPr>
              <a:t>~49</a:t>
            </a:r>
            <a:endParaRPr lang="es-419" sz="1000" noProof="0" dirty="0"/>
          </a:p>
        </p:txBody>
      </p:sp>
      <p:sp>
        <p:nvSpPr>
          <p:cNvPr id="40" name="Shape 38"/>
          <p:cNvSpPr/>
          <p:nvPr/>
        </p:nvSpPr>
        <p:spPr>
          <a:xfrm>
            <a:off x="457200" y="2651760"/>
            <a:ext cx="1554480" cy="274320"/>
          </a:xfrm>
          <a:prstGeom prst="rect">
            <a:avLst/>
          </a:prstGeom>
          <a:solidFill>
            <a:srgbClr val="F5F5F5"/>
          </a:solidFill>
          <a:ln/>
        </p:spPr>
        <p:txBody>
          <a:bodyPr/>
          <a:lstStyle/>
          <a:p>
            <a:endParaRPr lang="es-419" noProof="0" dirty="0"/>
          </a:p>
        </p:txBody>
      </p:sp>
      <p:sp>
        <p:nvSpPr>
          <p:cNvPr id="41" name="Text 39"/>
          <p:cNvSpPr/>
          <p:nvPr/>
        </p:nvSpPr>
        <p:spPr>
          <a:xfrm>
            <a:off x="457200" y="2651760"/>
            <a:ext cx="1554480" cy="274320"/>
          </a:xfrm>
          <a:prstGeom prst="rect">
            <a:avLst/>
          </a:prstGeom>
          <a:noFill/>
          <a:ln/>
        </p:spPr>
        <p:txBody>
          <a:bodyPr wrap="square" rtlCol="0" anchor="ctr"/>
          <a:lstStyle/>
          <a:p>
            <a:pPr marL="0" indent="0" algn="ctr">
              <a:buNone/>
            </a:pPr>
            <a:r>
              <a:rPr lang="es-419" sz="1000" noProof="0" dirty="0" err="1">
                <a:solidFill>
                  <a:srgbClr val="1A1A1A"/>
                </a:solidFill>
                <a:latin typeface="Calibri" pitchFamily="34" charset="0"/>
                <a:ea typeface="Calibri" pitchFamily="34" charset="-122"/>
                <a:cs typeface="Calibri" pitchFamily="34" charset="-120"/>
              </a:rPr>
              <a:t>Exp</a:t>
            </a:r>
            <a:r>
              <a:rPr lang="es-419" sz="1000" noProof="0" dirty="0">
                <a:solidFill>
                  <a:srgbClr val="1A1A1A"/>
                </a:solidFill>
                <a:latin typeface="Calibri" pitchFamily="34" charset="0"/>
                <a:ea typeface="Calibri" pitchFamily="34" charset="-122"/>
                <a:cs typeface="Calibri" pitchFamily="34" charset="-120"/>
              </a:rPr>
              <a:t> 1</a:t>
            </a:r>
            <a:endParaRPr lang="es-419" sz="1000" noProof="0" dirty="0"/>
          </a:p>
        </p:txBody>
      </p:sp>
      <p:sp>
        <p:nvSpPr>
          <p:cNvPr id="42" name="Shape 40"/>
          <p:cNvSpPr/>
          <p:nvPr/>
        </p:nvSpPr>
        <p:spPr>
          <a:xfrm>
            <a:off x="2103120" y="2651760"/>
            <a:ext cx="1554480" cy="274320"/>
          </a:xfrm>
          <a:prstGeom prst="rect">
            <a:avLst/>
          </a:prstGeom>
          <a:solidFill>
            <a:srgbClr val="F5F5F5"/>
          </a:solidFill>
          <a:ln/>
        </p:spPr>
        <p:txBody>
          <a:bodyPr/>
          <a:lstStyle/>
          <a:p>
            <a:endParaRPr lang="es-419" noProof="0" dirty="0"/>
          </a:p>
        </p:txBody>
      </p:sp>
      <p:sp>
        <p:nvSpPr>
          <p:cNvPr id="43" name="Text 41"/>
          <p:cNvSpPr/>
          <p:nvPr/>
        </p:nvSpPr>
        <p:spPr>
          <a:xfrm>
            <a:off x="2103120" y="2651760"/>
            <a:ext cx="1554480" cy="274320"/>
          </a:xfrm>
          <a:prstGeom prst="rect">
            <a:avLst/>
          </a:prstGeom>
          <a:noFill/>
          <a:ln/>
        </p:spPr>
        <p:txBody>
          <a:bodyPr wrap="square" rtlCol="0" anchor="ctr"/>
          <a:lstStyle/>
          <a:p>
            <a:pPr marL="0" indent="0" algn="ctr">
              <a:buNone/>
            </a:pPr>
            <a:r>
              <a:rPr lang="es-419" sz="1000" noProof="0" dirty="0">
                <a:solidFill>
                  <a:srgbClr val="1A1A1A"/>
                </a:solidFill>
                <a:latin typeface="Calibri" pitchFamily="34" charset="0"/>
                <a:ea typeface="Calibri" pitchFamily="34" charset="-122"/>
                <a:cs typeface="Calibri" pitchFamily="34" charset="-120"/>
              </a:rPr>
              <a:t>Fase 2</a:t>
            </a:r>
            <a:endParaRPr lang="es-419" sz="1000" noProof="0" dirty="0"/>
          </a:p>
        </p:txBody>
      </p:sp>
      <p:sp>
        <p:nvSpPr>
          <p:cNvPr id="44" name="Shape 42"/>
          <p:cNvSpPr/>
          <p:nvPr/>
        </p:nvSpPr>
        <p:spPr>
          <a:xfrm>
            <a:off x="3749040" y="2651760"/>
            <a:ext cx="1554480" cy="274320"/>
          </a:xfrm>
          <a:prstGeom prst="rect">
            <a:avLst/>
          </a:prstGeom>
          <a:solidFill>
            <a:srgbClr val="F5F5F5"/>
          </a:solidFill>
          <a:ln/>
        </p:spPr>
        <p:txBody>
          <a:bodyPr/>
          <a:lstStyle/>
          <a:p>
            <a:endParaRPr lang="es-419" noProof="0" dirty="0"/>
          </a:p>
        </p:txBody>
      </p:sp>
      <p:sp>
        <p:nvSpPr>
          <p:cNvPr id="45" name="Text 43"/>
          <p:cNvSpPr/>
          <p:nvPr/>
        </p:nvSpPr>
        <p:spPr>
          <a:xfrm>
            <a:off x="3749040" y="2651760"/>
            <a:ext cx="1554480" cy="274320"/>
          </a:xfrm>
          <a:prstGeom prst="rect">
            <a:avLst/>
          </a:prstGeom>
          <a:noFill/>
          <a:ln/>
        </p:spPr>
        <p:txBody>
          <a:bodyPr wrap="square" rtlCol="0" anchor="ctr"/>
          <a:lstStyle/>
          <a:p>
            <a:pPr marL="0" indent="0" algn="ctr">
              <a:buNone/>
            </a:pPr>
            <a:r>
              <a:rPr lang="es-419" sz="1000" noProof="0" dirty="0">
                <a:solidFill>
                  <a:srgbClr val="1A1A1A"/>
                </a:solidFill>
                <a:latin typeface="Calibri" pitchFamily="34" charset="0"/>
                <a:ea typeface="Calibri" pitchFamily="34" charset="-122"/>
                <a:cs typeface="Calibri" pitchFamily="34" charset="-120"/>
              </a:rPr>
              <a:t>255,708</a:t>
            </a:r>
            <a:endParaRPr lang="es-419" sz="1000" noProof="0" dirty="0"/>
          </a:p>
        </p:txBody>
      </p:sp>
      <p:sp>
        <p:nvSpPr>
          <p:cNvPr id="46" name="Shape 44"/>
          <p:cNvSpPr/>
          <p:nvPr/>
        </p:nvSpPr>
        <p:spPr>
          <a:xfrm>
            <a:off x="5394960" y="2651760"/>
            <a:ext cx="1554480" cy="274320"/>
          </a:xfrm>
          <a:prstGeom prst="rect">
            <a:avLst/>
          </a:prstGeom>
          <a:solidFill>
            <a:srgbClr val="F5F5F5"/>
          </a:solidFill>
          <a:ln/>
        </p:spPr>
        <p:txBody>
          <a:bodyPr/>
          <a:lstStyle/>
          <a:p>
            <a:endParaRPr lang="es-419" noProof="0" dirty="0"/>
          </a:p>
        </p:txBody>
      </p:sp>
      <p:sp>
        <p:nvSpPr>
          <p:cNvPr id="47" name="Text 45"/>
          <p:cNvSpPr/>
          <p:nvPr/>
        </p:nvSpPr>
        <p:spPr>
          <a:xfrm>
            <a:off x="5394960" y="2651760"/>
            <a:ext cx="1554480" cy="274320"/>
          </a:xfrm>
          <a:prstGeom prst="rect">
            <a:avLst/>
          </a:prstGeom>
          <a:noFill/>
          <a:ln/>
        </p:spPr>
        <p:txBody>
          <a:bodyPr wrap="square" rtlCol="0" anchor="ctr"/>
          <a:lstStyle/>
          <a:p>
            <a:pPr marL="0" indent="0" algn="ctr">
              <a:buNone/>
            </a:pPr>
            <a:r>
              <a:rPr lang="es-419" sz="1000" noProof="0" dirty="0">
                <a:solidFill>
                  <a:srgbClr val="1A1A1A"/>
                </a:solidFill>
                <a:latin typeface="Calibri" pitchFamily="34" charset="0"/>
                <a:ea typeface="Calibri" pitchFamily="34" charset="-122"/>
                <a:cs typeface="Calibri" pitchFamily="34" charset="-120"/>
              </a:rPr>
              <a:t>14.82ms</a:t>
            </a:r>
            <a:endParaRPr lang="es-419" sz="1000" noProof="0" dirty="0"/>
          </a:p>
        </p:txBody>
      </p:sp>
      <p:sp>
        <p:nvSpPr>
          <p:cNvPr id="48" name="Shape 46"/>
          <p:cNvSpPr/>
          <p:nvPr/>
        </p:nvSpPr>
        <p:spPr>
          <a:xfrm>
            <a:off x="7040880" y="2651760"/>
            <a:ext cx="1554480" cy="274320"/>
          </a:xfrm>
          <a:prstGeom prst="rect">
            <a:avLst/>
          </a:prstGeom>
          <a:solidFill>
            <a:srgbClr val="F5F5F5"/>
          </a:solidFill>
          <a:ln/>
        </p:spPr>
        <p:txBody>
          <a:bodyPr/>
          <a:lstStyle/>
          <a:p>
            <a:endParaRPr lang="es-419" noProof="0" dirty="0"/>
          </a:p>
        </p:txBody>
      </p:sp>
      <p:sp>
        <p:nvSpPr>
          <p:cNvPr id="49" name="Text 47"/>
          <p:cNvSpPr/>
          <p:nvPr/>
        </p:nvSpPr>
        <p:spPr>
          <a:xfrm>
            <a:off x="7040880" y="2651760"/>
            <a:ext cx="1554480" cy="274320"/>
          </a:xfrm>
          <a:prstGeom prst="rect">
            <a:avLst/>
          </a:prstGeom>
          <a:noFill/>
          <a:ln/>
        </p:spPr>
        <p:txBody>
          <a:bodyPr wrap="square" rtlCol="0" anchor="ctr"/>
          <a:lstStyle/>
          <a:p>
            <a:pPr marL="0" indent="0" algn="ctr">
              <a:buNone/>
            </a:pPr>
            <a:r>
              <a:rPr lang="es-419" sz="1000" noProof="0" dirty="0">
                <a:solidFill>
                  <a:srgbClr val="1A1A1A"/>
                </a:solidFill>
                <a:latin typeface="Calibri" pitchFamily="34" charset="0"/>
                <a:ea typeface="Calibri" pitchFamily="34" charset="-122"/>
                <a:cs typeface="Calibri" pitchFamily="34" charset="-120"/>
              </a:rPr>
              <a:t>~142</a:t>
            </a:r>
            <a:endParaRPr lang="es-419" sz="1000" noProof="0" dirty="0"/>
          </a:p>
        </p:txBody>
      </p:sp>
      <p:sp>
        <p:nvSpPr>
          <p:cNvPr id="50" name="Shape 48"/>
          <p:cNvSpPr/>
          <p:nvPr/>
        </p:nvSpPr>
        <p:spPr>
          <a:xfrm>
            <a:off x="457200" y="3794760"/>
            <a:ext cx="8229600" cy="1234440"/>
          </a:xfrm>
          <a:prstGeom prst="roundRect">
            <a:avLst/>
          </a:prstGeom>
          <a:solidFill>
            <a:srgbClr val="E8F1F7"/>
          </a:solidFill>
          <a:ln/>
        </p:spPr>
        <p:txBody>
          <a:bodyPr/>
          <a:lstStyle/>
          <a:p>
            <a:endParaRPr lang="es-419" noProof="0" dirty="0"/>
          </a:p>
        </p:txBody>
      </p:sp>
      <p:sp>
        <p:nvSpPr>
          <p:cNvPr id="51" name="Text 49"/>
          <p:cNvSpPr/>
          <p:nvPr/>
        </p:nvSpPr>
        <p:spPr>
          <a:xfrm>
            <a:off x="640080" y="3931920"/>
            <a:ext cx="7863840" cy="274320"/>
          </a:xfrm>
          <a:prstGeom prst="rect">
            <a:avLst/>
          </a:prstGeom>
          <a:noFill/>
          <a:ln/>
        </p:spPr>
        <p:txBody>
          <a:bodyPr wrap="square" rtlCol="0" anchor="ctr"/>
          <a:lstStyle/>
          <a:p>
            <a:pPr marL="0" indent="0">
              <a:buNone/>
            </a:pPr>
            <a:r>
              <a:rPr lang="es-419" sz="1200" b="1" noProof="0" dirty="0">
                <a:solidFill>
                  <a:srgbClr val="0A4A7F"/>
                </a:solidFill>
                <a:latin typeface="Calibri" pitchFamily="34" charset="0"/>
                <a:ea typeface="Calibri" pitchFamily="34" charset="-122"/>
                <a:cs typeface="Calibri" pitchFamily="34" charset="-120"/>
              </a:rPr>
              <a:t>🎯 </a:t>
            </a:r>
            <a:r>
              <a:rPr lang="es-419" sz="1200" b="1" noProof="0" dirty="0" err="1">
                <a:solidFill>
                  <a:srgbClr val="0A4A7F"/>
                </a:solidFill>
                <a:latin typeface="Calibri" pitchFamily="34" charset="0"/>
                <a:ea typeface="Calibri" pitchFamily="34" charset="-122"/>
                <a:cs typeface="Calibri" pitchFamily="34" charset="-120"/>
              </a:rPr>
              <a:t>Insight</a:t>
            </a:r>
            <a:r>
              <a:rPr lang="es-419" sz="1200" b="1" noProof="0" dirty="0">
                <a:solidFill>
                  <a:srgbClr val="0A4A7F"/>
                </a:solidFill>
                <a:latin typeface="Calibri" pitchFamily="34" charset="0"/>
                <a:ea typeface="Calibri" pitchFamily="34" charset="-122"/>
                <a:cs typeface="Calibri" pitchFamily="34" charset="-120"/>
              </a:rPr>
              <a:t>: Mayor volumen = Latencia igual o mejor (NO peor)</a:t>
            </a:r>
            <a:endParaRPr lang="es-419" sz="1200" noProof="0" dirty="0"/>
          </a:p>
        </p:txBody>
      </p:sp>
      <p:sp>
        <p:nvSpPr>
          <p:cNvPr id="52" name="Text 50"/>
          <p:cNvSpPr/>
          <p:nvPr/>
        </p:nvSpPr>
        <p:spPr>
          <a:xfrm>
            <a:off x="640080" y="4251960"/>
            <a:ext cx="7863840" cy="640080"/>
          </a:xfrm>
          <a:prstGeom prst="rect">
            <a:avLst/>
          </a:prstGeom>
          <a:noFill/>
          <a:ln/>
        </p:spPr>
        <p:txBody>
          <a:bodyPr wrap="square" rtlCol="0" anchor="ctr"/>
          <a:lstStyle/>
          <a:p>
            <a:pPr marL="0" indent="0">
              <a:buNone/>
            </a:pPr>
            <a:r>
              <a:rPr lang="es-419" sz="1000" noProof="0" dirty="0" err="1">
                <a:solidFill>
                  <a:srgbClr val="1A1A1A"/>
                </a:solidFill>
                <a:latin typeface="Calibri" pitchFamily="34" charset="0"/>
                <a:ea typeface="Calibri" pitchFamily="34" charset="-122"/>
                <a:cs typeface="Calibri" pitchFamily="34" charset="-120"/>
              </a:rPr>
              <a:t>Exp</a:t>
            </a:r>
            <a:r>
              <a:rPr lang="es-419" sz="1000" noProof="0" dirty="0">
                <a:solidFill>
                  <a:srgbClr val="1A1A1A"/>
                </a:solidFill>
                <a:latin typeface="Calibri" pitchFamily="34" charset="0"/>
                <a:ea typeface="Calibri" pitchFamily="34" charset="-122"/>
                <a:cs typeface="Calibri" pitchFamily="34" charset="-120"/>
              </a:rPr>
              <a:t> 2: 4.3x más volumen → latencia mejora (6.89 → 6.62ms). </a:t>
            </a:r>
            <a:r>
              <a:rPr lang="es-419" sz="1000" noProof="0" dirty="0" err="1">
                <a:solidFill>
                  <a:srgbClr val="1A1A1A"/>
                </a:solidFill>
                <a:latin typeface="Calibri" pitchFamily="34" charset="0"/>
                <a:ea typeface="Calibri" pitchFamily="34" charset="-122"/>
                <a:cs typeface="Calibri" pitchFamily="34" charset="-120"/>
              </a:rPr>
              <a:t>Exp</a:t>
            </a:r>
            <a:r>
              <a:rPr lang="es-419" sz="1000" noProof="0" dirty="0">
                <a:solidFill>
                  <a:srgbClr val="1A1A1A"/>
                </a:solidFill>
                <a:latin typeface="Calibri" pitchFamily="34" charset="0"/>
                <a:ea typeface="Calibri" pitchFamily="34" charset="-122"/>
                <a:cs typeface="Calibri" pitchFamily="34" charset="-120"/>
              </a:rPr>
              <a:t> 1: ~8x volumen bajo pico → core_p95 mejora (0.048 → 0.035ms). Esto solo es posible con desacoplamiento real y aislamiento funcional. Los datos no mienten.</a:t>
            </a:r>
            <a:endParaRPr lang="es-419" sz="1000"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125</TotalTime>
  <Words>1681</Words>
  <Application>Microsoft Office PowerPoint</Application>
  <PresentationFormat>On-screen Show (16:9)</PresentationFormat>
  <Paragraphs>239</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Cristian Cabanzo Rodriguez</cp:lastModifiedBy>
  <cp:revision>3</cp:revision>
  <dcterms:created xsi:type="dcterms:W3CDTF">2026-09-08T13:24:55Z</dcterms:created>
  <dcterms:modified xsi:type="dcterms:W3CDTF">2026-09-08T15:39:22Z</dcterms:modified>
</cp:coreProperties>
</file>